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1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drawingml.chart+xml" PartName="/ppt/charts/chart1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6858000" cx="12192000"/>
  <p:notesSz cx="6858000" cy="9144000"/>
  <p:embeddedFontLst>
    <p:embeddedFont>
      <p:font typeface="Play"/>
      <p:regular r:id="rId50"/>
      <p:bold r:id="rId51"/>
    </p:embeddedFont>
    <p:embeddedFont>
      <p:font typeface="Cascadia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iHY4XJRzS18nlMSOWzDJjhmy+i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Play-bold.fntdata"/><Relationship Id="rId50" Type="http://schemas.openxmlformats.org/officeDocument/2006/relationships/font" Target="fonts/Play-regular.fntdata"/><Relationship Id="rId53" Type="http://schemas.openxmlformats.org/officeDocument/2006/relationships/font" Target="fonts/CascadiaMono-bold.fntdata"/><Relationship Id="rId52" Type="http://schemas.openxmlformats.org/officeDocument/2006/relationships/font" Target="fonts/CascadiaMono-regular.fntdata"/><Relationship Id="rId11" Type="http://schemas.openxmlformats.org/officeDocument/2006/relationships/slide" Target="slides/slide7.xml"/><Relationship Id="rId55" Type="http://schemas.openxmlformats.org/officeDocument/2006/relationships/font" Target="fonts/CascadiaMono-boldItalic.fntdata"/><Relationship Id="rId10" Type="http://schemas.openxmlformats.org/officeDocument/2006/relationships/slide" Target="slides/slide6.xml"/><Relationship Id="rId54" Type="http://schemas.openxmlformats.org/officeDocument/2006/relationships/font" Target="fonts/Cascadia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Share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Automatic Classification</c:v>
              </c:pt>
              <c:pt idx="1">
                <c:v>Manual Classification</c:v>
              </c:pt>
              <c:pt idx="2">
                <c:v>One To One Transition</c:v>
              </c:pt>
              <c:pt idx="3">
                <c:v>Preferred Branch</c:v>
              </c:pt>
              <c:pt idx="4">
                <c:v>Automatic Failed</c:v>
              </c:pt>
              <c:pt idx="5">
                <c:v>Manual Waiting</c:v>
              </c:pt>
              <c:pt idx="6">
                <c:v>Split Individual Treatment</c:v>
              </c:pt>
            </c:strLit>
          </c:cat>
          <c:val>
            <c:numLit>
              <c:formatCode>General</c:formatCode>
              <c:ptCount val="7"/>
              <c:pt idx="0">
                <c:v>77.0069</c:v>
              </c:pt>
              <c:pt idx="1">
                <c:v>22.3441</c:v>
              </c:pt>
              <c:pt idx="2">
                <c:v>0.31779999999999997</c:v>
              </c:pt>
              <c:pt idx="3">
                <c:v>0.1095</c:v>
              </c:pt>
              <c:pt idx="4">
                <c:v>0.1026</c:v>
              </c:pt>
              <c:pt idx="5">
                <c:v>0.0957</c:v>
              </c:pt>
              <c:pt idx="6">
                <c:v>0.0233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Share of rows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Population group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Manual share</c:v>
          </c:tx>
          <c:spPr>
            <a:solidFill xmlns:a="http://schemas.openxmlformats.org/drawingml/2006/main">
              <a:srgbClr val="2F7D6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0</c:formatCode>
              <c:ptCount val="10"/>
              <c:pt idx="0">
                <c:v>6201</c:v>
              </c:pt>
              <c:pt idx="1">
                <c:v>7020</c:v>
              </c:pt>
              <c:pt idx="2">
                <c:v>6810</c:v>
              </c:pt>
              <c:pt idx="3">
                <c:v>4105</c:v>
              </c:pt>
              <c:pt idx="4">
                <c:v>5610</c:v>
              </c:pt>
              <c:pt idx="5">
                <c:v>7111</c:v>
              </c:pt>
              <c:pt idx="6">
                <c:v>8576</c:v>
              </c:pt>
              <c:pt idx="7">
                <c:v>7210</c:v>
              </c:pt>
              <c:pt idx="8">
                <c:v>7310</c:v>
              </c:pt>
              <c:pt idx="9">
                <c:v>9000</c:v>
              </c:pt>
            </c:numLit>
          </c:cat>
          <c:val>
            <c:numLit>
              <c:formatCode>General</c:formatCode>
              <c:ptCount val="10"/>
              <c:pt idx="0">
                <c:v>4.7366</c:v>
              </c:pt>
              <c:pt idx="1">
                <c:v>4.4806</c:v>
              </c:pt>
              <c:pt idx="2">
                <c:v>2.5541</c:v>
              </c:pt>
              <c:pt idx="3">
                <c:v>2.3627</c:v>
              </c:pt>
              <c:pt idx="4">
                <c:v>2.1235</c:v>
              </c:pt>
              <c:pt idx="5">
                <c:v>2.0896000000000003</c:v>
              </c:pt>
              <c:pt idx="6">
                <c:v>1.6417000000000002</c:v>
              </c:pt>
              <c:pt idx="7">
                <c:v>1.5010000000000001</c:v>
              </c:pt>
              <c:pt idx="8">
                <c:v>1.5010000000000001</c:v>
              </c:pt>
              <c:pt idx="9">
                <c:v>1.3676000000000001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Four-digit target class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Share of manual rows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Ma'am manual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1 digit</c:v>
              </c:pt>
              <c:pt idx="1">
                <c:v>2 digits</c:v>
              </c:pt>
              <c:pt idx="2">
                <c:v>3 digits</c:v>
              </c:pt>
              <c:pt idx="3">
                <c:v>4 digits</c:v>
              </c:pt>
            </c:strLit>
          </c:cat>
          <c:val>
            <c:numLit>
              <c:formatCode>General</c:formatCode>
              <c:ptCount val="4"/>
              <c:pt idx="0">
                <c:v>75.1749</c:v>
              </c:pt>
              <c:pt idx="1">
                <c:v>65.4917</c:v>
              </c:pt>
              <c:pt idx="2">
                <c:v>58.2677</c:v>
              </c:pt>
              <c:pt idx="3">
                <c:v>50.335300000000004</c:v>
              </c:pt>
            </c:numLit>
          </c:val>
        </c:ser>
        <c:ser>
          <c:idx val="1"/>
          <c:order val="1"/>
          <c:tx>
            <c:v>Bituach manual</c:v>
          </c:tx>
          <c:spPr>
            <a:solidFill xmlns:a="http://schemas.openxmlformats.org/drawingml/2006/main">
              <a:srgbClr val="2F7D6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1 digit</c:v>
              </c:pt>
              <c:pt idx="1">
                <c:v>2 digits</c:v>
              </c:pt>
              <c:pt idx="2">
                <c:v>3 digits</c:v>
              </c:pt>
              <c:pt idx="3">
                <c:v>4 digits</c:v>
              </c:pt>
            </c:strLit>
          </c:cat>
          <c:val>
            <c:numLit>
              <c:formatCode>General</c:formatCode>
              <c:ptCount val="4"/>
              <c:pt idx="0">
                <c:v>73.3826</c:v>
              </c:pt>
              <c:pt idx="1">
                <c:v>63.1729</c:v>
              </c:pt>
              <c:pt idx="2">
                <c:v>56.2063</c:v>
              </c:pt>
              <c:pt idx="3">
                <c:v>48.9857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Hierarchy level matched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Match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Manual share</c:v>
          </c:tx>
          <c:spPr>
            <a:solidFill xmlns:a="http://schemas.openxmlformats.org/drawingml/2006/main">
              <a:srgbClr val="8A6D1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Ma'am Bituach Agree And Match Target</c:v>
              </c:pt>
              <c:pt idx="1">
                <c:v>Ma'am Bituach Agree But Target Differs</c:v>
              </c:pt>
              <c:pt idx="2">
                <c:v>Ma'am Only</c:v>
              </c:pt>
              <c:pt idx="3">
                <c:v>Ma'am Bituach Disagree Target Follows Neither</c:v>
              </c:pt>
              <c:pt idx="4">
                <c:v>Ma'am Bituach Disagree Target Follows Maam</c:v>
              </c:pt>
              <c:pt idx="5">
                <c:v>Bituach Only</c:v>
              </c:pt>
              <c:pt idx="6">
                <c:v>Ma'am Bituach Disagree Target Follows Bl</c:v>
              </c:pt>
            </c:strLit>
          </c:cat>
          <c:val>
            <c:numLit>
              <c:formatCode>General</c:formatCode>
              <c:ptCount val="7"/>
              <c:pt idx="0">
                <c:v>34.2033</c:v>
              </c:pt>
              <c:pt idx="1">
                <c:v>21.7518</c:v>
              </c:pt>
              <c:pt idx="2">
                <c:v>12.539700000000002</c:v>
              </c:pt>
              <c:pt idx="3">
                <c:v>10.656</c:v>
              </c:pt>
              <c:pt idx="4">
                <c:v>9.7361</c:v>
              </c:pt>
              <c:pt idx="5">
                <c:v>5.9142</c:v>
              </c:pt>
              <c:pt idx="6">
                <c:v>5.1547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Share of manual rows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Source-target relationship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5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Manual</c:v>
          </c:tx>
          <c:spPr>
            <a:solidFill xmlns:a="http://schemas.openxmlformats.org/drawingml/2006/main">
              <a:srgbClr val="2F7D6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TEUR_PEILUT_MAAM</c:v>
              </c:pt>
              <c:pt idx="1">
                <c:v>SHEM_OSEK</c:v>
              </c:pt>
              <c:pt idx="2">
                <c:v>SHEM_MAASIK</c:v>
              </c:pt>
            </c:strLit>
          </c:cat>
          <c:val>
            <c:numLit>
              <c:formatCode>General</c:formatCode>
              <c:ptCount val="3"/>
              <c:pt idx="0">
                <c:v>90.5626</c:v>
              </c:pt>
              <c:pt idx="1">
                <c:v>94.09880000000001</c:v>
              </c:pt>
              <c:pt idx="2">
                <c:v>87.4366</c:v>
              </c:pt>
            </c:numLit>
          </c:val>
        </c:ser>
        <c:ser>
          <c:idx val="1"/>
          <c:order val="1"/>
          <c:tx>
            <c:v>Automatic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TEUR_PEILUT_MAAM</c:v>
              </c:pt>
              <c:pt idx="1">
                <c:v>SHEM_OSEK</c:v>
              </c:pt>
              <c:pt idx="2">
                <c:v>SHEM_MAASIK</c:v>
              </c:pt>
            </c:strLit>
          </c:cat>
          <c:val>
            <c:numLit>
              <c:formatCode>General</c:formatCode>
              <c:ptCount val="3"/>
              <c:pt idx="0">
                <c:v>96.8453</c:v>
              </c:pt>
              <c:pt idx="1">
                <c:v>97.90140000000001</c:v>
              </c:pt>
              <c:pt idx="2">
                <c:v>43.058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Text field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Non-missing coverage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0</c:formatCode>
              <c:ptCount val="4"/>
              <c:pt idx="0">
                <c:v>0.70</c:v>
              </c:pt>
              <c:pt idx="1">
                <c:v>0.80</c:v>
              </c:pt>
              <c:pt idx="2">
                <c:v>0.90</c:v>
              </c:pt>
              <c:pt idx="3">
                <c:v>0.95</c:v>
              </c:pt>
            </c:numLit>
          </c:cat>
          <c:val>
            <c:numLit>
              <c:formatCode>General</c:formatCode>
              <c:ptCount val="4"/>
              <c:pt idx="0">
                <c:v>6.2</c:v>
              </c:pt>
              <c:pt idx="1">
                <c:v>5.1</c:v>
              </c:pt>
              <c:pt idx="2">
                <c:v>3</c:v>
              </c:pt>
              <c:pt idx="3">
                <c:v>2</c:v>
              </c:pt>
            </c:numLit>
          </c:val>
        </c:ser>
        <c:ser>
          <c:idx val="1"/>
          <c:order val="1"/>
          <c:tx>
            <c:v>Apparent accuracy</c:v>
          </c:tx>
          <c:spPr>
            <a:solidFill xmlns:a="http://schemas.openxmlformats.org/drawingml/2006/main">
              <a:srgbClr val="2F7D6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0</c:formatCode>
              <c:ptCount val="4"/>
              <c:pt idx="0">
                <c:v>0.70</c:v>
              </c:pt>
              <c:pt idx="1">
                <c:v>0.80</c:v>
              </c:pt>
              <c:pt idx="2">
                <c:v>0.90</c:v>
              </c:pt>
              <c:pt idx="3">
                <c:v>0.95</c:v>
              </c:pt>
            </c:numLit>
          </c:cat>
          <c:val>
            <c:numLit>
              <c:formatCode>General</c:formatCode>
              <c:ptCount val="4"/>
              <c:pt idx="0">
                <c:v>88.7</c:v>
              </c:pt>
              <c:pt idx="1">
                <c:v>91.7</c:v>
              </c:pt>
              <c:pt idx="2">
                <c:v>97</c:v>
              </c:pt>
              <c:pt idx="3">
                <c:v>99.2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Purity threshold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Share / apparent 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charts/chart7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Manual rows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Trade</c:v>
              </c:pt>
              <c:pt idx="1">
                <c:v>Construction</c:v>
              </c:pt>
              <c:pt idx="2">
                <c:v>Professional Scientific</c:v>
              </c:pt>
              <c:pt idx="3">
                <c:v>High Tech Ict Rd</c:v>
              </c:pt>
              <c:pt idx="4">
                <c:v>Other</c:v>
              </c:pt>
              <c:pt idx="5">
                <c:v>Food Accommodation</c:v>
              </c:pt>
              <c:pt idx="6">
                <c:v>Manufacturing</c:v>
              </c:pt>
              <c:pt idx="7">
                <c:v>Personal Services</c:v>
              </c:pt>
            </c:strLit>
          </c:cat>
          <c:val>
            <c:numLit>
              <c:formatCode>General</c:formatCode>
              <c:ptCount val="8"/>
              <c:pt idx="0">
                <c:v>41146</c:v>
              </c:pt>
              <c:pt idx="1">
                <c:v>30131</c:v>
              </c:pt>
              <c:pt idx="2">
                <c:v>26348</c:v>
              </c:pt>
              <c:pt idx="3">
                <c:v>18140</c:v>
              </c:pt>
              <c:pt idx="4">
                <c:v>17239</c:v>
              </c:pt>
              <c:pt idx="5">
                <c:v>11769</c:v>
              </c:pt>
              <c:pt idx="6">
                <c:v>10936</c:v>
              </c:pt>
              <c:pt idx="7">
                <c:v>10009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Manual rows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Branch group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8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Difficulty score</c:v>
          </c:tx>
          <c:spPr>
            <a:solidFill xmlns:a="http://schemas.openxmlformats.org/drawingml/2006/main">
              <a:srgbClr val="9B3D3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Manufacturing</c:v>
              </c:pt>
              <c:pt idx="1">
                <c:v>Other</c:v>
              </c:pt>
              <c:pt idx="2">
                <c:v>Trade</c:v>
              </c:pt>
              <c:pt idx="3">
                <c:v>High Tech Ict Rd</c:v>
              </c:pt>
              <c:pt idx="4">
                <c:v>Education</c:v>
              </c:pt>
              <c:pt idx="5">
                <c:v>Finance Insurance</c:v>
              </c:pt>
              <c:pt idx="6">
                <c:v>Agriculture</c:v>
              </c:pt>
              <c:pt idx="7">
                <c:v>Construction</c:v>
              </c:pt>
            </c:strLit>
          </c:cat>
          <c:val>
            <c:numLit>
              <c:formatCode>0.000</c:formatCode>
              <c:ptCount val="8"/>
              <c:pt idx="0">
                <c:v>0.632419</c:v>
              </c:pt>
              <c:pt idx="1">
                <c:v>0.570108</c:v>
              </c:pt>
              <c:pt idx="2">
                <c:v>0.547453</c:v>
              </c:pt>
              <c:pt idx="3">
                <c:v>0.53121</c:v>
              </c:pt>
              <c:pt idx="4">
                <c:v>0.481607</c:v>
              </c:pt>
              <c:pt idx="5">
                <c:v>0.46579</c:v>
              </c:pt>
              <c:pt idx="6">
                <c:v>0.437973</c:v>
              </c:pt>
              <c:pt idx="7">
                <c:v>0.382177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Difficulty proxy score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Branch group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9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Manual share</c:v>
          </c:tx>
          <c:spPr>
            <a:ln xmlns:a="http://schemas.openxmlformats.org/drawingml/2006/main" w="28575">
              <a:solidFill>
                <a:srgbClr val="9B3D30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3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  <c:pt idx="4">
                <c:v>2018</c:v>
              </c:pt>
              <c:pt idx="5">
                <c:v>2019</c:v>
              </c:pt>
              <c:pt idx="6">
                <c:v>2020</c:v>
              </c:pt>
              <c:pt idx="7">
                <c:v>2021</c:v>
              </c:pt>
              <c:pt idx="8">
                <c:v>2022</c:v>
              </c:pt>
              <c:pt idx="9">
                <c:v>2023</c:v>
              </c:pt>
              <c:pt idx="10">
                <c:v>2024</c:v>
              </c:pt>
              <c:pt idx="11">
                <c:v>2025</c:v>
              </c:pt>
              <c:pt idx="12">
                <c:v>2026</c:v>
              </c:pt>
            </c:numLit>
          </c:cat>
          <c:val>
            <c:numLit>
              <c:formatCode>0</c:formatCode>
              <c:ptCount val="13"/>
              <c:pt idx="0">
                <c:v>35.0364</c:v>
              </c:pt>
              <c:pt idx="1">
                <c:v>30.8205</c:v>
              </c:pt>
              <c:pt idx="2">
                <c:v>23.6525</c:v>
              </c:pt>
              <c:pt idx="3">
                <c:v>24.0553</c:v>
              </c:pt>
              <c:pt idx="4">
                <c:v>28.263899999999996</c:v>
              </c:pt>
              <c:pt idx="5">
                <c:v>20.9546</c:v>
              </c:pt>
              <c:pt idx="6">
                <c:v>25.4643</c:v>
              </c:pt>
              <c:pt idx="7">
                <c:v>20.8546</c:v>
              </c:pt>
              <c:pt idx="8">
                <c:v>15.207899999999999</c:v>
              </c:pt>
              <c:pt idx="9">
                <c:v>25.979799999999997</c:v>
              </c:pt>
              <c:pt idx="10">
                <c:v>22.182</c:v>
              </c:pt>
              <c:pt idx="11">
                <c:v>18.8665</c:v>
              </c:pt>
              <c:pt idx="12">
                <c:v>14.5175</c:v>
              </c:pt>
            </c:numLit>
          </c:val>
          <c:smooth val="0"/>
        </c:ser>
        <c:ser>
          <c:idx val="1"/>
          <c:order val="1"/>
          <c:tx>
            <c:v>Ma'am 4d match</c:v>
          </c:tx>
          <c:spPr>
            <a:ln xmlns:a="http://schemas.openxmlformats.org/drawingml/2006/main" w="28575">
              <a:solidFill>
                <a:srgbClr val="315E8A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3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  <c:pt idx="4">
                <c:v>2018</c:v>
              </c:pt>
              <c:pt idx="5">
                <c:v>2019</c:v>
              </c:pt>
              <c:pt idx="6">
                <c:v>2020</c:v>
              </c:pt>
              <c:pt idx="7">
                <c:v>2021</c:v>
              </c:pt>
              <c:pt idx="8">
                <c:v>2022</c:v>
              </c:pt>
              <c:pt idx="9">
                <c:v>2023</c:v>
              </c:pt>
              <c:pt idx="10">
                <c:v>2024</c:v>
              </c:pt>
              <c:pt idx="11">
                <c:v>2025</c:v>
              </c:pt>
              <c:pt idx="12">
                <c:v>2026</c:v>
              </c:pt>
            </c:numLit>
          </c:cat>
          <c:val>
            <c:numLit>
              <c:formatCode>0</c:formatCode>
              <c:ptCount val="13"/>
              <c:pt idx="0">
                <c:v>66.1297</c:v>
              </c:pt>
              <c:pt idx="1">
                <c:v>67.84559999999999</c:v>
              </c:pt>
              <c:pt idx="2">
                <c:v>74.66329999999999</c:v>
              </c:pt>
              <c:pt idx="3">
                <c:v>70.6687</c:v>
              </c:pt>
              <c:pt idx="4">
                <c:v>67.20819999999999</c:v>
              </c:pt>
              <c:pt idx="5">
                <c:v>65.9028</c:v>
              </c:pt>
              <c:pt idx="6">
                <c:v>67.1846</c:v>
              </c:pt>
              <c:pt idx="7">
                <c:v>67.8352</c:v>
              </c:pt>
              <c:pt idx="8">
                <c:v>64.2005</c:v>
              </c:pt>
              <c:pt idx="9">
                <c:v>64.4456</c:v>
              </c:pt>
              <c:pt idx="10">
                <c:v>67.95360000000001</c:v>
              </c:pt>
              <c:pt idx="11">
                <c:v>72.8003</c:v>
              </c:pt>
              <c:pt idx="12">
                <c:v>68.04299999999999</c:v>
              </c:pt>
            </c:numLit>
          </c:val>
          <c:smooth val="0"/>
        </c:ser>
        <c:ser>
          <c:idx val="2"/>
          <c:order val="2"/>
          <c:tx>
            <c:v>Bituach 4d match</c:v>
          </c:tx>
          <c:spPr>
            <a:ln xmlns:a="http://schemas.openxmlformats.org/drawingml/2006/main" w="28575">
              <a:solidFill>
                <a:srgbClr val="2F7D69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3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  <c:pt idx="4">
                <c:v>2018</c:v>
              </c:pt>
              <c:pt idx="5">
                <c:v>2019</c:v>
              </c:pt>
              <c:pt idx="6">
                <c:v>2020</c:v>
              </c:pt>
              <c:pt idx="7">
                <c:v>2021</c:v>
              </c:pt>
              <c:pt idx="8">
                <c:v>2022</c:v>
              </c:pt>
              <c:pt idx="9">
                <c:v>2023</c:v>
              </c:pt>
              <c:pt idx="10">
                <c:v>2024</c:v>
              </c:pt>
              <c:pt idx="11">
                <c:v>2025</c:v>
              </c:pt>
              <c:pt idx="12">
                <c:v>2026</c:v>
              </c:pt>
            </c:numLit>
          </c:cat>
          <c:val>
            <c:numLit>
              <c:formatCode>0</c:formatCode>
              <c:ptCount val="13"/>
              <c:pt idx="0">
                <c:v>55.1589</c:v>
              </c:pt>
              <c:pt idx="1">
                <c:v>57.9023</c:v>
              </c:pt>
              <c:pt idx="2">
                <c:v>57.5051</c:v>
              </c:pt>
              <c:pt idx="3">
                <c:v>57.0006</c:v>
              </c:pt>
              <c:pt idx="4">
                <c:v>51.5294</c:v>
              </c:pt>
              <c:pt idx="5">
                <c:v>55.332800000000006</c:v>
              </c:pt>
              <c:pt idx="6">
                <c:v>54.5606</c:v>
              </c:pt>
              <c:pt idx="7">
                <c:v>53.633399999999995</c:v>
              </c:pt>
              <c:pt idx="8">
                <c:v>54.8998</c:v>
              </c:pt>
              <c:pt idx="9">
                <c:v>52.0278</c:v>
              </c:pt>
              <c:pt idx="10">
                <c:v>52.585</c:v>
              </c:pt>
              <c:pt idx="11">
                <c:v>53.5928</c:v>
              </c:pt>
              <c:pt idx="12">
                <c:v>54.2914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Classification/change 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Manual share or match rate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878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charts/chart10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Manual share</c:v>
          </c:tx>
          <c:spPr>
            <a:solidFill xmlns:a="http://schemas.openxmlformats.org/drawingml/2006/main">
              <a:srgbClr val="315E8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New 0 30 Days</c:v>
              </c:pt>
              <c:pt idx="1">
                <c:v>Existing 180 Plus Days</c:v>
              </c:pt>
              <c:pt idx="2">
                <c:v>Recent 31 180 Days</c:v>
              </c:pt>
            </c:strLit>
          </c:cat>
          <c:val>
            <c:numLit>
              <c:formatCode>General</c:formatCode>
              <c:ptCount val="3"/>
              <c:pt idx="0">
                <c:v>8.927</c:v>
              </c:pt>
              <c:pt idx="1">
                <c:v>26.7104</c:v>
              </c:pt>
              <c:pt idx="2">
                <c:v>88.4688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Age segment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Manual share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1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Manual share</c:v>
          </c:tx>
          <c:spPr>
            <a:solidFill xmlns:a="http://schemas.openxmlformats.org/drawingml/2006/main">
              <a:srgbClr val="2F7D6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Initial update</c:v>
              </c:pt>
              <c:pt idx="1">
                <c:v>Improvement</c:v>
              </c:pt>
              <c:pt idx="2">
                <c:v>Activity change</c:v>
              </c:pt>
            </c:strLit>
          </c:cat>
          <c:val>
            <c:numLit>
              <c:formatCode>General</c:formatCode>
              <c:ptCount val="3"/>
              <c:pt idx="0">
                <c:v>16.417399999999997</c:v>
              </c:pt>
              <c:pt idx="1">
                <c:v>34.319</c:v>
              </c:pt>
              <c:pt idx="2">
                <c:v>13.0058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Update reason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Manual share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charts/chart1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Automatic share</c:v>
          </c:tx>
          <c:spPr>
            <a:solidFill xmlns:a="http://schemas.openxmlformats.org/drawingml/2006/main">
              <a:srgbClr val="8A6D1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Ma'am Matches Target Only</c:v>
              </c:pt>
              <c:pt idx="1">
                <c:v>High Source Agreement Matches Target</c:v>
              </c:pt>
              <c:pt idx="2">
                <c:v>Auto Other</c:v>
              </c:pt>
              <c:pt idx="3">
                <c:v>Sources Agree Target Differs</c:v>
              </c:pt>
              <c:pt idx="4">
                <c:v>Bituach Matches Target Only</c:v>
              </c:pt>
            </c:strLit>
          </c:cat>
          <c:val>
            <c:numLit>
              <c:formatCode>General</c:formatCode>
              <c:ptCount val="5"/>
              <c:pt idx="0">
                <c:v>50.4462</c:v>
              </c:pt>
              <c:pt idx="1">
                <c:v>20.7057</c:v>
              </c:pt>
              <c:pt idx="2">
                <c:v>17.8173</c:v>
              </c:pt>
              <c:pt idx="3">
                <c:v>6.9465</c:v>
              </c:pt>
              <c:pt idx="4">
                <c:v>4.0778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Share of automatic rows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8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 b="1">
                    <a:solidFill>
                      <a:srgbClr val="5B6878"/>
                    </a:solidFill>
                  </a:rPr>
                  <a:t>Agreement tier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5B687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4202D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positioning this as a decision deck, not only an EDA deck.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core business question is how to classify cases that currently reach manual classification.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deck combines the knowledge base, DBA-reviewed codebook, broad EDA notebook, and manual-first follow-up EDA notebook.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replaces the earlier terminology slide with a more practical source map.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that source systems contribute different types of fields: branches, descriptions, names, categories, and numeric proxies.</a:t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uses the simplified workflow framing from the report.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important presenter point is where the model enters the process: after the existing exact-match/source-combination route cannot confidently finish the row.</a:t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Clarify that the model is not meant to replace every existing business rule on day 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Its first value is improving the cases that currently go to manual handling.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motivates why the manual population needs its own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model will be judged on the manual-like distribution even though the automatic pool is much larger.</a:t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phrase to use: manual rows are the inference population.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Automatic rows are not bad data; they are a different population.</a:t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Point out that no single class dominates.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top-1 accuracy number alone will not tell us whether the model handles the operational tail.</a:t>
            </a:r>
            <a:endParaRPr/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was added because the table makes the long-tail story easier to present than a chart alone.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Call out the cumulative share: even the top 12 classes cover only a minority of manual rows.</a:t>
            </a:r>
            <a:endParaRPr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L0/L1/L2/L3 or digit hierarchy here if the team is new to ANAF codes.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also motivates confidence-based fallback instead of forcing every row to four digits.</a:t>
            </a:r>
            <a:endParaRPr/>
          </a:p>
        </p:txBody>
      </p:sp>
      <p:sp>
        <p:nvSpPr>
          <p:cNvPr id="387" name="Google Shape;38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explicitly incorporates the categorical features requested in the follow-up prompt.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Categoricals are not a separate afterthought; they appear in source, branch, and model-feature analyses.</a:t>
            </a:r>
            <a:endParaRPr/>
          </a:p>
        </p:txBody>
      </p:sp>
      <p:sp>
        <p:nvSpPr>
          <p:cNvPr id="438" name="Google Shape;43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 not undersell the source branches: they are powerful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But the final system must resolve cases where the source is missing, stale, or disagrees with the human target.</a:t>
            </a:r>
            <a:endParaRPr/>
          </a:p>
        </p:txBody>
      </p:sp>
      <p:sp>
        <p:nvSpPr>
          <p:cNvPr id="485" name="Google Shape;48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a crucial benchmark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Any first prototype should report lift over these source baselines before moving to more complex experiments.</a:t>
            </a:r>
            <a:endParaRPr/>
          </a:p>
        </p:txBody>
      </p:sp>
      <p:sp>
        <p:nvSpPr>
          <p:cNvPr id="505" name="Google Shape;50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explains why source agreement is not equivalent to truth.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also motivates using manual labels as the ground truth for the model objective.</a:t>
            </a:r>
            <a:endParaRPr/>
          </a:p>
        </p:txBody>
      </p:sp>
      <p:sp>
        <p:nvSpPr>
          <p:cNvPr id="552" name="Google Shape;55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one of the main reasons the automatic rows should be introduced via experiments.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goal is not to discard automatic data, but to prevent it from defining the target distribution incorrectly.</a:t>
            </a:r>
            <a:endParaRPr/>
          </a:p>
        </p:txBody>
      </p:sp>
      <p:sp>
        <p:nvSpPr>
          <p:cNvPr id="571" name="Google Shape;57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directly addresses the user's clarification about categorical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table is deliberately restricted to a subset so it remains readable in a meeting.</a:t>
            </a:r>
            <a:endParaRPr/>
          </a:p>
        </p:txBody>
      </p:sp>
      <p:sp>
        <p:nvSpPr>
          <p:cNvPr id="634" name="Google Shape;63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Keep this section sober: numeric fields are useful, but not the main source of semantic classification.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DBA clarification on PIDION_MESHUAR should be mentioned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If asked about correlation, say that the current EDA supports numeric fields as contextual features, and the prototype must measure marginal lift through ablation.</a:t>
            </a:r>
            <a:endParaRPr/>
          </a:p>
        </p:txBody>
      </p:sp>
      <p:sp>
        <p:nvSpPr>
          <p:cNvPr id="722" name="Google Shape;72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0" name="Google Shape;77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text fields are complementary: descriptions carry activity, names can carry domain terms, and employer names can identify institutional context.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supports a multi-text-field model rather than a single description-only model.</a:t>
            </a:r>
            <a:endParaRPr/>
          </a:p>
        </p:txBody>
      </p:sp>
      <p:sp>
        <p:nvSpPr>
          <p:cNvPr id="771" name="Google Shape;77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Define coverage as the share of rows with non-missing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Define unique non-null values as the number of distinct text strings after excluding missing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Duplicate rows show whether exact text dictionaries can cover repeated patterns.</a:t>
            </a:r>
            <a:endParaRPr/>
          </a:p>
        </p:txBody>
      </p:sp>
      <p:sp>
        <p:nvSpPr>
          <p:cNvPr id="793" name="Google Shape;79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7" name="Google Shape;86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connects the current system to the future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old exact-match idea is not wrong; it is just not broad enough for manual rows.</a:t>
            </a:r>
            <a:endParaRPr/>
          </a:p>
        </p:txBody>
      </p:sp>
      <p:sp>
        <p:nvSpPr>
          <p:cNvPr id="868" name="Google Shape;86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4" name="Google Shape;88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Purity threshold means the required share of rows with the same text value that map to the same target.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Apparent accuracy is only measured on rows covered by that dictionary rule, so it should not be confused with whole-population accuracy.</a:t>
            </a:r>
            <a:endParaRPr/>
          </a:p>
        </p:txBody>
      </p:sp>
      <p:sp>
        <p:nvSpPr>
          <p:cNvPr id="885" name="Google Shape;88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9" name="Google Shape;95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the modeling design slide for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Make clear that target descriptions are for explanation and evaluation, not model input.</a:t>
            </a:r>
            <a:endParaRPr/>
          </a:p>
        </p:txBody>
      </p:sp>
      <p:sp>
        <p:nvSpPr>
          <p:cNvPr id="960" name="Google Shape;96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2" name="Google Shape;98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the concrete example slide requested by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main idea is not to concatenate everything blindly; build a feature dictionary where each source family keeps its identity.</a:t>
            </a:r>
            <a:endParaRPr/>
          </a:p>
        </p:txBody>
      </p:sp>
      <p:sp>
        <p:nvSpPr>
          <p:cNvPr id="983" name="Google Shape;98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3" name="Google Shape;103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answers how the five example feature families become one BERT-compatible input.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that BERT sees a single token sequence, but the sequence is structured with source markers.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later prototype can compare the simple sequence-only version against a hybrid model: BERT text embedding plus separate tabular features.</a:t>
            </a:r>
            <a:endParaRPr/>
          </a:p>
        </p:txBody>
      </p:sp>
      <p:sp>
        <p:nvSpPr>
          <p:cNvPr id="1034" name="Google Shape;103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4" name="Google Shape;11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this to choose branch-specific deep dives and error analysis priorities.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 branch that is both large and difficult deserves early attention.</a:t>
            </a:r>
            <a:endParaRPr/>
          </a:p>
        </p:txBody>
      </p:sp>
      <p:sp>
        <p:nvSpPr>
          <p:cNvPr id="1115" name="Google Shape;11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9" name="Google Shape;113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answers the question of what code ranges define the branch groups.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Mention that every branch group is still evaluated at the final four-digit target level.</a:t>
            </a:r>
            <a:endParaRPr/>
          </a:p>
        </p:txBody>
      </p:sp>
      <p:sp>
        <p:nvSpPr>
          <p:cNvPr id="1140" name="Google Shape;114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8" name="Google Shape;1198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score is not a production metric; it is a triage tool for investigation.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Manufacturing is the hardest by this proxy even though it is not the largest branch.</a:t>
            </a:r>
            <a:endParaRPr/>
          </a:p>
        </p:txBody>
      </p:sp>
      <p:sp>
        <p:nvSpPr>
          <p:cNvPr id="1199" name="Google Shape;1199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3" name="Google Shape;1253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should prevent confusion about the proxy.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Say explicitly: it is a prioritization heuristic from the EDA, not a trained model result.</a:t>
            </a:r>
            <a:endParaRPr/>
          </a:p>
        </p:txBody>
      </p:sp>
      <p:sp>
        <p:nvSpPr>
          <p:cNvPr id="1254" name="Google Shape;1254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8" name="Google Shape;129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dense but useful for data scientists.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gives the team the concrete numbers behind the branch strategy.</a:t>
            </a:r>
            <a:endParaRPr/>
          </a:p>
        </p:txBody>
      </p:sp>
      <p:sp>
        <p:nvSpPr>
          <p:cNvPr id="1299" name="Google Shape;129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7" name="Google Shape;1397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gives practical direction for the next modeling notebook.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point is not to build separate models immediately, but to measure branch behavior from the start.</a:t>
            </a:r>
            <a:endParaRPr/>
          </a:p>
        </p:txBody>
      </p:sp>
      <p:sp>
        <p:nvSpPr>
          <p:cNvPr id="1398" name="Google Shape;1398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4" name="Google Shape;142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Temporal split choice should be a modeling design decision, not an afterthought.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EDA measured temporal source-match drift, but the prototype should add data-quality-by-year checks for coverage, text length, and source availability.</a:t>
            </a:r>
            <a:endParaRPr/>
          </a:p>
        </p:txBody>
      </p:sp>
      <p:sp>
        <p:nvSpPr>
          <p:cNvPr id="1425" name="Google Shape;1425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1" name="Google Shape;144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new-vs-changed result is one of the strongest temporal/process findings.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may reflect how source feeds mature over time and how current automation handles new entities.</a:t>
            </a:r>
            <a:endParaRPr/>
          </a:p>
        </p:txBody>
      </p:sp>
      <p:sp>
        <p:nvSpPr>
          <p:cNvPr id="1442" name="Google Shape;144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7" name="Google Shape;1457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guards against accidental leakage through process metadata.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also introduces label quality analysis as a future QA track.</a:t>
            </a:r>
            <a:endParaRPr/>
          </a:p>
        </p:txBody>
      </p:sp>
      <p:sp>
        <p:nvSpPr>
          <p:cNvPr id="1458" name="Google Shape;1458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4" name="Google Shape;150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Automatic rows are not one homogeneous trusted 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Tiers can drive sampling, weighting, and ablation design.</a:t>
            </a:r>
            <a:endParaRPr/>
          </a:p>
        </p:txBody>
      </p:sp>
      <p:sp>
        <p:nvSpPr>
          <p:cNvPr id="1505" name="Google Shape;150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3" name="Google Shape;1523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likely to be a discussion point.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recommended posture is measured: neither ignore automatic rows nor trust them blindly.</a:t>
            </a:r>
            <a:endParaRPr/>
          </a:p>
        </p:txBody>
      </p:sp>
      <p:sp>
        <p:nvSpPr>
          <p:cNvPr id="1524" name="Google Shape;1524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0" name="Google Shape;1550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the bridge from EDA to the prototype notebook.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table intentionally replaces the previous field-count chart, because the use categories matter more than the count of fields.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Define ablation clearly: it is not deletion, it is an experiment to measure marginal contribution.</a:t>
            </a:r>
            <a:endParaRPr/>
          </a:p>
        </p:txBody>
      </p:sp>
      <p:sp>
        <p:nvSpPr>
          <p:cNvPr id="1551" name="Google Shape;1551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9" name="Google Shape;1589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incorporates the library/model screenshots from the user.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 the list from most likely to work reliably to most experimental.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point is to create a testing ladder, not to pick one winner before the prototype.</a:t>
            </a:r>
            <a:endParaRPr/>
          </a:p>
        </p:txBody>
      </p:sp>
      <p:sp>
        <p:nvSpPr>
          <p:cNvPr id="1590" name="Google Shape;1590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1" name="Google Shape;1651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keeps the conceptual pipeline: features, manual-first model, auxiliary evidence, decision layer.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it to explain how the candidate models plug into the broader system.</a:t>
            </a:r>
            <a:endParaRPr/>
          </a:p>
        </p:txBody>
      </p:sp>
      <p:sp>
        <p:nvSpPr>
          <p:cNvPr id="1652" name="Google Shape;1652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9" name="Google Shape;1689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one of the two specialist-model options the user requested.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risk is router error: if the first model routes a row wrong, the specialist may never see the right class.</a:t>
            </a:r>
            <a:endParaRPr/>
          </a:p>
        </p:txBody>
      </p:sp>
      <p:sp>
        <p:nvSpPr>
          <p:cNvPr id="1690" name="Google Shape;1690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0" name="Google Shape;173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is the second specialist-model option requested.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Emphasize that this should be tested empirically; it is not automatically better than one global model.</a:t>
            </a:r>
            <a:endParaRPr/>
          </a:p>
        </p:txBody>
      </p:sp>
      <p:sp>
        <p:nvSpPr>
          <p:cNvPr id="1731" name="Google Shape;173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3" name="Google Shape;1773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for the data scientists.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defines success as insight plus performance, not a black-box leaderboard.</a:t>
            </a:r>
            <a:endParaRPr/>
          </a:p>
        </p:txBody>
      </p:sp>
      <p:sp>
        <p:nvSpPr>
          <p:cNvPr id="1774" name="Google Shape;1774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0" name="Google Shape;1820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turns the EDA findings into acceptance criteria.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Confidence routing is important because the current process already has manual review capacity.</a:t>
            </a:r>
            <a:endParaRPr/>
          </a:p>
        </p:txBody>
      </p:sp>
      <p:sp>
        <p:nvSpPr>
          <p:cNvPr id="1821" name="Google Shape;1821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7" name="Google Shape;1847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adds the requested feature-engineering next step to the prototype section.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core message is that feature choice and feature representation are both empirical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Point back to the BERT example: it is one recipe, not the only representation.</a:t>
            </a:r>
            <a:endParaRPr/>
          </a:p>
        </p:txBody>
      </p:sp>
      <p:sp>
        <p:nvSpPr>
          <p:cNvPr id="1848" name="Google Shape;1848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0" name="Google Shape;1890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roadmap is intentionally practical and notebook-oriented.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reflects the user's need to move artifacts through an air-gapped environment in fewer iterations.</a:t>
            </a:r>
            <a:endParaRPr/>
          </a:p>
        </p:txBody>
      </p:sp>
      <p:sp>
        <p:nvSpPr>
          <p:cNvPr id="1891" name="Google Shape;1891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7" name="Google Shape;1937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slide is useful for ending the team discussion with action items.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It prevents premature agreement on modeling without resolving governance and evaluation choices.</a:t>
            </a:r>
            <a:endParaRPr/>
          </a:p>
        </p:txBody>
      </p:sp>
      <p:sp>
        <p:nvSpPr>
          <p:cNvPr id="1938" name="Google Shape;1938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0" name="Google Shape;1960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End by emphasizing readiness: the EDA has done its job.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remaining uncertainty is best resolved by modeling experiments with the right validation design.</a:t>
            </a:r>
            <a:endParaRPr/>
          </a:p>
        </p:txBody>
      </p:sp>
      <p:sp>
        <p:nvSpPr>
          <p:cNvPr id="1961" name="Google Shape;1961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4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5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6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7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8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9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2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0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Executive briefing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09600" y="51435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AFC4D8"/>
                </a:solidFill>
                <a:latin typeface="Arial"/>
                <a:ea typeface="Arial"/>
                <a:cs typeface="Arial"/>
                <a:sym typeface="Arial"/>
              </a:rPr>
              <a:t>MIRSHAM BUSINESS REGISTER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9600" y="1066800"/>
            <a:ext cx="8096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EDA Findings and Modeling Strategy Briefing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09600" y="2343150"/>
            <a:ext cx="6477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DDE7F0"/>
                </a:solidFill>
                <a:latin typeface="Arial"/>
                <a:ea typeface="Arial"/>
                <a:cs typeface="Arial"/>
                <a:sym typeface="Arial"/>
              </a:rPr>
              <a:t>Technical onboarding deck for a 90-minute team readout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09600" y="3600450"/>
            <a:ext cx="2381250" cy="13716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81050" y="377190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953,926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81050" y="42481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Full production-like extract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81050" y="45720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rows in the on-prem run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276600" y="3600450"/>
            <a:ext cx="2381250" cy="13716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448050" y="377190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215,260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448050" y="42481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analysis population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448050" y="45720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inference-like cases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943600" y="3600450"/>
            <a:ext cx="2381250" cy="13716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115050" y="377190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557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115050" y="42481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target classes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115050" y="45720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four-digit ANAF labels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610600" y="3600450"/>
            <a:ext cx="2381250" cy="13716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8782050" y="377190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9B3D30"/>
                </a:solidFill>
                <a:latin typeface="Play"/>
                <a:ea typeface="Play"/>
                <a:cs typeface="Play"/>
                <a:sym typeface="Play"/>
              </a:rPr>
              <a:t>734,589</a:t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782050" y="42481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Automatic rows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782050" y="45720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weak-label candidate pool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2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Project context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TECHNOLOGY CONVENTION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Main sources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These are the operational source systems and the main feature families they contribute to the classification problem.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38200" y="2076450"/>
            <a:ext cx="200025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14400" y="2124075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838450" y="2076450"/>
            <a:ext cx="257175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2914650" y="2124075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410200" y="2076450"/>
            <a:ext cx="594360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486400" y="2124075"/>
            <a:ext cx="579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Typical useful fields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38200" y="2647950"/>
            <a:ext cx="20002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914400" y="2695575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(VAT)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838450" y="2647950"/>
            <a:ext cx="2571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2914650" y="2695575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Value Added Tax source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410200" y="2647950"/>
            <a:ext cx="59436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486400" y="2695575"/>
            <a:ext cx="579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ANAF_MAAM, ANAF_MAAM_TEUR, SUG_TIK_MAAM, TEUR_PEILUT_MAAM, PIDION_MESHUAR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38200" y="3219450"/>
            <a:ext cx="20002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914400" y="3267075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Bituach Leumi (BL)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838450" y="3219450"/>
            <a:ext cx="2571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2914650" y="3267075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National Insurance source</a:t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410200" y="3219450"/>
            <a:ext cx="594360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86400" y="3267075"/>
            <a:ext cx="579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ANAF_BL, ANAF_BL_TEUR, KOD_PEILUT_BL, SHEM_MAASIK, MUASAKIM_MESHUAR_BL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838200" y="3790950"/>
            <a:ext cx="20002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914400" y="3838575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Mas Hachnasa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838450" y="3790950"/>
            <a:ext cx="2571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2914650" y="3838575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Income Tax source</a:t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410200" y="3790950"/>
            <a:ext cx="59436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486400" y="3838575"/>
            <a:ext cx="579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SUG_TIK_MH_TEUR and related account/status fields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38200" y="4362450"/>
            <a:ext cx="20002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914400" y="4410075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Business Register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2838450" y="4362450"/>
            <a:ext cx="2571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2914650" y="4410075"/>
            <a:ext cx="2419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Final registry classification context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410200" y="4362450"/>
            <a:ext cx="594360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486400" y="4410075"/>
            <a:ext cx="5791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LAMAS_ID, ANAF_2011_ID target, ANAF_MIRSHAM_TEUR for reporting only</a:t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1600200" y="5219700"/>
            <a:ext cx="89916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1600200" y="5219700"/>
            <a:ext cx="57150" cy="68580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1809750" y="5334000"/>
            <a:ext cx="862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Reading rule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1809750" y="5581650"/>
            <a:ext cx="8629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deck spells out Ma'am, Bituach Leumi, and Mas Hachnasa because the raw abbreviations can be easy to confuse. Field names remain unchanged.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3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Project context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CURRENT OPERATIONAL FLOW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existing process is a source-combination and exact-match workflow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new model should focus on the decision point where current automation fails, flags, or cannot confidently resolve a row.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09600" y="2266950"/>
            <a:ext cx="1809750" cy="1276350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62000" y="2438400"/>
            <a:ext cx="1504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(VAT)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762000" y="2762250"/>
            <a:ext cx="15049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Business 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status, Ma'am branch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495550" y="2724150"/>
            <a:ext cx="40005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857500" y="2266950"/>
            <a:ext cx="1809750" cy="1276350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009900" y="2438400"/>
            <a:ext cx="1504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Bituach Leumi (BL)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009900" y="2762250"/>
            <a:ext cx="15049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Employer/legal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data and BL branch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743450" y="2724150"/>
            <a:ext cx="40005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105400" y="2266950"/>
            <a:ext cx="1809750" cy="1276350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257800" y="2438400"/>
            <a:ext cx="1504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Current engine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257800" y="2762250"/>
            <a:ext cx="15049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Exact description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matching + flags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182100" y="2790825"/>
            <a:ext cx="4002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601500" y="2324025"/>
            <a:ext cx="1809600" cy="1276500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9753900" y="2495475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queue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9753900" y="2819325"/>
            <a:ext cx="1505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Rows current 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cannot confidently classify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934125" y="2724150"/>
            <a:ext cx="400200" cy="34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353300" y="2228850"/>
            <a:ext cx="1809600" cy="1276500"/>
          </a:xfrm>
          <a:prstGeom prst="roundRect">
            <a:avLst>
              <a:gd fmla="val 597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505700" y="240030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F7D69"/>
                </a:solidFill>
                <a:latin typeface="Arial"/>
                <a:ea typeface="Arial"/>
                <a:cs typeface="Arial"/>
                <a:sym typeface="Arial"/>
              </a:rPr>
              <a:t>Target model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505700" y="2724150"/>
            <a:ext cx="1505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Predict ANAF 2001 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for manual-like cases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1219200" y="4286250"/>
            <a:ext cx="4305300" cy="914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219200" y="4286250"/>
            <a:ext cx="57150" cy="91440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428750" y="4400550"/>
            <a:ext cx="3943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Current automatic route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428750" y="4648200"/>
            <a:ext cx="3943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If source information and exact/dictionary checks are strong enough, the current process can classify automatically.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667500" y="4286250"/>
            <a:ext cx="4305300" cy="914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667500" y="4286250"/>
            <a:ext cx="57150" cy="91440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877050" y="4400550"/>
            <a:ext cx="3943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 target route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877050" y="4648200"/>
            <a:ext cx="39433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Rows that fall out to manual handling are the first target for supervised modeling and validation.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1809750" y="5524500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model must use only information available at the classification decision time.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4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Project context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Automate ANAF 2001 classification for manual-like business register cases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first production target is the set of rows that currently require human classification.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00100" y="22288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1009650" y="2152650"/>
            <a:ext cx="501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Each row represents a business-register classification state using information available up to the last classification/status date.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00100" y="27432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09650" y="2667000"/>
            <a:ext cx="501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The operational target is ANAF 2001 ID: the four-digit economic activity branch assigned after classification.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00100" y="32575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009650" y="3181350"/>
            <a:ext cx="501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The current system already handles many rows through deterministic/exact-match automation.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800100" y="37719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009650" y="3695700"/>
            <a:ext cx="5010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The model must focus on the residual population sent to manual classification, not on the easier automatic population alone.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762750" y="2152650"/>
            <a:ext cx="2000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934200" y="23241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87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934200" y="2800350"/>
            <a:ext cx="1657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Observed raw columns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9048750" y="2152650"/>
            <a:ext cx="2000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9220200" y="23241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118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9220200" y="2800350"/>
            <a:ext cx="1657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Working columns after derivations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762750" y="3714750"/>
            <a:ext cx="4286250" cy="120015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934200" y="3886200"/>
            <a:ext cx="3943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953,926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6934200" y="4362450"/>
            <a:ext cx="394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Rows in executed run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5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5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Population analysis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POPULATION SPLIT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real run is dominated by automatic rows, but the target use case is manual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Automatic rows are 77.0% of the full extract; manual-labeled rows are 22.3%.</a:t>
            </a:r>
            <a:endParaRPr/>
          </a:p>
        </p:txBody>
      </p:sp>
      <p:graphicFrame>
        <p:nvGraphicFramePr>
          <p:cNvPr id="161" name="Google Shape;161;p5"/>
          <p:cNvGraphicFramePr/>
          <p:nvPr/>
        </p:nvGraphicFramePr>
        <p:xfrm>
          <a:off x="914400" y="2095500"/>
          <a:ext cx="6724650" cy="3143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2" name="Google Shape;162;p5"/>
          <p:cNvSpPr/>
          <p:nvPr/>
        </p:nvSpPr>
        <p:spPr>
          <a:xfrm>
            <a:off x="914400" y="5314950"/>
            <a:ext cx="6724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share of all rows. Y-axis: classification population/status group.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229600" y="2152650"/>
            <a:ext cx="2400300" cy="12192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401050" y="2324100"/>
            <a:ext cx="2057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734,589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01050" y="28003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Automatic rows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8401050" y="312420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77.0% of extract</a:t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8229600" y="3714750"/>
            <a:ext cx="2400300" cy="12192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8401050" y="3886200"/>
            <a:ext cx="2057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213,146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8401050" y="43624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Manual-labeled rows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8401050" y="468630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22.3% of extract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" name="Google Shape;176;p6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6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Population analysis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WHY THE MANUAL POPULATION MUST DRIVE EVALUATION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Manual rows are selected by current-system difficulty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selection mechanism itself changes feature coverage, branch mix, and label difficulty.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781050" y="21717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990600" y="2095500"/>
            <a:ext cx="5124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rows include cases with missing/ambiguous descriptions, current-system red flags, source disagreement, or insufficient deterministic matches.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781050" y="27241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990600" y="2647950"/>
            <a:ext cx="5124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Training only on automatic rows would overrepresent cleaner exact-match examples and underrepresent the failure modes we must solve.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781050" y="32766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990600" y="3200400"/>
            <a:ext cx="5124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Training only on manual rows is the safest starting point, but automatic rows can still help if used as weak labels or pretraining data.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800850" y="2266950"/>
            <a:ext cx="142875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877050" y="2314575"/>
            <a:ext cx="1276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8229600" y="2266950"/>
            <a:ext cx="104775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305800" y="2314575"/>
            <a:ext cx="895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9277350" y="2266950"/>
            <a:ext cx="161925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9353550" y="2314575"/>
            <a:ext cx="14668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Modeling use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800850" y="2757488"/>
            <a:ext cx="14287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6877050" y="2805113"/>
            <a:ext cx="1276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analysis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8229600" y="2757488"/>
            <a:ext cx="10477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305800" y="2805113"/>
            <a:ext cx="895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215,260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9277350" y="2757488"/>
            <a:ext cx="16192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9353550" y="2805113"/>
            <a:ext cx="14668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Primary train/eval distribution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800850" y="3248025"/>
            <a:ext cx="142875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877050" y="3295650"/>
            <a:ext cx="1276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Manual-labeled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229600" y="3248025"/>
            <a:ext cx="104775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8305800" y="3295650"/>
            <a:ext cx="895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213,146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9277350" y="3248025"/>
            <a:ext cx="161925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353550" y="3295650"/>
            <a:ext cx="14668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Clean supervised target subset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800850" y="3738563"/>
            <a:ext cx="14287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877050" y="3786188"/>
            <a:ext cx="1276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8229600" y="3738563"/>
            <a:ext cx="10477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8305800" y="3786188"/>
            <a:ext cx="8953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734,589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9277350" y="3738563"/>
            <a:ext cx="161925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9353550" y="3786188"/>
            <a:ext cx="146685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Auxiliary/weak-label pool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7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7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Target distribution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TARGET LONG TAIL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Manual classification spans 557 four-digit classes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top classes are meaningful, but the target is a long-tailed multi-class problem.</a:t>
            </a:r>
            <a:endParaRPr/>
          </a:p>
        </p:txBody>
      </p:sp>
      <p:graphicFrame>
        <p:nvGraphicFramePr>
          <p:cNvPr id="223" name="Google Shape;223;p7"/>
          <p:cNvGraphicFramePr/>
          <p:nvPr/>
        </p:nvGraphicFramePr>
        <p:xfrm>
          <a:off x="819150" y="2076450"/>
          <a:ext cx="7239000" cy="32194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4" name="Google Shape;224;p7"/>
          <p:cNvSpPr/>
          <p:nvPr/>
        </p:nvSpPr>
        <p:spPr>
          <a:xfrm>
            <a:off x="819150" y="53721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four-digit ANAF target class. Y-axis: share of manual-analysis rows.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8572500" y="2114550"/>
            <a:ext cx="22669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8743950" y="2286000"/>
            <a:ext cx="1924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557</a:t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8743950" y="2762250"/>
            <a:ext cx="1924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Unique manual targets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8572500" y="3448050"/>
            <a:ext cx="22669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743950" y="3619500"/>
            <a:ext cx="1924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6201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8743950" y="4095750"/>
            <a:ext cx="1924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Top class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8743950" y="4419600"/>
            <a:ext cx="1924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4.7% of manual rows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572500" y="4781550"/>
            <a:ext cx="2266950" cy="104775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8743950" y="4953000"/>
            <a:ext cx="1924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75.5%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743950" y="5429250"/>
            <a:ext cx="19240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Top 100 coverage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8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8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Target distribution</a:t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TOP MANUAL TARGET CLASSES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head is important, but it does not remove the long-tail problem</a:t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most common four-digit targets explain a meaningful slice of the manual workload, while hundreds of additional labels remain active.</a:t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1066800" y="1981200"/>
            <a:ext cx="857250" cy="27842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1143000" y="2028825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1924050" y="1981200"/>
            <a:ext cx="1714500" cy="27842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2000250" y="2028825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 target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3638550" y="1981200"/>
            <a:ext cx="1714500" cy="27842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714750" y="2028825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rows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353050" y="1981200"/>
            <a:ext cx="1714500" cy="27842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429250" y="2028825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share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7067550" y="1981200"/>
            <a:ext cx="2381250" cy="27842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143750" y="2028825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Cumulative share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066800" y="2259623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1143000" y="2307248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924050" y="2259623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2000250" y="2307248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6201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638550" y="2259623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714750" y="2307248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10,196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5353050" y="2259623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429250" y="2307248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4.7%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067550" y="2259623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143750" y="2307248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4.7%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1066800" y="2538046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1143000" y="2585671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1924050" y="2538046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2000250" y="2585671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7020</a:t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3638550" y="2538046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714750" y="2585671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9,645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353050" y="2538046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429250" y="2585671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4.5%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7067550" y="2538046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143750" y="2585671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9.2%</a:t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1066800" y="2816469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143000" y="2864094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924050" y="2816469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2000250" y="2864094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6810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3638550" y="2816469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3714750" y="2864094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5,498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5353050" y="2816469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429250" y="2864094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2.6%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7067550" y="2816469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7143750" y="2864094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11.8%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1066800" y="3094892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1143000" y="3142517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1924050" y="3094892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2000250" y="314251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4105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3638550" y="3094892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3714750" y="314251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5,086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353050" y="3094892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5429250" y="314251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2.4%</a:t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7067550" y="3094892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7143750" y="3142517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14.1%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1066800" y="3373315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143000" y="3420940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924050" y="3373315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2000250" y="342094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5610</a:t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638550" y="3373315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714750" y="342094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4,571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5353050" y="3373315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5429250" y="342094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2.1%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7067550" y="3373315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7143750" y="3420940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16.3%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066800" y="3651738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1143000" y="3699363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924050" y="3651738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2000250" y="369936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7111</a:t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3638550" y="3651738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3714750" y="369936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4,498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353050" y="3651738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429250" y="369936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2.1%</a:t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7067550" y="3651738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7143750" y="3699363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18.3%</a:t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1066800" y="3930162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1143000" y="3977787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1924050" y="3930162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2000250" y="397778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8576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3638550" y="3930162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3714750" y="397778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3,534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5353050" y="3930162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5429250" y="3977787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1.6%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7067550" y="3930162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7143750" y="3977787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20.0%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1066800" y="4208585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1143000" y="4256210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1924050" y="4208585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2000250" y="425621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7210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3638550" y="4208585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3714750" y="425621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3,231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5353050" y="4208585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5429250" y="4256210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1.5%</a:t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7067550" y="4208585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7143750" y="4256210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21.5%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1066800" y="4487008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1143000" y="4534633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1924050" y="4487008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2000250" y="453463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7310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3638550" y="4487008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3714750" y="453463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3,231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5353050" y="4487008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5429250" y="4534633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1.5%</a:t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067550" y="4487008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143750" y="4534633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23.0%</a:t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1066800" y="4765431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1143000" y="4813056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1924050" y="4765431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2000250" y="4813056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9000</a:t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3638550" y="4765431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3714750" y="4813056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2,944</a:t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5353050" y="4765431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5429250" y="4813056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1.4%</a:t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7067550" y="4765431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7143750" y="4813056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24.4%</a:t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1066800" y="5043854"/>
            <a:ext cx="857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1143000" y="5091479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1924050" y="5043854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2000250" y="5091479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8890</a:t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3638550" y="5043854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3714750" y="5091479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2,907</a:t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5353050" y="5043854"/>
            <a:ext cx="171450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5429250" y="5091479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1.4%</a:t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7067550" y="5043854"/>
            <a:ext cx="2381250" cy="27842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7143750" y="5091479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25.7%</a:t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1066800" y="5322277"/>
            <a:ext cx="857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1143000" y="5369902"/>
            <a:ext cx="704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1924050" y="5322277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2000250" y="5369902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4331</a:t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3638550" y="5322277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714750" y="5369902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2,786</a:t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5353050" y="5322277"/>
            <a:ext cx="171450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5429250" y="5369902"/>
            <a:ext cx="156210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1.3%</a:t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7067550" y="5322277"/>
            <a:ext cx="2381250" cy="27842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7143750" y="5369902"/>
            <a:ext cx="2228850" cy="183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27.0%</a:t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9772650" y="2190750"/>
            <a:ext cx="1714500" cy="1466850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9772650" y="2190750"/>
            <a:ext cx="57150" cy="146685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9982200" y="236220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to read</a:t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9982200" y="2724150"/>
            <a:ext cx="1352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first row is only 4.7%; no single class dominates.</a:t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9772650" y="3943350"/>
            <a:ext cx="1714500" cy="1466850"/>
          </a:xfrm>
          <a:prstGeom prst="roundRect">
            <a:avLst>
              <a:gd fmla="val 519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9772650" y="3943350"/>
            <a:ext cx="57150" cy="14668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9982200" y="411480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Modeling implication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9982200" y="4476750"/>
            <a:ext cx="13525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Report head, mid-tail, rare-class, top-k, and hierarchy metrics.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" name="Google Shape;389;p9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9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Target distribution</a:t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LONG-TAIL IMPLICATIONS</a:t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Evaluation must be hierarchy-aware and tail-aware</a:t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hierarchy matters because near misses at the first or second digit are operationally different from arbitrary errors.</a:t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838200" y="2133600"/>
            <a:ext cx="2095500" cy="4953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914400" y="21812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Coverage cut</a:t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2933700" y="2133600"/>
            <a:ext cx="2095500" cy="4953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3009900" y="21812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row coverage</a:t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5029200" y="2133600"/>
            <a:ext cx="5791200" cy="4953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5105400" y="21812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Implication</a:t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838200" y="26289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914400" y="26765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Top 50 classes</a:t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2933700" y="26289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3009900" y="26765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57.7%</a:t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5029200" y="2628900"/>
            <a:ext cx="57912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5105400" y="26765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Good head-class benchmark, not enough for production</a:t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838200" y="3124200"/>
            <a:ext cx="20955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914400" y="31718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Top 100 classes</a:t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2933700" y="3124200"/>
            <a:ext cx="20955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3009900" y="31718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75.5%</a:t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5029200" y="3124200"/>
            <a:ext cx="57912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5105400" y="31718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Useful first milestone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838200" y="36195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914400" y="36671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Top 200 classes</a:t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2933700" y="36195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3009900" y="36671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90.7%</a:t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5029200" y="3619500"/>
            <a:ext cx="57912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5105400" y="36671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Broad operational coverage</a:t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838200" y="4114800"/>
            <a:ext cx="20955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914400" y="41624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Classes &lt;= 5 rows</a:t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2933700" y="4114800"/>
            <a:ext cx="20955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3009900" y="41624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58 classes</a:t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5029200" y="4114800"/>
            <a:ext cx="5791200" cy="4953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5105400" y="41624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Need smoothing, hierarchy, or human fallback</a:t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838200" y="46101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914400" y="46577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Classes &lt;= 100 rows</a:t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2933700" y="4610100"/>
            <a:ext cx="20955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3009900" y="4657725"/>
            <a:ext cx="1943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300 classes</a:t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5029200" y="4610100"/>
            <a:ext cx="5791200" cy="49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5105400" y="4657725"/>
            <a:ext cx="56388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Tail is large by class count</a:t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1466850" y="55054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1676400" y="5429250"/>
            <a:ext cx="9124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Report exact four-digit accuracy, but also first/second/third digit accuracy.</a:t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1466850" y="58293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1676400" y="5753100"/>
            <a:ext cx="9124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macro metrics and per-branch diagnostics so rare classes do not vanish.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0" name="Google Shape;440;p10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0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Feature inventory</a:t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FEATURE FAMILIES</a:t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Signal lives in text, source branches, categorical context, and size proxies</a:t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model should not be a text-only model or a source-code-only model.</a:t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609600" y="2000250"/>
            <a:ext cx="2571750" cy="1847850"/>
          </a:xfrm>
          <a:prstGeom prst="roundRect">
            <a:avLst>
              <a:gd fmla="val 4124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609600" y="2000250"/>
            <a:ext cx="57150" cy="18478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819150" y="21717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Open text</a:t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819150" y="2533650"/>
            <a:ext cx="22098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TEUR_PEILUT_MAAM, SHEM_OSEK, SHEM_MAASIK, TEUR_PEILUT_MEUDKAN, COMMENTS, SECTOR_HEARA, source-description text.</a:t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3476625" y="2000250"/>
            <a:ext cx="2571750" cy="1847850"/>
          </a:xfrm>
          <a:prstGeom prst="roundRect">
            <a:avLst>
              <a:gd fmla="val 4124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3476625" y="2000250"/>
            <a:ext cx="57150" cy="184785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3686175" y="21717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 branches</a:t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3686175" y="2533650"/>
            <a:ext cx="22098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ANAF_MAAM, ANAF_BL, ANAF_MAAM_TEUR, ANAF_BL_TEUR. Strong priors, but noisy and incomplete.</a:t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6343650" y="2000250"/>
            <a:ext cx="2571750" cy="1847850"/>
          </a:xfrm>
          <a:prstGeom prst="roundRect">
            <a:avLst>
              <a:gd fmla="val 4124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6343650" y="2000250"/>
            <a:ext cx="57150" cy="18478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6553200" y="21717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Categorical fields</a:t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6553200" y="2533650"/>
            <a:ext cx="22098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SUG_TIK_MAAM, KOD_ISHUT, SUG_ISHUT_TEUR, KOD_PEILUT_BL, STATUS_TIK_MACH, MAAMAD_MISHPATI.</a:t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9210675" y="2000250"/>
            <a:ext cx="2381250" cy="1847850"/>
          </a:xfrm>
          <a:prstGeom prst="roundRect">
            <a:avLst>
              <a:gd fmla="val 4124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9210675" y="2000250"/>
            <a:ext cx="57150" cy="1847850"/>
          </a:xfrm>
          <a:prstGeom prst="rect">
            <a:avLst/>
          </a:prstGeom>
          <a:solidFill>
            <a:srgbClr val="B765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9420225" y="2171700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Numeric proxies</a:t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9420225" y="2533650"/>
            <a:ext cx="20193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PIDION_MESHUAR, MUASAKIM_MESHUAR_BL, and engineered timing/age features after leakage review.</a:t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2030881" y="4263527"/>
            <a:ext cx="4558500" cy="338700"/>
          </a:xfrm>
          <a:prstGeom prst="rect">
            <a:avLst/>
          </a:prstGeom>
          <a:solidFill>
            <a:srgbClr val="E9EEF5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2117710" y="4317794"/>
            <a:ext cx="4384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2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Modeling group</a:t>
            </a:r>
            <a:endParaRPr sz="1595"/>
          </a:p>
        </p:txBody>
      </p:sp>
      <p:sp>
        <p:nvSpPr>
          <p:cNvPr id="464" name="Google Shape;464;p10"/>
          <p:cNvSpPr/>
          <p:nvPr/>
        </p:nvSpPr>
        <p:spPr>
          <a:xfrm>
            <a:off x="6589392" y="4263527"/>
            <a:ext cx="2821800" cy="338700"/>
          </a:xfrm>
          <a:prstGeom prst="rect">
            <a:avLst/>
          </a:prstGeom>
          <a:solidFill>
            <a:srgbClr val="E9EEF5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6676220" y="4317794"/>
            <a:ext cx="2648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2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Fields</a:t>
            </a:r>
            <a:endParaRPr sz="1595"/>
          </a:p>
        </p:txBody>
      </p:sp>
      <p:sp>
        <p:nvSpPr>
          <p:cNvPr id="466" name="Google Shape;466;p10"/>
          <p:cNvSpPr/>
          <p:nvPr/>
        </p:nvSpPr>
        <p:spPr>
          <a:xfrm>
            <a:off x="2030881" y="4602155"/>
            <a:ext cx="4558500" cy="338700"/>
          </a:xfrm>
          <a:prstGeom prst="rect">
            <a:avLst/>
          </a:prstGeom>
          <a:solidFill>
            <a:srgbClr val="FFFFFF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117710" y="4656422"/>
            <a:ext cx="4384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Primary eligible</a:t>
            </a:r>
            <a:endParaRPr sz="1595"/>
          </a:p>
        </p:txBody>
      </p:sp>
      <p:sp>
        <p:nvSpPr>
          <p:cNvPr id="468" name="Google Shape;468;p10"/>
          <p:cNvSpPr/>
          <p:nvPr/>
        </p:nvSpPr>
        <p:spPr>
          <a:xfrm>
            <a:off x="6589392" y="4602155"/>
            <a:ext cx="2821800" cy="338700"/>
          </a:xfrm>
          <a:prstGeom prst="rect">
            <a:avLst/>
          </a:prstGeom>
          <a:solidFill>
            <a:srgbClr val="FFFFFF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676220" y="4656422"/>
            <a:ext cx="2648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Core text/source/category/numeric fields</a:t>
            </a:r>
            <a:endParaRPr sz="1595"/>
          </a:p>
        </p:txBody>
      </p:sp>
      <p:sp>
        <p:nvSpPr>
          <p:cNvPr id="470" name="Google Shape;470;p10"/>
          <p:cNvSpPr/>
          <p:nvPr/>
        </p:nvSpPr>
        <p:spPr>
          <a:xfrm>
            <a:off x="2030881" y="4940782"/>
            <a:ext cx="4558500" cy="338700"/>
          </a:xfrm>
          <a:prstGeom prst="rect">
            <a:avLst/>
          </a:prstGeom>
          <a:solidFill>
            <a:srgbClr val="FDFEFE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2117710" y="4995049"/>
            <a:ext cx="4384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 text</a:t>
            </a:r>
            <a:endParaRPr sz="1595"/>
          </a:p>
        </p:txBody>
      </p:sp>
      <p:sp>
        <p:nvSpPr>
          <p:cNvPr id="472" name="Google Shape;472;p10"/>
          <p:cNvSpPr/>
          <p:nvPr/>
        </p:nvSpPr>
        <p:spPr>
          <a:xfrm>
            <a:off x="6589392" y="4940782"/>
            <a:ext cx="2821800" cy="338700"/>
          </a:xfrm>
          <a:prstGeom prst="rect">
            <a:avLst/>
          </a:prstGeom>
          <a:solidFill>
            <a:srgbClr val="FDFEFE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6676219" y="4995053"/>
            <a:ext cx="2648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ANAF_MAAM_TEUR, ANAF_BL_TEUR</a:t>
            </a:r>
            <a:endParaRPr sz="1595"/>
          </a:p>
        </p:txBody>
      </p:sp>
      <p:sp>
        <p:nvSpPr>
          <p:cNvPr id="474" name="Google Shape;474;p10"/>
          <p:cNvSpPr/>
          <p:nvPr/>
        </p:nvSpPr>
        <p:spPr>
          <a:xfrm>
            <a:off x="2030881" y="5279410"/>
            <a:ext cx="4558500" cy="338700"/>
          </a:xfrm>
          <a:prstGeom prst="rect">
            <a:avLst/>
          </a:prstGeom>
          <a:solidFill>
            <a:srgbClr val="FFFFFF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2117710" y="5333677"/>
            <a:ext cx="4384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Ablation candidates</a:t>
            </a:r>
            <a:endParaRPr sz="1595"/>
          </a:p>
        </p:txBody>
      </p:sp>
      <p:sp>
        <p:nvSpPr>
          <p:cNvPr id="476" name="Google Shape;476;p10"/>
          <p:cNvSpPr/>
          <p:nvPr/>
        </p:nvSpPr>
        <p:spPr>
          <a:xfrm>
            <a:off x="6589392" y="5279410"/>
            <a:ext cx="2821800" cy="338700"/>
          </a:xfrm>
          <a:prstGeom prst="rect">
            <a:avLst/>
          </a:prstGeom>
          <a:solidFill>
            <a:srgbClr val="FFFFFF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0"/>
          <p:cNvSpPr/>
          <p:nvPr/>
        </p:nvSpPr>
        <p:spPr>
          <a:xfrm>
            <a:off x="6676220" y="5333677"/>
            <a:ext cx="2648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Admin/as-of categories + reference names</a:t>
            </a:r>
            <a:endParaRPr sz="1595"/>
          </a:p>
        </p:txBody>
      </p:sp>
      <p:sp>
        <p:nvSpPr>
          <p:cNvPr id="478" name="Google Shape;478;p10"/>
          <p:cNvSpPr/>
          <p:nvPr/>
        </p:nvSpPr>
        <p:spPr>
          <a:xfrm>
            <a:off x="2030881" y="5618038"/>
            <a:ext cx="4558500" cy="338700"/>
          </a:xfrm>
          <a:prstGeom prst="rect">
            <a:avLst/>
          </a:prstGeom>
          <a:solidFill>
            <a:srgbClr val="FDFEFE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2117710" y="5672305"/>
            <a:ext cx="4384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Exclude or QA only</a:t>
            </a:r>
            <a:endParaRPr sz="1595"/>
          </a:p>
        </p:txBody>
      </p:sp>
      <p:sp>
        <p:nvSpPr>
          <p:cNvPr id="480" name="Google Shape;480;p10"/>
          <p:cNvSpPr/>
          <p:nvPr/>
        </p:nvSpPr>
        <p:spPr>
          <a:xfrm>
            <a:off x="6589392" y="5618038"/>
            <a:ext cx="2821800" cy="338700"/>
          </a:xfrm>
          <a:prstGeom prst="rect">
            <a:avLst/>
          </a:prstGeom>
          <a:solidFill>
            <a:srgbClr val="FDFEFE"/>
          </a:solidFill>
          <a:ln cap="flat" cmpd="sng" w="10850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175" lIns="104175" spcFirstLastPara="1" rIns="104175" wrap="square" tIns="10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6676220" y="5672305"/>
            <a:ext cx="26484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075" lIns="104175" spcFirstLastPara="1" rIns="104175" wrap="square" tIns="52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94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target, process, PII, IDs, raw dates</a:t>
            </a:r>
            <a:endParaRPr sz="159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7" name="Google Shape;487;p11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1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Source branch signal</a:t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MA'AM AND BITUACH SOURCE BRANCHES</a:t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Source branches are the strongest simple baseline, not the final answer</a:t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On manual rows, each source matches the final four-digit target about half the time when covered.</a:t>
            </a:r>
            <a:endParaRPr/>
          </a:p>
        </p:txBody>
      </p:sp>
      <p:graphicFrame>
        <p:nvGraphicFramePr>
          <p:cNvPr id="493" name="Google Shape;493;p11"/>
          <p:cNvGraphicFramePr/>
          <p:nvPr/>
        </p:nvGraphicFramePr>
        <p:xfrm>
          <a:off x="857250" y="2152650"/>
          <a:ext cx="7010400" cy="3048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94" name="Google Shape;494;p11"/>
          <p:cNvSpPr/>
          <p:nvPr/>
        </p:nvSpPr>
        <p:spPr>
          <a:xfrm>
            <a:off x="857250" y="5314950"/>
            <a:ext cx="701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hierarchy depth. Y-axis: source code matching the final target.</a:t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8420100" y="2152650"/>
            <a:ext cx="2343150" cy="10668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8591550" y="2324100"/>
            <a:ext cx="2000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94.0%</a:t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8591550" y="28003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coverage manual</a:t>
            </a:r>
            <a:endParaRPr/>
          </a:p>
        </p:txBody>
      </p:sp>
      <p:sp>
        <p:nvSpPr>
          <p:cNvPr id="498" name="Google Shape;498;p11"/>
          <p:cNvSpPr/>
          <p:nvPr/>
        </p:nvSpPr>
        <p:spPr>
          <a:xfrm>
            <a:off x="8420100" y="3524250"/>
            <a:ext cx="2343150" cy="10668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8591550" y="3695700"/>
            <a:ext cx="2000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87.4%</a:t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8591550" y="4171950"/>
            <a:ext cx="2000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Bituach coverage manual</a:t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8420100" y="4953000"/>
            <a:ext cx="2667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Automatic rows have higher source-target agreement, which is one visible sign of population shift.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7" name="Google Shape;507;p12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2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Source branch signal</a:t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SOURCE BASELINES</a:t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naive source-code strategy leaves roughly half the manual problem unsolved</a:t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 combined Ma'am-else-Bituach baseline covers almost all manual rows but still only reaches 50.8% exact four-digit match.</a:t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1104900" y="2209800"/>
            <a:ext cx="3143250" cy="4572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1181100" y="2257425"/>
            <a:ext cx="299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4248150" y="2209800"/>
            <a:ext cx="1619250" cy="4572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4324350" y="2257425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5867400" y="2209800"/>
            <a:ext cx="2381250" cy="4572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5943600" y="2257425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4-digit accuracy when covered</a:t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1104900" y="2667000"/>
            <a:ext cx="3143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1181100" y="2714625"/>
            <a:ext cx="299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Predict Ma'am branch</a:t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4248150" y="2667000"/>
            <a:ext cx="1619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4324350" y="2714625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93.6%</a:t>
            </a: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5867400" y="2667000"/>
            <a:ext cx="2381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5943600" y="2714625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50.3%</a:t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1104900" y="3124200"/>
            <a:ext cx="3143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1181100" y="3171825"/>
            <a:ext cx="299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Predict Bituach branch</a:t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4248150" y="3124200"/>
            <a:ext cx="1619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4324350" y="3171825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86.9%</a:t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5867400" y="3124200"/>
            <a:ext cx="2381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943600" y="3171825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49.0%</a:t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1104900" y="3581400"/>
            <a:ext cx="3143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1181100" y="3629025"/>
            <a:ext cx="299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else Bituach</a:t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4248150" y="3581400"/>
            <a:ext cx="1619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4324350" y="3629025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99.1%</a:t>
            </a:r>
            <a:endParaRPr/>
          </a:p>
        </p:txBody>
      </p:sp>
      <p:sp>
        <p:nvSpPr>
          <p:cNvPr id="535" name="Google Shape;535;p12"/>
          <p:cNvSpPr/>
          <p:nvPr/>
        </p:nvSpPr>
        <p:spPr>
          <a:xfrm>
            <a:off x="5867400" y="3581400"/>
            <a:ext cx="238125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5943600" y="3629025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50.8%</a:t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1104900" y="4038600"/>
            <a:ext cx="3143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1181100" y="4086225"/>
            <a:ext cx="2990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Only when sources agree</a:t>
            </a: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4248150" y="4038600"/>
            <a:ext cx="1619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4324350" y="4086225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55.9%</a:t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5867400" y="4038600"/>
            <a:ext cx="2381250" cy="4572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5943600" y="4086225"/>
            <a:ext cx="2228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61.2%</a:t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8763000" y="22288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8972550" y="2152650"/>
            <a:ext cx="2305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The model must beat these baselines on manual rows.</a:t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8763000" y="26670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8972550" y="2590800"/>
            <a:ext cx="2305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Agreement between Ma'am and Bituach Leumi can become a confidence feature or routing signal.</a:t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8763000" y="31051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8972550" y="3028950"/>
            <a:ext cx="23050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Disagreement cases deserve their own diagnostics and perhaps branch-specific thresholds.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4" name="Google Shape;554;p13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3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Source branch signal</a:t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SOURCE/TARGET RELATIONSHIP</a:t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Agreement is useful, but disagreement is large enough to require modeling</a:t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More than one fifth of manual rows have Ma'am and Bituach Leumi agreeing with each other but not matching the final human target.</a:t>
            </a:r>
            <a:endParaRPr/>
          </a:p>
        </p:txBody>
      </p:sp>
      <p:graphicFrame>
        <p:nvGraphicFramePr>
          <p:cNvPr id="560" name="Google Shape;560;p13"/>
          <p:cNvGraphicFramePr/>
          <p:nvPr/>
        </p:nvGraphicFramePr>
        <p:xfrm>
          <a:off x="800100" y="2076450"/>
          <a:ext cx="7562850" cy="3333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61" name="Google Shape;561;p13"/>
          <p:cNvSpPr/>
          <p:nvPr/>
        </p:nvSpPr>
        <p:spPr>
          <a:xfrm>
            <a:off x="800100" y="5467350"/>
            <a:ext cx="7562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share of manual rows. Y-axis: relationship among Ma'am, Bituach Leumi, and target.</a:t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8858250" y="2247900"/>
            <a:ext cx="2209800" cy="11049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9029700" y="2419350"/>
            <a:ext cx="186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34.2%</a:t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9029700" y="2895600"/>
            <a:ext cx="1866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Sources agree and match target</a:t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8858250" y="3695700"/>
            <a:ext cx="2209800" cy="11049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9029700" y="3867150"/>
            <a:ext cx="1866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9B3D30"/>
                </a:solidFill>
                <a:latin typeface="Play"/>
                <a:ea typeface="Play"/>
                <a:cs typeface="Play"/>
                <a:sym typeface="Play"/>
              </a:rPr>
              <a:t>21.8%</a:t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9029700" y="4343400"/>
            <a:ext cx="1866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Sources agree but target differs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3" name="Google Shape;573;p14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14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 vs automatic shift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MANUAL VS AUTOMATIC SHIFT</a:t>
            </a: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609600" y="742950"/>
            <a:ext cx="10020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two populations differ enough that naive pooling is risky</a:t>
            </a: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 cases have different source coverage, categorical distributions, and branch composition.</a:t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685800" y="2038350"/>
            <a:ext cx="3257550" cy="14859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685800" y="2038350"/>
            <a:ext cx="57150" cy="148590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895350" y="2209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Coverage shift</a:t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895350" y="257175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Bituach/employer fields are much more visible in manual rows; Ma'am/VAT text and source fields are cleaner in automatic rows.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4457700" y="2038350"/>
            <a:ext cx="3257550" cy="14859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4457700" y="2038350"/>
            <a:ext cx="57150" cy="14859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4667250" y="2209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Categorical shift</a:t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4667250" y="257175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Top shifted categorical fields include KOD_PEILUT_BL, MAAMAD_MISHPATI, SNIF_BL_ID, SUG_TIK_MAAM, and STATUS_TIK_MACH.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8229600" y="2038350"/>
            <a:ext cx="3257550" cy="14859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8229600" y="2038350"/>
            <a:ext cx="57150" cy="148590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8439150" y="2209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Label shift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8439150" y="257175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Automatic labels are more source-consistent and contain fewer ambiguous current-system failure modes.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1485900" y="4095750"/>
            <a:ext cx="2381250" cy="3238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1562100" y="4143375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3867150" y="4095750"/>
            <a:ext cx="1809750" cy="3238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943350" y="41433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coverage</a:t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5676900" y="4095750"/>
            <a:ext cx="1809750" cy="3238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5753100" y="41433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Automatic coverage</a:t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7486650" y="4095750"/>
            <a:ext cx="3219450" cy="3238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7562850" y="4143375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Signal</a:t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1485900" y="4419600"/>
            <a:ext cx="23812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1562100" y="4467225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KOD_PEILUT_BL</a:t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3867150" y="4419600"/>
            <a:ext cx="18097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3943350" y="446722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87.4%</a:t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5676900" y="4419600"/>
            <a:ext cx="18097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5753100" y="446722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43.1%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7486650" y="4419600"/>
            <a:ext cx="32194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4"/>
          <p:cNvSpPr/>
          <p:nvPr/>
        </p:nvSpPr>
        <p:spPr>
          <a:xfrm>
            <a:off x="7562850" y="4467225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large population shift</a:t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1485900" y="4743450"/>
            <a:ext cx="23812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1562100" y="4791075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MAAMAD_MISHPATI</a:t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3867150" y="4743450"/>
            <a:ext cx="18097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3943350" y="47910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87.4%</a:t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676900" y="4743450"/>
            <a:ext cx="18097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5753100" y="47910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43.1%</a:t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7486650" y="4743450"/>
            <a:ext cx="32194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7562850" y="4791075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legal/status context</a:t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1485900" y="5067300"/>
            <a:ext cx="23812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1562100" y="5114925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STATUS_TIK_MACH</a:t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3867150" y="5067300"/>
            <a:ext cx="18097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3943350" y="511492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77.0%</a:t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5676900" y="5067300"/>
            <a:ext cx="18097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5753100" y="511492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39.8%</a:t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7486650" y="5067300"/>
            <a:ext cx="3219450" cy="323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7562850" y="5114925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file-status context</a:t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1485900" y="5391150"/>
            <a:ext cx="23812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1562100" y="5438775"/>
            <a:ext cx="2228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SUG_TIK_MAAM</a:t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3867150" y="5391150"/>
            <a:ext cx="18097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3943350" y="54387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5676900" y="5391150"/>
            <a:ext cx="18097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/>
          <p:nvPr/>
        </p:nvSpPr>
        <p:spPr>
          <a:xfrm>
            <a:off x="5753100" y="5438775"/>
            <a:ext cx="1657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97.9%</a:t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7486650" y="5391150"/>
            <a:ext cx="3219450" cy="3238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7562850" y="5438775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account context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6" name="Google Shape;636;p15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15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Categorical signal</a:t>
            </a: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639" name="Google Shape;639;p15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CATEGORICAL FEATURES</a:t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609600" y="742950"/>
            <a:ext cx="10439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Categoricals are useful context features and shift diagnostics</a:t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Entity, account, activity, legal-status, and Bituach/Ma'am categories should be included with timing safeguards.</a:t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666750" y="2000250"/>
            <a:ext cx="3579725" cy="351367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742950" y="2047875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4246475" y="2000250"/>
            <a:ext cx="2147835" cy="351367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4322675" y="2047875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coverage</a:t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6394310" y="2000250"/>
            <a:ext cx="1312566" cy="351367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6470510" y="2047875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7706876" y="2000250"/>
            <a:ext cx="2386484" cy="351367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7783076" y="2047875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Cramer's V</a:t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666750" y="2351617"/>
            <a:ext cx="357972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742950" y="2399242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SUG_ISHUT_TEUR</a:t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4246475" y="2351617"/>
            <a:ext cx="214783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4322675" y="2399242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100.0%</a:t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6394310" y="2351617"/>
            <a:ext cx="1312566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6470510" y="2399242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7706876" y="2351617"/>
            <a:ext cx="2386484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7783076" y="2399242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0.461</a:t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666750" y="2702983"/>
            <a:ext cx="357972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742950" y="2750608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KOD_ISHUT_TEUR</a:t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4246475" y="2702983"/>
            <a:ext cx="214783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4322675" y="2750608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6394310" y="2702983"/>
            <a:ext cx="1312566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6470510" y="2750608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7706876" y="2702983"/>
            <a:ext cx="2386484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7783076" y="2750608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0.290</a:t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666750" y="3054350"/>
            <a:ext cx="357972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742950" y="3101975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KOD_ISHUT</a:t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4246475" y="3054350"/>
            <a:ext cx="214783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4322675" y="3101975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6394310" y="3054350"/>
            <a:ext cx="1312566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6470510" y="3101975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7706876" y="3054350"/>
            <a:ext cx="2386484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7783076" y="3101975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0.281</a:t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666750" y="3405717"/>
            <a:ext cx="357972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742950" y="3453342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SUG_TIK_MAAM_TEUR</a:t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4246475" y="3405717"/>
            <a:ext cx="214783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4322675" y="3453342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6394310" y="3405717"/>
            <a:ext cx="1312566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6470510" y="3453342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7706876" y="3405717"/>
            <a:ext cx="2386484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7783076" y="3453342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0.258</a:t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666750" y="3757083"/>
            <a:ext cx="357972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742950" y="3804708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SUG_TIK_MAAM</a:t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4246475" y="3757083"/>
            <a:ext cx="214783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4322675" y="3804708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686" name="Google Shape;686;p15"/>
          <p:cNvSpPr/>
          <p:nvPr/>
        </p:nvSpPr>
        <p:spPr>
          <a:xfrm>
            <a:off x="6394310" y="3757083"/>
            <a:ext cx="1312566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6470510" y="3804708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7706876" y="3757083"/>
            <a:ext cx="2386484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7783076" y="3804708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0.252</a:t>
            </a:r>
            <a:endParaRPr/>
          </a:p>
        </p:txBody>
      </p:sp>
      <p:sp>
        <p:nvSpPr>
          <p:cNvPr id="690" name="Google Shape;690;p15"/>
          <p:cNvSpPr/>
          <p:nvPr/>
        </p:nvSpPr>
        <p:spPr>
          <a:xfrm>
            <a:off x="666750" y="4108450"/>
            <a:ext cx="357972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742950" y="4156075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STATUS_TIK_MACH</a:t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4246475" y="4108450"/>
            <a:ext cx="214783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4322675" y="4156075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77.0%</a:t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6394310" y="4108450"/>
            <a:ext cx="1312566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6470510" y="4156075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7706876" y="4108450"/>
            <a:ext cx="2386484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5"/>
          <p:cNvSpPr/>
          <p:nvPr/>
        </p:nvSpPr>
        <p:spPr>
          <a:xfrm>
            <a:off x="7783076" y="4156075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0.242</a:t>
            </a: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666750" y="4459817"/>
            <a:ext cx="357972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742950" y="4507442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STATUS_TIK_MACH_TEUR</a:t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4246475" y="4459817"/>
            <a:ext cx="2147835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5"/>
          <p:cNvSpPr/>
          <p:nvPr/>
        </p:nvSpPr>
        <p:spPr>
          <a:xfrm>
            <a:off x="4322675" y="4507442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77.0%</a:t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6394310" y="4459817"/>
            <a:ext cx="1312566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6470510" y="4507442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04" name="Google Shape;704;p15"/>
          <p:cNvSpPr/>
          <p:nvPr/>
        </p:nvSpPr>
        <p:spPr>
          <a:xfrm>
            <a:off x="7706876" y="4459817"/>
            <a:ext cx="2386484" cy="35136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5"/>
          <p:cNvSpPr/>
          <p:nvPr/>
        </p:nvSpPr>
        <p:spPr>
          <a:xfrm>
            <a:off x="7783076" y="4507442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0.242</a:t>
            </a: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666750" y="4811183"/>
            <a:ext cx="357972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5"/>
          <p:cNvSpPr/>
          <p:nvPr/>
        </p:nvSpPr>
        <p:spPr>
          <a:xfrm>
            <a:off x="742950" y="4858808"/>
            <a:ext cx="342732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KOD_PEILUT_BL_TEUR</a:t>
            </a: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4246475" y="4811183"/>
            <a:ext cx="2147835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"/>
          <p:cNvSpPr/>
          <p:nvPr/>
        </p:nvSpPr>
        <p:spPr>
          <a:xfrm>
            <a:off x="4322675" y="4858808"/>
            <a:ext cx="1995435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87.4%</a:t>
            </a: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6394310" y="4811183"/>
            <a:ext cx="1312566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5"/>
          <p:cNvSpPr/>
          <p:nvPr/>
        </p:nvSpPr>
        <p:spPr>
          <a:xfrm>
            <a:off x="6470510" y="4858808"/>
            <a:ext cx="1160166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7706876" y="4811183"/>
            <a:ext cx="2386484" cy="351367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5"/>
          <p:cNvSpPr/>
          <p:nvPr/>
        </p:nvSpPr>
        <p:spPr>
          <a:xfrm>
            <a:off x="7783076" y="4858808"/>
            <a:ext cx="2234084" cy="256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0.202</a:t>
            </a:r>
            <a:endParaRPr/>
          </a:p>
        </p:txBody>
      </p:sp>
      <p:sp>
        <p:nvSpPr>
          <p:cNvPr id="714" name="Google Shape;714;p15"/>
          <p:cNvSpPr/>
          <p:nvPr/>
        </p:nvSpPr>
        <p:spPr>
          <a:xfrm>
            <a:off x="1409700" y="55245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5"/>
          <p:cNvSpPr/>
          <p:nvPr/>
        </p:nvSpPr>
        <p:spPr>
          <a:xfrm>
            <a:off x="1619250" y="5448300"/>
            <a:ext cx="9124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categorical fields as model inputs after leakage/timing checks.</a:t>
            </a:r>
            <a:endParaRPr/>
          </a:p>
        </p:txBody>
      </p:sp>
      <p:sp>
        <p:nvSpPr>
          <p:cNvPr id="716" name="Google Shape;716;p15"/>
          <p:cNvSpPr/>
          <p:nvPr/>
        </p:nvSpPr>
        <p:spPr>
          <a:xfrm>
            <a:off x="1409700" y="58483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5"/>
          <p:cNvSpPr/>
          <p:nvPr/>
        </p:nvSpPr>
        <p:spPr>
          <a:xfrm>
            <a:off x="1619250" y="5772150"/>
            <a:ext cx="91249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manual-auto distribution shift as a training-weighting and validation diagnostic.</a:t>
            </a:r>
            <a:endParaRPr/>
          </a:p>
        </p:txBody>
      </p:sp>
      <p:pic>
        <p:nvPicPr>
          <p:cNvPr id="718" name="Google Shape;7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612" y="5150913"/>
            <a:ext cx="4124812" cy="12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4" name="Google Shape;724;p16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16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Numeric signal</a:t>
            </a: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NUMERIC FEATURES</a:t>
            </a: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Numeric fields are secondary but still useful</a:t>
            </a: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Size and activity proxies can help distinguish branches with similar text or source codes.</a:t>
            </a: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685800" y="2114550"/>
            <a:ext cx="2238375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762000" y="2162175"/>
            <a:ext cx="208597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2924175" y="2114550"/>
            <a:ext cx="152400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3000375" y="2162175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coverage</a:t>
            </a: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4448175" y="2114550"/>
            <a:ext cx="152400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4524375" y="2162175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median</a:t>
            </a: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5972175" y="2114550"/>
            <a:ext cx="2857500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6048375" y="2162175"/>
            <a:ext cx="27051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Main use</a:t>
            </a: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8829675" y="2114550"/>
            <a:ext cx="2676525" cy="49053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8905875" y="2162175"/>
            <a:ext cx="252412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 check</a:t>
            </a: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685800" y="2605088"/>
            <a:ext cx="2238375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6"/>
          <p:cNvSpPr/>
          <p:nvPr/>
        </p:nvSpPr>
        <p:spPr>
          <a:xfrm>
            <a:off x="762000" y="2652713"/>
            <a:ext cx="208597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PIDION_MESHUAR</a:t>
            </a: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2924175" y="2605088"/>
            <a:ext cx="152400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6"/>
          <p:cNvSpPr/>
          <p:nvPr/>
        </p:nvSpPr>
        <p:spPr>
          <a:xfrm>
            <a:off x="3000375" y="2652713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4448175" y="2605088"/>
            <a:ext cx="152400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6"/>
          <p:cNvSpPr/>
          <p:nvPr/>
        </p:nvSpPr>
        <p:spPr>
          <a:xfrm>
            <a:off x="4524375" y="2652713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200,000 NIS</a:t>
            </a: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5972175" y="2605088"/>
            <a:ext cx="2857500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6048375" y="2652713"/>
            <a:ext cx="27051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turnover / scale context</a:t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8829675" y="2605088"/>
            <a:ext cx="2676525" cy="49053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8905875" y="2652713"/>
            <a:ext cx="252412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log transform + ablation</a:t>
            </a: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685800" y="3095625"/>
            <a:ext cx="2238375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762000" y="3143250"/>
            <a:ext cx="208597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MUASAKIM_MESHUAR_BL</a:t>
            </a: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2924175" y="3095625"/>
            <a:ext cx="152400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3000375" y="3143250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87.1%</a:t>
            </a: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4448175" y="3095625"/>
            <a:ext cx="152400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4524375" y="3143250"/>
            <a:ext cx="13716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 employees</a:t>
            </a:r>
            <a:endParaRPr/>
          </a:p>
        </p:txBody>
      </p:sp>
      <p:sp>
        <p:nvSpPr>
          <p:cNvPr id="756" name="Google Shape;756;p16"/>
          <p:cNvSpPr/>
          <p:nvPr/>
        </p:nvSpPr>
        <p:spPr>
          <a:xfrm>
            <a:off x="5972175" y="3095625"/>
            <a:ext cx="2857500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6"/>
          <p:cNvSpPr/>
          <p:nvPr/>
        </p:nvSpPr>
        <p:spPr>
          <a:xfrm>
            <a:off x="6048375" y="3143250"/>
            <a:ext cx="270510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employer structure context</a:t>
            </a: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8829675" y="3095625"/>
            <a:ext cx="2676525" cy="49053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6"/>
          <p:cNvSpPr/>
          <p:nvPr/>
        </p:nvSpPr>
        <p:spPr>
          <a:xfrm>
            <a:off x="8905875" y="3143250"/>
            <a:ext cx="252412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bucket + missingness flag</a:t>
            </a: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1200150" y="4438650"/>
            <a:ext cx="44958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6"/>
          <p:cNvSpPr/>
          <p:nvPr/>
        </p:nvSpPr>
        <p:spPr>
          <a:xfrm>
            <a:off x="1200150" y="4438650"/>
            <a:ext cx="57150" cy="99060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1409700" y="455295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the EDA proves</a:t>
            </a:r>
            <a:endParaRPr/>
          </a:p>
        </p:txBody>
      </p:sp>
      <p:sp>
        <p:nvSpPr>
          <p:cNvPr id="763" name="Google Shape;763;p16"/>
          <p:cNvSpPr/>
          <p:nvPr/>
        </p:nvSpPr>
        <p:spPr>
          <a:xfrm>
            <a:off x="1409700" y="4800600"/>
            <a:ext cx="4133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numeric fields have useful coverage and different distributions across manual and automatic rows.</a:t>
            </a: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6496050" y="4438650"/>
            <a:ext cx="44958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6"/>
          <p:cNvSpPr/>
          <p:nvPr/>
        </p:nvSpPr>
        <p:spPr>
          <a:xfrm>
            <a:off x="6496050" y="4438650"/>
            <a:ext cx="57150" cy="9906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6705600" y="4552950"/>
            <a:ext cx="4133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still needs testing</a:t>
            </a:r>
            <a:endParaRPr/>
          </a:p>
        </p:txBody>
      </p:sp>
      <p:sp>
        <p:nvSpPr>
          <p:cNvPr id="767" name="Google Shape;767;p16"/>
          <p:cNvSpPr/>
          <p:nvPr/>
        </p:nvSpPr>
        <p:spPr>
          <a:xfrm>
            <a:off x="6705600" y="4800600"/>
            <a:ext cx="4133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saved EDA does not prove standalone numeric-vs-target correlation. Treat numeric fields as ablation-tested context features.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3" name="Google Shape;773;p17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17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775" name="Google Shape;775;p17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TEXT FIELD COVERAGE</a:t>
            </a:r>
            <a:endParaRPr/>
          </a:p>
        </p:txBody>
      </p:sp>
      <p:sp>
        <p:nvSpPr>
          <p:cNvPr id="777" name="Google Shape;777;p17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strongest semantic signal is text, but coverage differs by source and population</a:t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Ma'am/VAT activity text and business names are broadly available; employer names are much more common in manual rows than automatic rows.</a:t>
            </a:r>
            <a:endParaRPr/>
          </a:p>
        </p:txBody>
      </p:sp>
      <p:graphicFrame>
        <p:nvGraphicFramePr>
          <p:cNvPr id="779" name="Google Shape;779;p17"/>
          <p:cNvGraphicFramePr/>
          <p:nvPr/>
        </p:nvGraphicFramePr>
        <p:xfrm>
          <a:off x="895350" y="2076450"/>
          <a:ext cx="7810500" cy="31432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80" name="Google Shape;780;p17"/>
          <p:cNvSpPr/>
          <p:nvPr/>
        </p:nvSpPr>
        <p:spPr>
          <a:xfrm>
            <a:off x="895350" y="5314950"/>
            <a:ext cx="781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text field. Y-axis: share of rows with non-missing text.</a:t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9239250" y="2171700"/>
            <a:ext cx="19050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9410700" y="2343150"/>
            <a:ext cx="1562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90.6%</a:t>
            </a:r>
            <a:endParaRPr/>
          </a:p>
        </p:txBody>
      </p:sp>
      <p:sp>
        <p:nvSpPr>
          <p:cNvPr id="783" name="Google Shape;783;p17"/>
          <p:cNvSpPr/>
          <p:nvPr/>
        </p:nvSpPr>
        <p:spPr>
          <a:xfrm>
            <a:off x="9410700" y="2819400"/>
            <a:ext cx="1562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text manual</a:t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9239250" y="3448050"/>
            <a:ext cx="19050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7"/>
          <p:cNvSpPr/>
          <p:nvPr/>
        </p:nvSpPr>
        <p:spPr>
          <a:xfrm>
            <a:off x="9410700" y="3619500"/>
            <a:ext cx="1562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94.1%</a:t>
            </a: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9410700" y="4095750"/>
            <a:ext cx="1562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Business name manual</a:t>
            </a:r>
            <a:endParaRPr/>
          </a:p>
        </p:txBody>
      </p:sp>
      <p:sp>
        <p:nvSpPr>
          <p:cNvPr id="787" name="Google Shape;787;p17"/>
          <p:cNvSpPr/>
          <p:nvPr/>
        </p:nvSpPr>
        <p:spPr>
          <a:xfrm>
            <a:off x="9239250" y="4724400"/>
            <a:ext cx="1905000" cy="9906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"/>
          <p:cNvSpPr/>
          <p:nvPr/>
        </p:nvSpPr>
        <p:spPr>
          <a:xfrm>
            <a:off x="9410700" y="4895850"/>
            <a:ext cx="1562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87.4%</a:t>
            </a:r>
            <a:endParaRPr/>
          </a:p>
        </p:txBody>
      </p:sp>
      <p:sp>
        <p:nvSpPr>
          <p:cNvPr id="789" name="Google Shape;789;p17"/>
          <p:cNvSpPr/>
          <p:nvPr/>
        </p:nvSpPr>
        <p:spPr>
          <a:xfrm>
            <a:off x="9410700" y="5372100"/>
            <a:ext cx="1562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Employer name manual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p18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6" name="Google Shape;796;p18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798" name="Google Shape;798;p18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TEXT DIAGNOSTICS</a:t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609600" y="742950"/>
            <a:ext cx="1065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Coverage alone is not enough; uniqueness and repetition matter</a:t>
            </a:r>
            <a:endParaRPr/>
          </a:p>
        </p:txBody>
      </p:sp>
      <p:sp>
        <p:nvSpPr>
          <p:cNvPr id="800" name="Google Shape;800;p18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fields differ in coverage, diversity, and repeatability, which changes how useful they are for dictionaries versus learned text models.</a:t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>
            <a:off x="590550" y="2057400"/>
            <a:ext cx="2381250" cy="4984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8"/>
          <p:cNvSpPr/>
          <p:nvPr/>
        </p:nvSpPr>
        <p:spPr>
          <a:xfrm>
            <a:off x="666750" y="2105025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2971800" y="2057400"/>
            <a:ext cx="1619250" cy="4984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8"/>
          <p:cNvSpPr/>
          <p:nvPr/>
        </p:nvSpPr>
        <p:spPr>
          <a:xfrm>
            <a:off x="3048000" y="2105025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coverage</a:t>
            </a:r>
            <a:endParaRPr/>
          </a:p>
        </p:txBody>
      </p:sp>
      <p:sp>
        <p:nvSpPr>
          <p:cNvPr id="805" name="Google Shape;805;p18"/>
          <p:cNvSpPr/>
          <p:nvPr/>
        </p:nvSpPr>
        <p:spPr>
          <a:xfrm>
            <a:off x="4591050" y="2057400"/>
            <a:ext cx="2000250" cy="4984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8"/>
          <p:cNvSpPr/>
          <p:nvPr/>
        </p:nvSpPr>
        <p:spPr>
          <a:xfrm>
            <a:off x="4667250" y="2105025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Unique non-null values</a:t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6591300" y="2057400"/>
            <a:ext cx="1714500" cy="4984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8"/>
          <p:cNvSpPr/>
          <p:nvPr/>
        </p:nvSpPr>
        <p:spPr>
          <a:xfrm>
            <a:off x="6667500" y="2105025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Duplicate text rows</a:t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>
            <a:off x="8305800" y="2057400"/>
            <a:ext cx="3295650" cy="4984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8"/>
          <p:cNvSpPr/>
          <p:nvPr/>
        </p:nvSpPr>
        <p:spPr>
          <a:xfrm>
            <a:off x="8382000" y="2105025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811" name="Google Shape;811;p18"/>
          <p:cNvSpPr/>
          <p:nvPr/>
        </p:nvSpPr>
        <p:spPr>
          <a:xfrm>
            <a:off x="590550" y="2555875"/>
            <a:ext cx="2381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8"/>
          <p:cNvSpPr/>
          <p:nvPr/>
        </p:nvSpPr>
        <p:spPr>
          <a:xfrm>
            <a:off x="666750" y="2603500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>
            <a:off x="2971800" y="2555875"/>
            <a:ext cx="1619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8"/>
          <p:cNvSpPr/>
          <p:nvPr/>
        </p:nvSpPr>
        <p:spPr>
          <a:xfrm>
            <a:off x="3048000" y="2603500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90.6%</a:t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>
            <a:off x="4591050" y="2555875"/>
            <a:ext cx="2000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8"/>
          <p:cNvSpPr/>
          <p:nvPr/>
        </p:nvSpPr>
        <p:spPr>
          <a:xfrm>
            <a:off x="4667250" y="2603500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156,897</a:t>
            </a:r>
            <a:endParaRPr/>
          </a:p>
        </p:txBody>
      </p:sp>
      <p:sp>
        <p:nvSpPr>
          <p:cNvPr id="817" name="Google Shape;817;p18"/>
          <p:cNvSpPr/>
          <p:nvPr/>
        </p:nvSpPr>
        <p:spPr>
          <a:xfrm>
            <a:off x="6591300" y="2555875"/>
            <a:ext cx="171450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>
            <a:off x="6667500" y="2603500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38,048</a:t>
            </a:r>
            <a:endParaRPr/>
          </a:p>
        </p:txBody>
      </p:sp>
      <p:sp>
        <p:nvSpPr>
          <p:cNvPr id="819" name="Google Shape;819;p18"/>
          <p:cNvSpPr/>
          <p:nvPr/>
        </p:nvSpPr>
        <p:spPr>
          <a:xfrm>
            <a:off x="8305800" y="2555875"/>
            <a:ext cx="32956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8"/>
          <p:cNvSpPr/>
          <p:nvPr/>
        </p:nvSpPr>
        <p:spPr>
          <a:xfrm>
            <a:off x="8382000" y="2603500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activity description</a:t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>
            <a:off x="590550" y="3054350"/>
            <a:ext cx="2381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8"/>
          <p:cNvSpPr/>
          <p:nvPr/>
        </p:nvSpPr>
        <p:spPr>
          <a:xfrm>
            <a:off x="666750" y="3101975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SHEM_OSEK</a:t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2971800" y="3054350"/>
            <a:ext cx="1619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8"/>
          <p:cNvSpPr/>
          <p:nvPr/>
        </p:nvSpPr>
        <p:spPr>
          <a:xfrm>
            <a:off x="3048000" y="3101975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94.1%</a:t>
            </a:r>
            <a:endParaRPr/>
          </a:p>
        </p:txBody>
      </p:sp>
      <p:sp>
        <p:nvSpPr>
          <p:cNvPr id="825" name="Google Shape;825;p18"/>
          <p:cNvSpPr/>
          <p:nvPr/>
        </p:nvSpPr>
        <p:spPr>
          <a:xfrm>
            <a:off x="4591050" y="3054350"/>
            <a:ext cx="2000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8"/>
          <p:cNvSpPr/>
          <p:nvPr/>
        </p:nvSpPr>
        <p:spPr>
          <a:xfrm>
            <a:off x="4667250" y="3101975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191,424</a:t>
            </a:r>
            <a:endParaRPr/>
          </a:p>
        </p:txBody>
      </p:sp>
      <p:sp>
        <p:nvSpPr>
          <p:cNvPr id="827" name="Google Shape;827;p18"/>
          <p:cNvSpPr/>
          <p:nvPr/>
        </p:nvSpPr>
        <p:spPr>
          <a:xfrm>
            <a:off x="6591300" y="3054350"/>
            <a:ext cx="171450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8"/>
          <p:cNvSpPr/>
          <p:nvPr/>
        </p:nvSpPr>
        <p:spPr>
          <a:xfrm>
            <a:off x="6667500" y="3101975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11,133</a:t>
            </a:r>
            <a:endParaRPr/>
          </a:p>
        </p:txBody>
      </p:sp>
      <p:sp>
        <p:nvSpPr>
          <p:cNvPr id="829" name="Google Shape;829;p18"/>
          <p:cNvSpPr/>
          <p:nvPr/>
        </p:nvSpPr>
        <p:spPr>
          <a:xfrm>
            <a:off x="8305800" y="3054350"/>
            <a:ext cx="32956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8"/>
          <p:cNvSpPr/>
          <p:nvPr/>
        </p:nvSpPr>
        <p:spPr>
          <a:xfrm>
            <a:off x="8382000" y="3101975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business name</a:t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590550" y="3552825"/>
            <a:ext cx="2381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8"/>
          <p:cNvSpPr/>
          <p:nvPr/>
        </p:nvSpPr>
        <p:spPr>
          <a:xfrm>
            <a:off x="666750" y="3600450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SHEM_MAASIK</a:t>
            </a:r>
            <a:endParaRPr/>
          </a:p>
        </p:txBody>
      </p:sp>
      <p:sp>
        <p:nvSpPr>
          <p:cNvPr id="833" name="Google Shape;833;p18"/>
          <p:cNvSpPr/>
          <p:nvPr/>
        </p:nvSpPr>
        <p:spPr>
          <a:xfrm>
            <a:off x="2971800" y="3552825"/>
            <a:ext cx="1619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8"/>
          <p:cNvSpPr/>
          <p:nvPr/>
        </p:nvSpPr>
        <p:spPr>
          <a:xfrm>
            <a:off x="3048000" y="3600450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87.4%</a:t>
            </a:r>
            <a:endParaRPr/>
          </a:p>
        </p:txBody>
      </p:sp>
      <p:sp>
        <p:nvSpPr>
          <p:cNvPr id="835" name="Google Shape;835;p18"/>
          <p:cNvSpPr/>
          <p:nvPr/>
        </p:nvSpPr>
        <p:spPr>
          <a:xfrm>
            <a:off x="4591050" y="3552825"/>
            <a:ext cx="2000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8"/>
          <p:cNvSpPr/>
          <p:nvPr/>
        </p:nvSpPr>
        <p:spPr>
          <a:xfrm>
            <a:off x="4667250" y="3600450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183,291</a:t>
            </a:r>
            <a:endParaRPr/>
          </a:p>
        </p:txBody>
      </p:sp>
      <p:sp>
        <p:nvSpPr>
          <p:cNvPr id="837" name="Google Shape;837;p18"/>
          <p:cNvSpPr/>
          <p:nvPr/>
        </p:nvSpPr>
        <p:spPr>
          <a:xfrm>
            <a:off x="6591300" y="3552825"/>
            <a:ext cx="171450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8"/>
          <p:cNvSpPr/>
          <p:nvPr/>
        </p:nvSpPr>
        <p:spPr>
          <a:xfrm>
            <a:off x="6667500" y="3600450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4,925</a:t>
            </a:r>
            <a:endParaRPr/>
          </a:p>
        </p:txBody>
      </p:sp>
      <p:sp>
        <p:nvSpPr>
          <p:cNvPr id="839" name="Google Shape;839;p18"/>
          <p:cNvSpPr/>
          <p:nvPr/>
        </p:nvSpPr>
        <p:spPr>
          <a:xfrm>
            <a:off x="8305800" y="3552825"/>
            <a:ext cx="32956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8"/>
          <p:cNvSpPr/>
          <p:nvPr/>
        </p:nvSpPr>
        <p:spPr>
          <a:xfrm>
            <a:off x="8382000" y="3600450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employer name</a:t>
            </a:r>
            <a:endParaRPr/>
          </a:p>
        </p:txBody>
      </p:sp>
      <p:sp>
        <p:nvSpPr>
          <p:cNvPr id="841" name="Google Shape;841;p18"/>
          <p:cNvSpPr/>
          <p:nvPr/>
        </p:nvSpPr>
        <p:spPr>
          <a:xfrm>
            <a:off x="590550" y="4051300"/>
            <a:ext cx="2381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8"/>
          <p:cNvSpPr/>
          <p:nvPr/>
        </p:nvSpPr>
        <p:spPr>
          <a:xfrm>
            <a:off x="666750" y="4098925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TEUR_PEILUT_MEUDKAN</a:t>
            </a:r>
            <a:endParaRPr/>
          </a:p>
        </p:txBody>
      </p:sp>
      <p:sp>
        <p:nvSpPr>
          <p:cNvPr id="843" name="Google Shape;843;p18"/>
          <p:cNvSpPr/>
          <p:nvPr/>
        </p:nvSpPr>
        <p:spPr>
          <a:xfrm>
            <a:off x="2971800" y="4051300"/>
            <a:ext cx="1619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8"/>
          <p:cNvSpPr/>
          <p:nvPr/>
        </p:nvSpPr>
        <p:spPr>
          <a:xfrm>
            <a:off x="3048000" y="4098925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8.1%</a:t>
            </a:r>
            <a:endParaRPr/>
          </a:p>
        </p:txBody>
      </p:sp>
      <p:sp>
        <p:nvSpPr>
          <p:cNvPr id="845" name="Google Shape;845;p18"/>
          <p:cNvSpPr/>
          <p:nvPr/>
        </p:nvSpPr>
        <p:spPr>
          <a:xfrm>
            <a:off x="4591050" y="4051300"/>
            <a:ext cx="20002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8"/>
          <p:cNvSpPr/>
          <p:nvPr/>
        </p:nvSpPr>
        <p:spPr>
          <a:xfrm>
            <a:off x="4667250" y="4098925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14,735</a:t>
            </a:r>
            <a:endParaRPr/>
          </a:p>
        </p:txBody>
      </p:sp>
      <p:sp>
        <p:nvSpPr>
          <p:cNvPr id="847" name="Google Shape;847;p18"/>
          <p:cNvSpPr/>
          <p:nvPr/>
        </p:nvSpPr>
        <p:spPr>
          <a:xfrm>
            <a:off x="6591300" y="4051300"/>
            <a:ext cx="171450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8"/>
          <p:cNvSpPr/>
          <p:nvPr/>
        </p:nvSpPr>
        <p:spPr>
          <a:xfrm>
            <a:off x="6667500" y="4098925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2,638</a:t>
            </a:r>
            <a:endParaRPr/>
          </a:p>
        </p:txBody>
      </p:sp>
      <p:sp>
        <p:nvSpPr>
          <p:cNvPr id="849" name="Google Shape;849;p18"/>
          <p:cNvSpPr/>
          <p:nvPr/>
        </p:nvSpPr>
        <p:spPr>
          <a:xfrm>
            <a:off x="8305800" y="4051300"/>
            <a:ext cx="3295650" cy="4984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8"/>
          <p:cNvSpPr/>
          <p:nvPr/>
        </p:nvSpPr>
        <p:spPr>
          <a:xfrm>
            <a:off x="8382000" y="4098925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updated activity text</a:t>
            </a:r>
            <a:endParaRPr/>
          </a:p>
        </p:txBody>
      </p:sp>
      <p:sp>
        <p:nvSpPr>
          <p:cNvPr id="851" name="Google Shape;851;p18"/>
          <p:cNvSpPr/>
          <p:nvPr/>
        </p:nvSpPr>
        <p:spPr>
          <a:xfrm>
            <a:off x="590550" y="4549775"/>
            <a:ext cx="2381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666750" y="4597400"/>
            <a:ext cx="2228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COMMENTS</a:t>
            </a:r>
            <a:endParaRPr/>
          </a:p>
        </p:txBody>
      </p:sp>
      <p:sp>
        <p:nvSpPr>
          <p:cNvPr id="853" name="Google Shape;853;p18"/>
          <p:cNvSpPr/>
          <p:nvPr/>
        </p:nvSpPr>
        <p:spPr>
          <a:xfrm>
            <a:off x="2971800" y="4549775"/>
            <a:ext cx="1619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8"/>
          <p:cNvSpPr/>
          <p:nvPr/>
        </p:nvSpPr>
        <p:spPr>
          <a:xfrm>
            <a:off x="3048000" y="4597400"/>
            <a:ext cx="1466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16.7%</a:t>
            </a:r>
            <a:endParaRPr/>
          </a:p>
        </p:txBody>
      </p:sp>
      <p:sp>
        <p:nvSpPr>
          <p:cNvPr id="855" name="Google Shape;855;p18"/>
          <p:cNvSpPr/>
          <p:nvPr/>
        </p:nvSpPr>
        <p:spPr>
          <a:xfrm>
            <a:off x="4591050" y="4549775"/>
            <a:ext cx="20002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4667250" y="4597400"/>
            <a:ext cx="18478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10,701</a:t>
            </a:r>
            <a:endParaRPr/>
          </a:p>
        </p:txBody>
      </p:sp>
      <p:sp>
        <p:nvSpPr>
          <p:cNvPr id="857" name="Google Shape;857;p18"/>
          <p:cNvSpPr/>
          <p:nvPr/>
        </p:nvSpPr>
        <p:spPr>
          <a:xfrm>
            <a:off x="6591300" y="4549775"/>
            <a:ext cx="171450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8"/>
          <p:cNvSpPr/>
          <p:nvPr/>
        </p:nvSpPr>
        <p:spPr>
          <a:xfrm>
            <a:off x="6667500" y="4597400"/>
            <a:ext cx="15621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25,276</a:t>
            </a:r>
            <a:endParaRPr/>
          </a:p>
        </p:txBody>
      </p:sp>
      <p:sp>
        <p:nvSpPr>
          <p:cNvPr id="859" name="Google Shape;859;p18"/>
          <p:cNvSpPr/>
          <p:nvPr/>
        </p:nvSpPr>
        <p:spPr>
          <a:xfrm>
            <a:off x="8305800" y="4549775"/>
            <a:ext cx="3295650" cy="4984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8382000" y="4597400"/>
            <a:ext cx="314325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process comments; QA/review only</a:t>
            </a:r>
            <a:endParaRPr/>
          </a:p>
        </p:txBody>
      </p:sp>
      <p:sp>
        <p:nvSpPr>
          <p:cNvPr id="861" name="Google Shape;861;p18"/>
          <p:cNvSpPr/>
          <p:nvPr/>
        </p:nvSpPr>
        <p:spPr>
          <a:xfrm>
            <a:off x="1600200" y="5334000"/>
            <a:ext cx="8991600" cy="609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8"/>
          <p:cNvSpPr/>
          <p:nvPr/>
        </p:nvSpPr>
        <p:spPr>
          <a:xfrm>
            <a:off x="1600200" y="5334000"/>
            <a:ext cx="57150" cy="60960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8"/>
          <p:cNvSpPr/>
          <p:nvPr/>
        </p:nvSpPr>
        <p:spPr>
          <a:xfrm>
            <a:off x="1809750" y="5448300"/>
            <a:ext cx="8629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Presenter translation</a:t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1809750" y="5695950"/>
            <a:ext cx="8629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High coverage tells us the field is usually present. High uniqueness means a pure lookup table will not cover enough rows, so learned text representations are needed.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0" name="Google Shape;870;p19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19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873" name="Google Shape;873;p19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EXACT TEXT DICTIONARY BASELINE</a:t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Exact descriptions are high precision but low coverage</a:t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 dictionary approach can support easy cases, but generalized text modeling is necessary.</a:t>
            </a:r>
            <a:endParaRPr/>
          </a:p>
        </p:txBody>
      </p:sp>
      <p:graphicFrame>
        <p:nvGraphicFramePr>
          <p:cNvPr id="876" name="Google Shape;876;p19"/>
          <p:cNvGraphicFramePr/>
          <p:nvPr/>
        </p:nvGraphicFramePr>
        <p:xfrm>
          <a:off x="914400" y="2152650"/>
          <a:ext cx="6858000" cy="2952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77" name="Google Shape;877;p19"/>
          <p:cNvSpPr/>
          <p:nvPr/>
        </p:nvSpPr>
        <p:spPr>
          <a:xfrm>
            <a:off x="914400" y="52197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text-purity threshold. Y-axis: coverage and apparent accuracy.</a:t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8382000" y="2247900"/>
            <a:ext cx="2571750" cy="2266950"/>
          </a:xfrm>
          <a:prstGeom prst="roundRect">
            <a:avLst>
              <a:gd fmla="val 33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9"/>
          <p:cNvSpPr/>
          <p:nvPr/>
        </p:nvSpPr>
        <p:spPr>
          <a:xfrm>
            <a:off x="8382000" y="2247900"/>
            <a:ext cx="57150" cy="22669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/>
          <p:nvPr/>
        </p:nvSpPr>
        <p:spPr>
          <a:xfrm>
            <a:off x="8591550" y="241935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/>
          </a:p>
        </p:txBody>
      </p:sp>
      <p:sp>
        <p:nvSpPr>
          <p:cNvPr id="881" name="Google Shape;881;p19"/>
          <p:cNvSpPr/>
          <p:nvPr/>
        </p:nvSpPr>
        <p:spPr>
          <a:xfrm>
            <a:off x="8591550" y="2781300"/>
            <a:ext cx="220980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At high confidence, exact text can be nearly deterministic, but it covers only a small sliver of manual rows. It should become a feature or fallback, not the whole solution.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7" name="Google Shape;887;p20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20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DICTIONARY THRESHOLDS</a:t>
            </a: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609600" y="742950"/>
            <a:ext cx="10193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Higher purity gives safer rules, but quickly loses coverage</a:t>
            </a: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Exact repeated Ma'am activity descriptions can become a high-confidence fallback, not the main classifier.</a:t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1219200" y="2076450"/>
            <a:ext cx="2286000" cy="4603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1295400" y="21240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 field</a:t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3505200" y="2076450"/>
            <a:ext cx="1809750" cy="4603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>
            <a:off x="3581400" y="212407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Purity threshold</a:t>
            </a:r>
            <a:endParaRPr/>
          </a:p>
        </p:txBody>
      </p:sp>
      <p:sp>
        <p:nvSpPr>
          <p:cNvPr id="897" name="Google Shape;897;p20"/>
          <p:cNvSpPr/>
          <p:nvPr/>
        </p:nvSpPr>
        <p:spPr>
          <a:xfrm>
            <a:off x="5314950" y="2076450"/>
            <a:ext cx="1809750" cy="4603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0"/>
          <p:cNvSpPr/>
          <p:nvPr/>
        </p:nvSpPr>
        <p:spPr>
          <a:xfrm>
            <a:off x="5391150" y="212407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coverage</a:t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7124700" y="2076450"/>
            <a:ext cx="1905000" cy="4603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0"/>
          <p:cNvSpPr/>
          <p:nvPr/>
        </p:nvSpPr>
        <p:spPr>
          <a:xfrm>
            <a:off x="7200900" y="2124075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Apparent accuracy</a:t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9029700" y="2076450"/>
            <a:ext cx="1943100" cy="46037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0"/>
          <p:cNvSpPr/>
          <p:nvPr/>
        </p:nvSpPr>
        <p:spPr>
          <a:xfrm>
            <a:off x="9105900" y="2124075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Eligible text values</a:t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1219200" y="2536825"/>
            <a:ext cx="2286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0"/>
          <p:cNvSpPr/>
          <p:nvPr/>
        </p:nvSpPr>
        <p:spPr>
          <a:xfrm>
            <a:off x="1295400" y="25844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3505200" y="253682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3581400" y="258445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5314950" y="253682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0"/>
          <p:cNvSpPr/>
          <p:nvPr/>
        </p:nvSpPr>
        <p:spPr>
          <a:xfrm>
            <a:off x="5391150" y="258445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6.2%</a:t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7124700" y="2536825"/>
            <a:ext cx="1905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0"/>
          <p:cNvSpPr/>
          <p:nvPr/>
        </p:nvSpPr>
        <p:spPr>
          <a:xfrm>
            <a:off x="7200900" y="25844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88.7%</a:t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9029700" y="2536825"/>
            <a:ext cx="19431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0"/>
          <p:cNvSpPr/>
          <p:nvPr/>
        </p:nvSpPr>
        <p:spPr>
          <a:xfrm>
            <a:off x="9105900" y="2584450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890</a:t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1219200" y="2997200"/>
            <a:ext cx="22860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0"/>
          <p:cNvSpPr/>
          <p:nvPr/>
        </p:nvSpPr>
        <p:spPr>
          <a:xfrm>
            <a:off x="1295400" y="304482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915" name="Google Shape;915;p20"/>
          <p:cNvSpPr/>
          <p:nvPr/>
        </p:nvSpPr>
        <p:spPr>
          <a:xfrm>
            <a:off x="3505200" y="2997200"/>
            <a:ext cx="180975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0"/>
          <p:cNvSpPr/>
          <p:nvPr/>
        </p:nvSpPr>
        <p:spPr>
          <a:xfrm>
            <a:off x="3581400" y="304482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5314950" y="2997200"/>
            <a:ext cx="180975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0"/>
          <p:cNvSpPr/>
          <p:nvPr/>
        </p:nvSpPr>
        <p:spPr>
          <a:xfrm>
            <a:off x="5391150" y="304482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5.1%</a:t>
            </a:r>
            <a:endParaRPr/>
          </a:p>
        </p:txBody>
      </p:sp>
      <p:sp>
        <p:nvSpPr>
          <p:cNvPr id="919" name="Google Shape;919;p20"/>
          <p:cNvSpPr/>
          <p:nvPr/>
        </p:nvSpPr>
        <p:spPr>
          <a:xfrm>
            <a:off x="7124700" y="2997200"/>
            <a:ext cx="19050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0"/>
          <p:cNvSpPr/>
          <p:nvPr/>
        </p:nvSpPr>
        <p:spPr>
          <a:xfrm>
            <a:off x="7200900" y="3044825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91.7%</a:t>
            </a:r>
            <a:endParaRPr/>
          </a:p>
        </p:txBody>
      </p:sp>
      <p:sp>
        <p:nvSpPr>
          <p:cNvPr id="921" name="Google Shape;921;p20"/>
          <p:cNvSpPr/>
          <p:nvPr/>
        </p:nvSpPr>
        <p:spPr>
          <a:xfrm>
            <a:off x="9029700" y="2997200"/>
            <a:ext cx="19431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0"/>
          <p:cNvSpPr/>
          <p:nvPr/>
        </p:nvSpPr>
        <p:spPr>
          <a:xfrm>
            <a:off x="9105900" y="3044825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778</a:t>
            </a:r>
            <a:endParaRPr/>
          </a:p>
        </p:txBody>
      </p:sp>
      <p:sp>
        <p:nvSpPr>
          <p:cNvPr id="923" name="Google Shape;923;p20"/>
          <p:cNvSpPr/>
          <p:nvPr/>
        </p:nvSpPr>
        <p:spPr>
          <a:xfrm>
            <a:off x="1219200" y="3457575"/>
            <a:ext cx="2286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0"/>
          <p:cNvSpPr/>
          <p:nvPr/>
        </p:nvSpPr>
        <p:spPr>
          <a:xfrm>
            <a:off x="1295400" y="35052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925" name="Google Shape;925;p20"/>
          <p:cNvSpPr/>
          <p:nvPr/>
        </p:nvSpPr>
        <p:spPr>
          <a:xfrm>
            <a:off x="3505200" y="345757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0"/>
          <p:cNvSpPr/>
          <p:nvPr/>
        </p:nvSpPr>
        <p:spPr>
          <a:xfrm>
            <a:off x="3581400" y="350520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/>
          </a:p>
        </p:txBody>
      </p:sp>
      <p:sp>
        <p:nvSpPr>
          <p:cNvPr id="927" name="Google Shape;927;p20"/>
          <p:cNvSpPr/>
          <p:nvPr/>
        </p:nvSpPr>
        <p:spPr>
          <a:xfrm>
            <a:off x="5314950" y="345757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0"/>
          <p:cNvSpPr/>
          <p:nvPr/>
        </p:nvSpPr>
        <p:spPr>
          <a:xfrm>
            <a:off x="5391150" y="350520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3.0%</a:t>
            </a:r>
            <a:endParaRPr/>
          </a:p>
        </p:txBody>
      </p:sp>
      <p:sp>
        <p:nvSpPr>
          <p:cNvPr id="929" name="Google Shape;929;p20"/>
          <p:cNvSpPr/>
          <p:nvPr/>
        </p:nvSpPr>
        <p:spPr>
          <a:xfrm>
            <a:off x="7124700" y="3457575"/>
            <a:ext cx="1905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0"/>
          <p:cNvSpPr/>
          <p:nvPr/>
        </p:nvSpPr>
        <p:spPr>
          <a:xfrm>
            <a:off x="7200900" y="350520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97.0%</a:t>
            </a:r>
            <a:endParaRPr/>
          </a:p>
        </p:txBody>
      </p:sp>
      <p:sp>
        <p:nvSpPr>
          <p:cNvPr id="931" name="Google Shape;931;p20"/>
          <p:cNvSpPr/>
          <p:nvPr/>
        </p:nvSpPr>
        <p:spPr>
          <a:xfrm>
            <a:off x="9029700" y="3457575"/>
            <a:ext cx="19431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0"/>
          <p:cNvSpPr/>
          <p:nvPr/>
        </p:nvSpPr>
        <p:spPr>
          <a:xfrm>
            <a:off x="9105900" y="3505200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471</a:t>
            </a:r>
            <a:endParaRPr/>
          </a:p>
        </p:txBody>
      </p:sp>
      <p:sp>
        <p:nvSpPr>
          <p:cNvPr id="933" name="Google Shape;933;p20"/>
          <p:cNvSpPr/>
          <p:nvPr/>
        </p:nvSpPr>
        <p:spPr>
          <a:xfrm>
            <a:off x="1219200" y="3917950"/>
            <a:ext cx="22860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0"/>
          <p:cNvSpPr/>
          <p:nvPr/>
        </p:nvSpPr>
        <p:spPr>
          <a:xfrm>
            <a:off x="1295400" y="39655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935" name="Google Shape;935;p20"/>
          <p:cNvSpPr/>
          <p:nvPr/>
        </p:nvSpPr>
        <p:spPr>
          <a:xfrm>
            <a:off x="3505200" y="3917950"/>
            <a:ext cx="180975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0"/>
          <p:cNvSpPr/>
          <p:nvPr/>
        </p:nvSpPr>
        <p:spPr>
          <a:xfrm>
            <a:off x="3581400" y="396557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/>
          </a:p>
        </p:txBody>
      </p:sp>
      <p:sp>
        <p:nvSpPr>
          <p:cNvPr id="937" name="Google Shape;937;p20"/>
          <p:cNvSpPr/>
          <p:nvPr/>
        </p:nvSpPr>
        <p:spPr>
          <a:xfrm>
            <a:off x="5314950" y="3917950"/>
            <a:ext cx="180975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0"/>
          <p:cNvSpPr/>
          <p:nvPr/>
        </p:nvSpPr>
        <p:spPr>
          <a:xfrm>
            <a:off x="5391150" y="3965575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2.0%</a:t>
            </a:r>
            <a:endParaRPr/>
          </a:p>
        </p:txBody>
      </p:sp>
      <p:sp>
        <p:nvSpPr>
          <p:cNvPr id="939" name="Google Shape;939;p20"/>
          <p:cNvSpPr/>
          <p:nvPr/>
        </p:nvSpPr>
        <p:spPr>
          <a:xfrm>
            <a:off x="7124700" y="3917950"/>
            <a:ext cx="19050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0"/>
          <p:cNvSpPr/>
          <p:nvPr/>
        </p:nvSpPr>
        <p:spPr>
          <a:xfrm>
            <a:off x="7200900" y="3965575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99.2%</a:t>
            </a:r>
            <a:endParaRPr/>
          </a:p>
        </p:txBody>
      </p:sp>
      <p:sp>
        <p:nvSpPr>
          <p:cNvPr id="941" name="Google Shape;941;p20"/>
          <p:cNvSpPr/>
          <p:nvPr/>
        </p:nvSpPr>
        <p:spPr>
          <a:xfrm>
            <a:off x="9029700" y="3917950"/>
            <a:ext cx="1943100" cy="46037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0"/>
          <p:cNvSpPr/>
          <p:nvPr/>
        </p:nvSpPr>
        <p:spPr>
          <a:xfrm>
            <a:off x="9105900" y="3965575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413</a:t>
            </a:r>
            <a:endParaRPr/>
          </a:p>
        </p:txBody>
      </p:sp>
      <p:sp>
        <p:nvSpPr>
          <p:cNvPr id="943" name="Google Shape;943;p20"/>
          <p:cNvSpPr/>
          <p:nvPr/>
        </p:nvSpPr>
        <p:spPr>
          <a:xfrm>
            <a:off x="1219200" y="4378325"/>
            <a:ext cx="2286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0"/>
          <p:cNvSpPr/>
          <p:nvPr/>
        </p:nvSpPr>
        <p:spPr>
          <a:xfrm>
            <a:off x="1295400" y="44259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SHEM_OSEK</a:t>
            </a:r>
            <a:endParaRPr/>
          </a:p>
        </p:txBody>
      </p:sp>
      <p:sp>
        <p:nvSpPr>
          <p:cNvPr id="945" name="Google Shape;945;p20"/>
          <p:cNvSpPr/>
          <p:nvPr/>
        </p:nvSpPr>
        <p:spPr>
          <a:xfrm>
            <a:off x="3505200" y="437832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0"/>
          <p:cNvSpPr/>
          <p:nvPr/>
        </p:nvSpPr>
        <p:spPr>
          <a:xfrm>
            <a:off x="3581400" y="442595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/>
          </a:p>
        </p:txBody>
      </p:sp>
      <p:sp>
        <p:nvSpPr>
          <p:cNvPr id="947" name="Google Shape;947;p20"/>
          <p:cNvSpPr/>
          <p:nvPr/>
        </p:nvSpPr>
        <p:spPr>
          <a:xfrm>
            <a:off x="5314950" y="4378325"/>
            <a:ext cx="180975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0"/>
          <p:cNvSpPr/>
          <p:nvPr/>
        </p:nvSpPr>
        <p:spPr>
          <a:xfrm>
            <a:off x="5391150" y="4425950"/>
            <a:ext cx="16573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~0.0%</a:t>
            </a:r>
            <a:endParaRPr/>
          </a:p>
        </p:txBody>
      </p:sp>
      <p:sp>
        <p:nvSpPr>
          <p:cNvPr id="949" name="Google Shape;949;p20"/>
          <p:cNvSpPr/>
          <p:nvPr/>
        </p:nvSpPr>
        <p:spPr>
          <a:xfrm>
            <a:off x="7124700" y="4378325"/>
            <a:ext cx="19050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0"/>
          <p:cNvSpPr/>
          <p:nvPr/>
        </p:nvSpPr>
        <p:spPr>
          <a:xfrm>
            <a:off x="7200900" y="4425950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100.0%</a:t>
            </a:r>
            <a:endParaRPr/>
          </a:p>
        </p:txBody>
      </p:sp>
      <p:sp>
        <p:nvSpPr>
          <p:cNvPr id="951" name="Google Shape;951;p20"/>
          <p:cNvSpPr/>
          <p:nvPr/>
        </p:nvSpPr>
        <p:spPr>
          <a:xfrm>
            <a:off x="9029700" y="4378325"/>
            <a:ext cx="1943100" cy="460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0"/>
          <p:cNvSpPr/>
          <p:nvPr/>
        </p:nvSpPr>
        <p:spPr>
          <a:xfrm>
            <a:off x="9105900" y="4425950"/>
            <a:ext cx="179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3" name="Google Shape;953;p20"/>
          <p:cNvSpPr/>
          <p:nvPr/>
        </p:nvSpPr>
        <p:spPr>
          <a:xfrm>
            <a:off x="1733550" y="5219700"/>
            <a:ext cx="87249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0"/>
          <p:cNvSpPr/>
          <p:nvPr/>
        </p:nvSpPr>
        <p:spPr>
          <a:xfrm>
            <a:off x="1733550" y="5219700"/>
            <a:ext cx="57150" cy="6858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0"/>
          <p:cNvSpPr/>
          <p:nvPr/>
        </p:nvSpPr>
        <p:spPr>
          <a:xfrm>
            <a:off x="1943100" y="5334000"/>
            <a:ext cx="836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Operational use</a:t>
            </a:r>
            <a:endParaRPr/>
          </a:p>
        </p:txBody>
      </p:sp>
      <p:sp>
        <p:nvSpPr>
          <p:cNvPr id="956" name="Google Shape;956;p20"/>
          <p:cNvSpPr/>
          <p:nvPr/>
        </p:nvSpPr>
        <p:spPr>
          <a:xfrm>
            <a:off x="1943100" y="5581650"/>
            <a:ext cx="8362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 dictionary can auto-accept a small set of very easy repeated cases or generate features. It cannot replace a semantic model for the manual queue.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2" name="Google Shape;962;p21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21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964" name="Google Shape;964;p21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965" name="Google Shape;965;p21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TEXT MODELING IMPLICATIONS</a:t>
            </a:r>
            <a:endParaRPr/>
          </a:p>
        </p:txBody>
      </p:sp>
      <p:sp>
        <p:nvSpPr>
          <p:cNvPr id="966" name="Google Shape;966;p21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Use all safe text fields and preserve source identity</a:t>
            </a:r>
            <a:endParaRPr/>
          </a:p>
        </p:txBody>
      </p:sp>
      <p:sp>
        <p:nvSpPr>
          <p:cNvPr id="967" name="Google Shape;967;p21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best prototype should treat text source as information, not flatten every string blindly.</a:t>
            </a:r>
            <a:endParaRPr/>
          </a:p>
        </p:txBody>
      </p:sp>
      <p:sp>
        <p:nvSpPr>
          <p:cNvPr id="968" name="Google Shape;968;p21"/>
          <p:cNvSpPr/>
          <p:nvPr/>
        </p:nvSpPr>
        <p:spPr>
          <a:xfrm>
            <a:off x="876300" y="22098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1"/>
          <p:cNvSpPr/>
          <p:nvPr/>
        </p:nvSpPr>
        <p:spPr>
          <a:xfrm>
            <a:off x="1085850" y="2133600"/>
            <a:ext cx="7410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Concatenate text with source markers: Ma'am/VAT description, business name, employer name, and other safe descriptions.</a:t>
            </a:r>
            <a:endParaRPr/>
          </a:p>
        </p:txBody>
      </p:sp>
      <p:sp>
        <p:nvSpPr>
          <p:cNvPr id="970" name="Google Shape;970;p21"/>
          <p:cNvSpPr/>
          <p:nvPr/>
        </p:nvSpPr>
        <p:spPr>
          <a:xfrm>
            <a:off x="876300" y="27241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1"/>
          <p:cNvSpPr/>
          <p:nvPr/>
        </p:nvSpPr>
        <p:spPr>
          <a:xfrm>
            <a:off x="1085850" y="2647950"/>
            <a:ext cx="7410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Normalize Hebrew/English spelling variation, punctuation, legal suffixes, and common business-name boilerplate.</a:t>
            </a:r>
            <a:endParaRPr/>
          </a:p>
        </p:txBody>
      </p:sp>
      <p:sp>
        <p:nvSpPr>
          <p:cNvPr id="972" name="Google Shape;972;p21"/>
          <p:cNvSpPr/>
          <p:nvPr/>
        </p:nvSpPr>
        <p:spPr>
          <a:xfrm>
            <a:off x="876300" y="32385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1"/>
          <p:cNvSpPr/>
          <p:nvPr/>
        </p:nvSpPr>
        <p:spPr>
          <a:xfrm>
            <a:off x="1085850" y="3162300"/>
            <a:ext cx="7410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Evaluate text-only, source-code-only, categorical-only, and combined models to estimate marginal lift.</a:t>
            </a:r>
            <a:endParaRPr/>
          </a:p>
        </p:txBody>
      </p:sp>
      <p:sp>
        <p:nvSpPr>
          <p:cNvPr id="974" name="Google Shape;974;p21"/>
          <p:cNvSpPr/>
          <p:nvPr/>
        </p:nvSpPr>
        <p:spPr>
          <a:xfrm>
            <a:off x="876300" y="37528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1"/>
          <p:cNvSpPr/>
          <p:nvPr/>
        </p:nvSpPr>
        <p:spPr>
          <a:xfrm>
            <a:off x="1085850" y="3676650"/>
            <a:ext cx="7410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Keep target descriptions such as final ANAF text out of the predictive feature set.</a:t>
            </a:r>
            <a:endParaRPr/>
          </a:p>
        </p:txBody>
      </p:sp>
      <p:sp>
        <p:nvSpPr>
          <p:cNvPr id="976" name="Google Shape;976;p21"/>
          <p:cNvSpPr/>
          <p:nvPr/>
        </p:nvSpPr>
        <p:spPr>
          <a:xfrm>
            <a:off x="8858250" y="2286000"/>
            <a:ext cx="2286000" cy="200025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1"/>
          <p:cNvSpPr/>
          <p:nvPr/>
        </p:nvSpPr>
        <p:spPr>
          <a:xfrm>
            <a:off x="8858250" y="2286000"/>
            <a:ext cx="57150" cy="20002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1"/>
          <p:cNvSpPr/>
          <p:nvPr/>
        </p:nvSpPr>
        <p:spPr>
          <a:xfrm>
            <a:off x="9067800" y="2457450"/>
            <a:ext cx="1924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Likely winner</a:t>
            </a:r>
            <a:endParaRPr/>
          </a:p>
        </p:txBody>
      </p:sp>
      <p:sp>
        <p:nvSpPr>
          <p:cNvPr id="979" name="Google Shape;979;p21"/>
          <p:cNvSpPr/>
          <p:nvPr/>
        </p:nvSpPr>
        <p:spPr>
          <a:xfrm>
            <a:off x="9067800" y="2819400"/>
            <a:ext cx="19240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 combined model with text + source branches + categorical context should beat every single-family baseline.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5" name="Google Shape;985;p22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6" name="Google Shape;986;p22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987" name="Google Shape;987;p22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988" name="Google Shape;988;p22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SOURCE-AWARE FEATURE EXAMPLE</a:t>
            </a:r>
            <a:endParaRPr/>
          </a:p>
        </p:txBody>
      </p:sp>
      <p:sp>
        <p:nvSpPr>
          <p:cNvPr id="989" name="Google Shape;989;p22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Turn mixed fields into structured model inputs, not one blind string</a:t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prototype should preserve which source supplied each text, category, source branch, and numeric signal.</a:t>
            </a:r>
            <a:endParaRPr/>
          </a:p>
        </p:txBody>
      </p:sp>
      <p:sp>
        <p:nvSpPr>
          <p:cNvPr id="991" name="Google Shape;991;p22"/>
          <p:cNvSpPr/>
          <p:nvPr/>
        </p:nvSpPr>
        <p:spPr>
          <a:xfrm>
            <a:off x="666750" y="1962150"/>
            <a:ext cx="2095500" cy="5397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2"/>
          <p:cNvSpPr/>
          <p:nvPr/>
        </p:nvSpPr>
        <p:spPr>
          <a:xfrm>
            <a:off x="742950" y="200977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Raw feature family</a:t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2762250" y="1962150"/>
            <a:ext cx="3905250" cy="5397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2"/>
          <p:cNvSpPr/>
          <p:nvPr/>
        </p:nvSpPr>
        <p:spPr>
          <a:xfrm>
            <a:off x="2838450" y="200977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Example field/value</a:t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6667500" y="1962150"/>
            <a:ext cx="4857750" cy="5397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2"/>
          <p:cNvSpPr/>
          <p:nvPr/>
        </p:nvSpPr>
        <p:spPr>
          <a:xfrm>
            <a:off x="6743700" y="200977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 representation</a:t>
            </a:r>
            <a:endParaRPr/>
          </a:p>
        </p:txBody>
      </p:sp>
      <p:sp>
        <p:nvSpPr>
          <p:cNvPr id="997" name="Google Shape;997;p22"/>
          <p:cNvSpPr/>
          <p:nvPr/>
        </p:nvSpPr>
        <p:spPr>
          <a:xfrm>
            <a:off x="666750" y="2501900"/>
            <a:ext cx="209550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2"/>
          <p:cNvSpPr/>
          <p:nvPr/>
        </p:nvSpPr>
        <p:spPr>
          <a:xfrm>
            <a:off x="742950" y="254952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2762250" y="2501900"/>
            <a:ext cx="39052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2"/>
          <p:cNvSpPr/>
          <p:nvPr/>
        </p:nvSpPr>
        <p:spPr>
          <a:xfrm>
            <a:off x="2838450" y="254952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 = 'software development services'</a:t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6667500" y="2501900"/>
            <a:ext cx="48577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2"/>
          <p:cNvSpPr/>
          <p:nvPr/>
        </p:nvSpPr>
        <p:spPr>
          <a:xfrm>
            <a:off x="6743700" y="254952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text_maam_activity: tokenize / embed with source marker</a:t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666750" y="3041650"/>
            <a:ext cx="209550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2"/>
          <p:cNvSpPr/>
          <p:nvPr/>
        </p:nvSpPr>
        <p:spPr>
          <a:xfrm>
            <a:off x="742950" y="308927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2762250" y="3041650"/>
            <a:ext cx="390525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2"/>
          <p:cNvSpPr/>
          <p:nvPr/>
        </p:nvSpPr>
        <p:spPr>
          <a:xfrm>
            <a:off x="2838450" y="308927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SHEM_OSEK = 'Alpha Digital Ltd'</a:t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6667500" y="3041650"/>
            <a:ext cx="485775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6743700" y="308927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text_business_name: normalize suffixes and tokenize separately</a:t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666750" y="3581400"/>
            <a:ext cx="209550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22"/>
          <p:cNvSpPr/>
          <p:nvPr/>
        </p:nvSpPr>
        <p:spPr>
          <a:xfrm>
            <a:off x="742950" y="362902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 branch</a:t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2762250" y="3581400"/>
            <a:ext cx="39052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2"/>
          <p:cNvSpPr/>
          <p:nvPr/>
        </p:nvSpPr>
        <p:spPr>
          <a:xfrm>
            <a:off x="2838450" y="362902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ANAF_MAAM = 6201, ANAF_BL = 6311</a:t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6667500" y="3581400"/>
            <a:ext cx="48577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2"/>
          <p:cNvSpPr/>
          <p:nvPr/>
        </p:nvSpPr>
        <p:spPr>
          <a:xfrm>
            <a:off x="6743700" y="362902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two categorical branch-code features + agreement/disagreement flags</a:t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666750" y="4121150"/>
            <a:ext cx="209550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2"/>
          <p:cNvSpPr/>
          <p:nvPr/>
        </p:nvSpPr>
        <p:spPr>
          <a:xfrm>
            <a:off x="742950" y="416877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Categorical</a:t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2762250" y="4121150"/>
            <a:ext cx="390525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2"/>
          <p:cNvSpPr/>
          <p:nvPr/>
        </p:nvSpPr>
        <p:spPr>
          <a:xfrm>
            <a:off x="2838450" y="416877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SUG_TIK_MAAM = authorized dealer; KOD_ISHUT = company</a:t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6667500" y="4121150"/>
            <a:ext cx="4857750" cy="5397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2"/>
          <p:cNvSpPr/>
          <p:nvPr/>
        </p:nvSpPr>
        <p:spPr>
          <a:xfrm>
            <a:off x="6743700" y="416877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one-hot / target-safe encoding / missingness flags</a:t>
            </a:r>
            <a:endParaRPr/>
          </a:p>
        </p:txBody>
      </p:sp>
      <p:sp>
        <p:nvSpPr>
          <p:cNvPr id="1021" name="Google Shape;1021;p22"/>
          <p:cNvSpPr/>
          <p:nvPr/>
        </p:nvSpPr>
        <p:spPr>
          <a:xfrm>
            <a:off x="666750" y="4660900"/>
            <a:ext cx="209550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2"/>
          <p:cNvSpPr/>
          <p:nvPr/>
        </p:nvSpPr>
        <p:spPr>
          <a:xfrm>
            <a:off x="742950" y="4708525"/>
            <a:ext cx="1943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endParaRPr/>
          </a:p>
        </p:txBody>
      </p:sp>
      <p:sp>
        <p:nvSpPr>
          <p:cNvPr id="1023" name="Google Shape;1023;p22"/>
          <p:cNvSpPr/>
          <p:nvPr/>
        </p:nvSpPr>
        <p:spPr>
          <a:xfrm>
            <a:off x="2762250" y="4660900"/>
            <a:ext cx="39052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2"/>
          <p:cNvSpPr/>
          <p:nvPr/>
        </p:nvSpPr>
        <p:spPr>
          <a:xfrm>
            <a:off x="2838450" y="4708525"/>
            <a:ext cx="3752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PIDION_MESHUAR = 250,000</a:t>
            </a:r>
            <a:endParaRPr/>
          </a:p>
        </p:txBody>
      </p:sp>
      <p:sp>
        <p:nvSpPr>
          <p:cNvPr id="1025" name="Google Shape;1025;p22"/>
          <p:cNvSpPr/>
          <p:nvPr/>
        </p:nvSpPr>
        <p:spPr>
          <a:xfrm>
            <a:off x="6667500" y="4660900"/>
            <a:ext cx="4857750" cy="539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2"/>
          <p:cNvSpPr/>
          <p:nvPr/>
        </p:nvSpPr>
        <p:spPr>
          <a:xfrm>
            <a:off x="6743700" y="4708525"/>
            <a:ext cx="47053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log turnover bin + missingness flag</a:t>
            </a:r>
            <a:endParaRPr/>
          </a:p>
        </p:txBody>
      </p:sp>
      <p:sp>
        <p:nvSpPr>
          <p:cNvPr id="1027" name="Google Shape;1027;p22"/>
          <p:cNvSpPr/>
          <p:nvPr/>
        </p:nvSpPr>
        <p:spPr>
          <a:xfrm>
            <a:off x="1695450" y="5467350"/>
            <a:ext cx="8801100" cy="53340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2"/>
          <p:cNvSpPr/>
          <p:nvPr/>
        </p:nvSpPr>
        <p:spPr>
          <a:xfrm>
            <a:off x="1695450" y="5467350"/>
            <a:ext cx="57150" cy="53340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2"/>
          <p:cNvSpPr/>
          <p:nvPr/>
        </p:nvSpPr>
        <p:spPr>
          <a:xfrm>
            <a:off x="1905000" y="5581650"/>
            <a:ext cx="843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1030" name="Google Shape;1030;p22"/>
          <p:cNvSpPr/>
          <p:nvPr/>
        </p:nvSpPr>
        <p:spPr>
          <a:xfrm>
            <a:off x="1905000" y="5829300"/>
            <a:ext cx="8439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Source identity lets the model learn that the same token may mean different things when it came from Ma'am activity text, a business name, or an employer name.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6" name="Google Shape;1036;p23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7" name="Google Shape;1037;p23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Text signal</a:t>
            </a:r>
            <a:endParaRPr/>
          </a:p>
        </p:txBody>
      </p:sp>
      <p:sp>
        <p:nvSpPr>
          <p:cNvPr id="1038" name="Google Shape;1038;p23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1039" name="Google Shape;1039;p23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BERT INPUT EXAMPLE</a:t>
            </a:r>
            <a:endParaRPr/>
          </a:p>
        </p:txBody>
      </p:sp>
      <p:sp>
        <p:nvSpPr>
          <p:cNvPr id="1040" name="Google Shape;1040;p23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For BERT, concatenate evidence as a labeled sequence</a:t>
            </a:r>
            <a:endParaRPr/>
          </a:p>
        </p:txBody>
      </p:sp>
      <p:sp>
        <p:nvSpPr>
          <p:cNvPr id="1041" name="Google Shape;1041;p23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text encoder receives one source-marked sequence, then a classifier predicts four-digit ANAF probabilities from the pooled embedding.</a:t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609600" y="2000250"/>
            <a:ext cx="3009900" cy="339090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3"/>
          <p:cNvSpPr/>
          <p:nvPr/>
        </p:nvSpPr>
        <p:spPr>
          <a:xfrm>
            <a:off x="838200" y="220980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971550" y="225742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RAW ROW</a:t>
            </a:r>
            <a:endParaRPr/>
          </a:p>
        </p:txBody>
      </p:sp>
      <p:sp>
        <p:nvSpPr>
          <p:cNvPr id="1045" name="Google Shape;1045;p23"/>
          <p:cNvSpPr/>
          <p:nvPr/>
        </p:nvSpPr>
        <p:spPr>
          <a:xfrm>
            <a:off x="819150" y="2647950"/>
            <a:ext cx="1352550" cy="297656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3"/>
          <p:cNvSpPr/>
          <p:nvPr/>
        </p:nvSpPr>
        <p:spPr>
          <a:xfrm>
            <a:off x="895350" y="2695575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/>
          </a:p>
        </p:txBody>
      </p:sp>
      <p:sp>
        <p:nvSpPr>
          <p:cNvPr id="1047" name="Google Shape;1047;p23"/>
          <p:cNvSpPr/>
          <p:nvPr/>
        </p:nvSpPr>
        <p:spPr>
          <a:xfrm>
            <a:off x="2171700" y="2647950"/>
            <a:ext cx="1238250" cy="297656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2247900" y="2695575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Example value</a:t>
            </a:r>
            <a:endParaRPr/>
          </a:p>
        </p:txBody>
      </p:sp>
      <p:sp>
        <p:nvSpPr>
          <p:cNvPr id="1049" name="Google Shape;1049;p23"/>
          <p:cNvSpPr/>
          <p:nvPr/>
        </p:nvSpPr>
        <p:spPr>
          <a:xfrm>
            <a:off x="819150" y="2945606"/>
            <a:ext cx="13525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895350" y="2993231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</a:t>
            </a:r>
            <a:endParaRPr/>
          </a:p>
        </p:txBody>
      </p:sp>
      <p:sp>
        <p:nvSpPr>
          <p:cNvPr id="1051" name="Google Shape;1051;p23"/>
          <p:cNvSpPr/>
          <p:nvPr/>
        </p:nvSpPr>
        <p:spPr>
          <a:xfrm>
            <a:off x="2171700" y="2945606"/>
            <a:ext cx="12382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2247900" y="2993231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software development services</a:t>
            </a:r>
            <a:endParaRPr/>
          </a:p>
        </p:txBody>
      </p:sp>
      <p:sp>
        <p:nvSpPr>
          <p:cNvPr id="1053" name="Google Shape;1053;p23"/>
          <p:cNvSpPr/>
          <p:nvPr/>
        </p:nvSpPr>
        <p:spPr>
          <a:xfrm>
            <a:off x="819150" y="3243263"/>
            <a:ext cx="13525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3"/>
          <p:cNvSpPr/>
          <p:nvPr/>
        </p:nvSpPr>
        <p:spPr>
          <a:xfrm>
            <a:off x="895350" y="3290888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SHEM_OSEK</a:t>
            </a:r>
            <a:endParaRPr/>
          </a:p>
        </p:txBody>
      </p:sp>
      <p:sp>
        <p:nvSpPr>
          <p:cNvPr id="1055" name="Google Shape;1055;p23"/>
          <p:cNvSpPr/>
          <p:nvPr/>
        </p:nvSpPr>
        <p:spPr>
          <a:xfrm>
            <a:off x="2171700" y="3243263"/>
            <a:ext cx="12382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3"/>
          <p:cNvSpPr/>
          <p:nvPr/>
        </p:nvSpPr>
        <p:spPr>
          <a:xfrm>
            <a:off x="2247900" y="3290888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Alpha Digital Ltd</a:t>
            </a:r>
            <a:endParaRPr/>
          </a:p>
        </p:txBody>
      </p:sp>
      <p:sp>
        <p:nvSpPr>
          <p:cNvPr id="1057" name="Google Shape;1057;p23"/>
          <p:cNvSpPr/>
          <p:nvPr/>
        </p:nvSpPr>
        <p:spPr>
          <a:xfrm>
            <a:off x="819150" y="3540919"/>
            <a:ext cx="13525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895350" y="3588544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ANAF_MAAM</a:t>
            </a:r>
            <a:endParaRPr/>
          </a:p>
        </p:txBody>
      </p:sp>
      <p:sp>
        <p:nvSpPr>
          <p:cNvPr id="1059" name="Google Shape;1059;p23"/>
          <p:cNvSpPr/>
          <p:nvPr/>
        </p:nvSpPr>
        <p:spPr>
          <a:xfrm>
            <a:off x="2171700" y="3540919"/>
            <a:ext cx="12382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2247900" y="3588544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6201</a:t>
            </a:r>
            <a:endParaRPr/>
          </a:p>
        </p:txBody>
      </p:sp>
      <p:sp>
        <p:nvSpPr>
          <p:cNvPr id="1061" name="Google Shape;1061;p23"/>
          <p:cNvSpPr/>
          <p:nvPr/>
        </p:nvSpPr>
        <p:spPr>
          <a:xfrm>
            <a:off x="819150" y="3838575"/>
            <a:ext cx="13525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3"/>
          <p:cNvSpPr/>
          <p:nvPr/>
        </p:nvSpPr>
        <p:spPr>
          <a:xfrm>
            <a:off x="895350" y="3886200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ANAF_BL</a:t>
            </a:r>
            <a:endParaRPr/>
          </a:p>
        </p:txBody>
      </p:sp>
      <p:sp>
        <p:nvSpPr>
          <p:cNvPr id="1063" name="Google Shape;1063;p23"/>
          <p:cNvSpPr/>
          <p:nvPr/>
        </p:nvSpPr>
        <p:spPr>
          <a:xfrm>
            <a:off x="2171700" y="3838575"/>
            <a:ext cx="12382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3"/>
          <p:cNvSpPr/>
          <p:nvPr/>
        </p:nvSpPr>
        <p:spPr>
          <a:xfrm>
            <a:off x="2247900" y="3886200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6311</a:t>
            </a:r>
            <a:endParaRPr/>
          </a:p>
        </p:txBody>
      </p:sp>
      <p:sp>
        <p:nvSpPr>
          <p:cNvPr id="1065" name="Google Shape;1065;p23"/>
          <p:cNvSpPr/>
          <p:nvPr/>
        </p:nvSpPr>
        <p:spPr>
          <a:xfrm>
            <a:off x="819150" y="4136231"/>
            <a:ext cx="13525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3"/>
          <p:cNvSpPr/>
          <p:nvPr/>
        </p:nvSpPr>
        <p:spPr>
          <a:xfrm>
            <a:off x="895350" y="4183856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SUG_TIK_MAAM</a:t>
            </a:r>
            <a:endParaRPr/>
          </a:p>
        </p:txBody>
      </p:sp>
      <p:sp>
        <p:nvSpPr>
          <p:cNvPr id="1067" name="Google Shape;1067;p23"/>
          <p:cNvSpPr/>
          <p:nvPr/>
        </p:nvSpPr>
        <p:spPr>
          <a:xfrm>
            <a:off x="2171700" y="4136231"/>
            <a:ext cx="12382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3"/>
          <p:cNvSpPr/>
          <p:nvPr/>
        </p:nvSpPr>
        <p:spPr>
          <a:xfrm>
            <a:off x="2247900" y="4183856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authorized dealer</a:t>
            </a:r>
            <a:endParaRPr/>
          </a:p>
        </p:txBody>
      </p:sp>
      <p:sp>
        <p:nvSpPr>
          <p:cNvPr id="1069" name="Google Shape;1069;p23"/>
          <p:cNvSpPr/>
          <p:nvPr/>
        </p:nvSpPr>
        <p:spPr>
          <a:xfrm>
            <a:off x="819150" y="4433888"/>
            <a:ext cx="13525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>
            <a:off x="895350" y="4481513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KOD_ISHUT</a:t>
            </a:r>
            <a:endParaRPr/>
          </a:p>
        </p:txBody>
      </p:sp>
      <p:sp>
        <p:nvSpPr>
          <p:cNvPr id="1071" name="Google Shape;1071;p23"/>
          <p:cNvSpPr/>
          <p:nvPr/>
        </p:nvSpPr>
        <p:spPr>
          <a:xfrm>
            <a:off x="2171700" y="4433888"/>
            <a:ext cx="1238250" cy="297656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3"/>
          <p:cNvSpPr/>
          <p:nvPr/>
        </p:nvSpPr>
        <p:spPr>
          <a:xfrm>
            <a:off x="2247900" y="4481513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company</a:t>
            </a:r>
            <a:endParaRPr/>
          </a:p>
        </p:txBody>
      </p:sp>
      <p:sp>
        <p:nvSpPr>
          <p:cNvPr id="1073" name="Google Shape;1073;p23"/>
          <p:cNvSpPr/>
          <p:nvPr/>
        </p:nvSpPr>
        <p:spPr>
          <a:xfrm>
            <a:off x="819150" y="4731544"/>
            <a:ext cx="13525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3"/>
          <p:cNvSpPr/>
          <p:nvPr/>
        </p:nvSpPr>
        <p:spPr>
          <a:xfrm>
            <a:off x="895350" y="4779169"/>
            <a:ext cx="12001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PIDION_MESHUAR</a:t>
            </a:r>
            <a:endParaRPr/>
          </a:p>
        </p:txBody>
      </p:sp>
      <p:sp>
        <p:nvSpPr>
          <p:cNvPr id="1075" name="Google Shape;1075;p23"/>
          <p:cNvSpPr/>
          <p:nvPr/>
        </p:nvSpPr>
        <p:spPr>
          <a:xfrm>
            <a:off x="2171700" y="4731544"/>
            <a:ext cx="1238250" cy="2976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23"/>
          <p:cNvSpPr/>
          <p:nvPr/>
        </p:nvSpPr>
        <p:spPr>
          <a:xfrm>
            <a:off x="2247900" y="4779169"/>
            <a:ext cx="1085850" cy="202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250,000</a:t>
            </a:r>
            <a:endParaRPr/>
          </a:p>
        </p:txBody>
      </p:sp>
      <p:sp>
        <p:nvSpPr>
          <p:cNvPr id="1077" name="Google Shape;1077;p23"/>
          <p:cNvSpPr/>
          <p:nvPr/>
        </p:nvSpPr>
        <p:spPr>
          <a:xfrm>
            <a:off x="3752850" y="3390900"/>
            <a:ext cx="40005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3"/>
          <p:cNvSpPr/>
          <p:nvPr/>
        </p:nvSpPr>
        <p:spPr>
          <a:xfrm>
            <a:off x="4305300" y="1809750"/>
            <a:ext cx="4267200" cy="3771900"/>
          </a:xfrm>
          <a:prstGeom prst="roundRect">
            <a:avLst>
              <a:gd fmla="val 202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3"/>
          <p:cNvSpPr/>
          <p:nvPr/>
        </p:nvSpPr>
        <p:spPr>
          <a:xfrm>
            <a:off x="4552950" y="201930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3"/>
          <p:cNvSpPr/>
          <p:nvPr/>
        </p:nvSpPr>
        <p:spPr>
          <a:xfrm>
            <a:off x="4686300" y="206692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 BERT SEQUENCE</a:t>
            </a:r>
            <a:endParaRPr/>
          </a:p>
        </p:txBody>
      </p:sp>
      <p:sp>
        <p:nvSpPr>
          <p:cNvPr id="1081" name="Google Shape;1081;p23"/>
          <p:cNvSpPr/>
          <p:nvPr/>
        </p:nvSpPr>
        <p:spPr>
          <a:xfrm>
            <a:off x="4572000" y="2495550"/>
            <a:ext cx="375285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[CLS]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[MAAM_ACTIVITY] software development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[BUSINESS_NAME] Alpha Digital Ltd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[MAAM_BRANCH] 6201 software development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[BL_BRANCH] 6311 data processing hosting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[BRANCH_AGREE_4D]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[BRANCH_AGREE_2D]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[MAAM_FILE_TYPE] authorized dealer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[LEGAL_ENTITY] company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[TURNOVER_BIN] 100k_to_500k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8">
                <a:solidFill>
                  <a:srgbClr val="14202D"/>
                </a:solidFill>
                <a:latin typeface="Cascadia Mono"/>
                <a:ea typeface="Cascadia Mono"/>
                <a:cs typeface="Cascadia Mono"/>
                <a:sym typeface="Cascadia Mono"/>
              </a:rPr>
              <a:t>[SEP]</a:t>
            </a:r>
            <a:endParaRPr/>
          </a:p>
        </p:txBody>
      </p:sp>
      <p:sp>
        <p:nvSpPr>
          <p:cNvPr id="1082" name="Google Shape;1082;p23"/>
          <p:cNvSpPr/>
          <p:nvPr/>
        </p:nvSpPr>
        <p:spPr>
          <a:xfrm>
            <a:off x="4572000" y="5010150"/>
            <a:ext cx="3695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square-bracket labels are not magic; they are source markers. They tell the encoder what each piece of text or code means.</a:t>
            </a:r>
            <a:endParaRPr/>
          </a:p>
        </p:txBody>
      </p:sp>
      <p:sp>
        <p:nvSpPr>
          <p:cNvPr id="1083" name="Google Shape;1083;p23"/>
          <p:cNvSpPr/>
          <p:nvPr/>
        </p:nvSpPr>
        <p:spPr>
          <a:xfrm>
            <a:off x="8724900" y="3390900"/>
            <a:ext cx="40005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3"/>
          <p:cNvSpPr/>
          <p:nvPr/>
        </p:nvSpPr>
        <p:spPr>
          <a:xfrm>
            <a:off x="9277350" y="2000250"/>
            <a:ext cx="2266950" cy="3390900"/>
          </a:xfrm>
          <a:prstGeom prst="roundRect">
            <a:avLst>
              <a:gd fmla="val 33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3"/>
          <p:cNvSpPr/>
          <p:nvPr/>
        </p:nvSpPr>
        <p:spPr>
          <a:xfrm>
            <a:off x="9505950" y="220980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3"/>
          <p:cNvSpPr/>
          <p:nvPr/>
        </p:nvSpPr>
        <p:spPr>
          <a:xfrm>
            <a:off x="9639300" y="225742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CLASSIFIER HEAD</a:t>
            </a:r>
            <a:endParaRPr/>
          </a:p>
        </p:txBody>
      </p:sp>
      <p:sp>
        <p:nvSpPr>
          <p:cNvPr id="1087" name="Google Shape;1087;p23"/>
          <p:cNvSpPr/>
          <p:nvPr/>
        </p:nvSpPr>
        <p:spPr>
          <a:xfrm>
            <a:off x="9525000" y="2705100"/>
            <a:ext cx="1752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-&gt; BERT encoder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-&gt; pooled [CLS] vector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-&gt; softmax over ANAF labels</a:t>
            </a:r>
            <a:endParaRPr/>
          </a:p>
        </p:txBody>
      </p:sp>
      <p:sp>
        <p:nvSpPr>
          <p:cNvPr id="1088" name="Google Shape;1088;p23"/>
          <p:cNvSpPr/>
          <p:nvPr/>
        </p:nvSpPr>
        <p:spPr>
          <a:xfrm>
            <a:off x="9525000" y="4000500"/>
            <a:ext cx="1028700" cy="21336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3"/>
          <p:cNvSpPr/>
          <p:nvPr/>
        </p:nvSpPr>
        <p:spPr>
          <a:xfrm>
            <a:off x="9601200" y="4048125"/>
            <a:ext cx="8763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1090" name="Google Shape;1090;p23"/>
          <p:cNvSpPr/>
          <p:nvPr/>
        </p:nvSpPr>
        <p:spPr>
          <a:xfrm>
            <a:off x="10553700" y="4000500"/>
            <a:ext cx="723900" cy="21336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23"/>
          <p:cNvSpPr/>
          <p:nvPr/>
        </p:nvSpPr>
        <p:spPr>
          <a:xfrm>
            <a:off x="10629900" y="4048125"/>
            <a:ext cx="5715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Prob.</a:t>
            </a:r>
            <a:endParaRPr/>
          </a:p>
        </p:txBody>
      </p:sp>
      <p:sp>
        <p:nvSpPr>
          <p:cNvPr id="1092" name="Google Shape;1092;p23"/>
          <p:cNvSpPr/>
          <p:nvPr/>
        </p:nvSpPr>
        <p:spPr>
          <a:xfrm>
            <a:off x="9525000" y="4213860"/>
            <a:ext cx="1028700" cy="213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3"/>
          <p:cNvSpPr/>
          <p:nvPr/>
        </p:nvSpPr>
        <p:spPr>
          <a:xfrm>
            <a:off x="9601200" y="4261485"/>
            <a:ext cx="8763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 6201</a:t>
            </a:r>
            <a:endParaRPr/>
          </a:p>
        </p:txBody>
      </p:sp>
      <p:sp>
        <p:nvSpPr>
          <p:cNvPr id="1094" name="Google Shape;1094;p23"/>
          <p:cNvSpPr/>
          <p:nvPr/>
        </p:nvSpPr>
        <p:spPr>
          <a:xfrm>
            <a:off x="10553700" y="4213860"/>
            <a:ext cx="723900" cy="213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3"/>
          <p:cNvSpPr/>
          <p:nvPr/>
        </p:nvSpPr>
        <p:spPr>
          <a:xfrm>
            <a:off x="10629900" y="4261485"/>
            <a:ext cx="5715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/>
          </a:p>
        </p:txBody>
      </p:sp>
      <p:sp>
        <p:nvSpPr>
          <p:cNvPr id="1096" name="Google Shape;1096;p23"/>
          <p:cNvSpPr/>
          <p:nvPr/>
        </p:nvSpPr>
        <p:spPr>
          <a:xfrm>
            <a:off x="9525000" y="4427220"/>
            <a:ext cx="1028700" cy="21336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3"/>
          <p:cNvSpPr/>
          <p:nvPr/>
        </p:nvSpPr>
        <p:spPr>
          <a:xfrm>
            <a:off x="9601200" y="4474845"/>
            <a:ext cx="8763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 6311</a:t>
            </a:r>
            <a:endParaRPr/>
          </a:p>
        </p:txBody>
      </p:sp>
      <p:sp>
        <p:nvSpPr>
          <p:cNvPr id="1098" name="Google Shape;1098;p23"/>
          <p:cNvSpPr/>
          <p:nvPr/>
        </p:nvSpPr>
        <p:spPr>
          <a:xfrm>
            <a:off x="10553700" y="4427220"/>
            <a:ext cx="723900" cy="21336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3"/>
          <p:cNvSpPr/>
          <p:nvPr/>
        </p:nvSpPr>
        <p:spPr>
          <a:xfrm>
            <a:off x="10629900" y="4474845"/>
            <a:ext cx="5715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0.18</a:t>
            </a:r>
            <a:endParaRPr/>
          </a:p>
        </p:txBody>
      </p:sp>
      <p:sp>
        <p:nvSpPr>
          <p:cNvPr id="1100" name="Google Shape;1100;p23"/>
          <p:cNvSpPr/>
          <p:nvPr/>
        </p:nvSpPr>
        <p:spPr>
          <a:xfrm>
            <a:off x="9525000" y="4640580"/>
            <a:ext cx="1028700" cy="213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3"/>
          <p:cNvSpPr/>
          <p:nvPr/>
        </p:nvSpPr>
        <p:spPr>
          <a:xfrm>
            <a:off x="9601200" y="4688205"/>
            <a:ext cx="8763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 7020</a:t>
            </a:r>
            <a:endParaRPr/>
          </a:p>
        </p:txBody>
      </p:sp>
      <p:sp>
        <p:nvSpPr>
          <p:cNvPr id="1102" name="Google Shape;1102;p23"/>
          <p:cNvSpPr/>
          <p:nvPr/>
        </p:nvSpPr>
        <p:spPr>
          <a:xfrm>
            <a:off x="10553700" y="4640580"/>
            <a:ext cx="723900" cy="213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3"/>
          <p:cNvSpPr/>
          <p:nvPr/>
        </p:nvSpPr>
        <p:spPr>
          <a:xfrm>
            <a:off x="10629900" y="4688205"/>
            <a:ext cx="5715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0.07</a:t>
            </a:r>
            <a:endParaRPr/>
          </a:p>
        </p:txBody>
      </p:sp>
      <p:sp>
        <p:nvSpPr>
          <p:cNvPr id="1104" name="Google Shape;1104;p23"/>
          <p:cNvSpPr/>
          <p:nvPr/>
        </p:nvSpPr>
        <p:spPr>
          <a:xfrm>
            <a:off x="9525000" y="4853940"/>
            <a:ext cx="1028700" cy="21336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3"/>
          <p:cNvSpPr/>
          <p:nvPr/>
        </p:nvSpPr>
        <p:spPr>
          <a:xfrm>
            <a:off x="9601200" y="4901565"/>
            <a:ext cx="8763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</p:txBody>
      </p:sp>
      <p:sp>
        <p:nvSpPr>
          <p:cNvPr id="1106" name="Google Shape;1106;p23"/>
          <p:cNvSpPr/>
          <p:nvPr/>
        </p:nvSpPr>
        <p:spPr>
          <a:xfrm>
            <a:off x="10553700" y="4853940"/>
            <a:ext cx="723900" cy="21336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3"/>
          <p:cNvSpPr/>
          <p:nvPr/>
        </p:nvSpPr>
        <p:spPr>
          <a:xfrm>
            <a:off x="10629900" y="4901565"/>
            <a:ext cx="571500" cy="11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0.13</a:t>
            </a:r>
            <a:endParaRPr/>
          </a:p>
        </p:txBody>
      </p:sp>
      <p:sp>
        <p:nvSpPr>
          <p:cNvPr id="1108" name="Google Shape;1108;p23"/>
          <p:cNvSpPr/>
          <p:nvPr/>
        </p:nvSpPr>
        <p:spPr>
          <a:xfrm>
            <a:off x="1638300" y="5676900"/>
            <a:ext cx="8915400" cy="552450"/>
          </a:xfrm>
          <a:prstGeom prst="roundRect">
            <a:avLst>
              <a:gd fmla="val 1379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3"/>
          <p:cNvSpPr/>
          <p:nvPr/>
        </p:nvSpPr>
        <p:spPr>
          <a:xfrm>
            <a:off x="1638300" y="5676900"/>
            <a:ext cx="57150" cy="5524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3"/>
          <p:cNvSpPr/>
          <p:nvPr/>
        </p:nvSpPr>
        <p:spPr>
          <a:xfrm>
            <a:off x="1847850" y="5791200"/>
            <a:ext cx="855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Important modeling choice</a:t>
            </a:r>
            <a:endParaRPr/>
          </a:p>
        </p:txBody>
      </p:sp>
      <p:sp>
        <p:nvSpPr>
          <p:cNvPr id="1111" name="Google Shape;1111;p23"/>
          <p:cNvSpPr/>
          <p:nvPr/>
        </p:nvSpPr>
        <p:spPr>
          <a:xfrm>
            <a:off x="1847850" y="6038850"/>
            <a:ext cx="8553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Prototype both: one labeled sequence, and BERT embedding + separate tabular features.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7" name="Google Shape;1117;p24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8" name="Google Shape;1118;p24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119" name="Google Shape;1119;p24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1120" name="Google Shape;1120;p24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BRANCH LANDSCAPE</a:t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609600" y="742950"/>
            <a:ext cx="10972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Manual volume concentrates in a few high-impact branch groups</a:t>
            </a:r>
            <a:endParaRPr/>
          </a:p>
        </p:txBody>
      </p:sp>
      <p:sp>
        <p:nvSpPr>
          <p:cNvPr id="1122" name="Google Shape;1122;p24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Branch-aware diagnostics are necessary because difficulty and source reliability vary by sector.</a:t>
            </a:r>
            <a:endParaRPr/>
          </a:p>
        </p:txBody>
      </p:sp>
      <p:graphicFrame>
        <p:nvGraphicFramePr>
          <p:cNvPr id="1123" name="Google Shape;1123;p24"/>
          <p:cNvGraphicFramePr/>
          <p:nvPr/>
        </p:nvGraphicFramePr>
        <p:xfrm>
          <a:off x="876300" y="2076450"/>
          <a:ext cx="7239000" cy="3333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24" name="Google Shape;1124;p24"/>
          <p:cNvSpPr/>
          <p:nvPr/>
        </p:nvSpPr>
        <p:spPr>
          <a:xfrm>
            <a:off x="876300" y="54673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number of manual-analysis rows. Y-axis: high-impact branch group.</a:t>
            </a:r>
            <a:endParaRPr/>
          </a:p>
        </p:txBody>
      </p:sp>
      <p:sp>
        <p:nvSpPr>
          <p:cNvPr id="1125" name="Google Shape;1125;p24"/>
          <p:cNvSpPr/>
          <p:nvPr/>
        </p:nvSpPr>
        <p:spPr>
          <a:xfrm>
            <a:off x="8705850" y="2266950"/>
            <a:ext cx="2190750" cy="10287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8877300" y="2438400"/>
            <a:ext cx="1847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Trade</a:t>
            </a:r>
            <a:endParaRPr/>
          </a:p>
        </p:txBody>
      </p:sp>
      <p:sp>
        <p:nvSpPr>
          <p:cNvPr id="1127" name="Google Shape;1127;p24"/>
          <p:cNvSpPr/>
          <p:nvPr/>
        </p:nvSpPr>
        <p:spPr>
          <a:xfrm>
            <a:off x="8877300" y="291465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Largest branch </a:t>
            </a:r>
            <a:r>
              <a:rPr b="1" lang="en-US" sz="1300">
                <a:solidFill>
                  <a:srgbClr val="FF0000"/>
                </a:solidFill>
              </a:rPr>
              <a:t>19.1%</a:t>
            </a:r>
            <a:endParaRPr b="1" sz="1800"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4202D"/>
              </a:solidFill>
            </a:endParaRPr>
          </a:p>
        </p:txBody>
      </p:sp>
      <p:sp>
        <p:nvSpPr>
          <p:cNvPr id="1128" name="Google Shape;1128;p24"/>
          <p:cNvSpPr/>
          <p:nvPr/>
        </p:nvSpPr>
        <p:spPr>
          <a:xfrm>
            <a:off x="8877300" y="323850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41,146 manual rows</a:t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8705850" y="3638550"/>
            <a:ext cx="2190750" cy="10287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4"/>
          <p:cNvSpPr/>
          <p:nvPr/>
        </p:nvSpPr>
        <p:spPr>
          <a:xfrm>
            <a:off x="8877300" y="3810000"/>
            <a:ext cx="1847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14.0%</a:t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8877300" y="428625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Construction</a:t>
            </a:r>
            <a:endParaRPr/>
          </a:p>
        </p:txBody>
      </p:sp>
      <p:sp>
        <p:nvSpPr>
          <p:cNvPr id="1132" name="Google Shape;1132;p24"/>
          <p:cNvSpPr/>
          <p:nvPr/>
        </p:nvSpPr>
        <p:spPr>
          <a:xfrm>
            <a:off x="8877300" y="461010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of manual population</a:t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8705850" y="5010150"/>
            <a:ext cx="2190750" cy="10287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4"/>
          <p:cNvSpPr/>
          <p:nvPr/>
        </p:nvSpPr>
        <p:spPr>
          <a:xfrm>
            <a:off x="8877300" y="5181600"/>
            <a:ext cx="1847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8.4%</a:t>
            </a:r>
            <a:endParaRPr/>
          </a:p>
        </p:txBody>
      </p:sp>
      <p:sp>
        <p:nvSpPr>
          <p:cNvPr id="1135" name="Google Shape;1135;p24"/>
          <p:cNvSpPr/>
          <p:nvPr/>
        </p:nvSpPr>
        <p:spPr>
          <a:xfrm>
            <a:off x="8877300" y="565785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High-tech/ICT/R&amp;D</a:t>
            </a:r>
            <a:endParaRPr/>
          </a:p>
        </p:txBody>
      </p:sp>
      <p:sp>
        <p:nvSpPr>
          <p:cNvPr id="1136" name="Google Shape;1136;p24"/>
          <p:cNvSpPr/>
          <p:nvPr/>
        </p:nvSpPr>
        <p:spPr>
          <a:xfrm>
            <a:off x="8877300" y="5981700"/>
            <a:ext cx="1847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 share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2" name="Google Shape;1142;p25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3" name="Google Shape;1143;p25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144" name="Google Shape;1144;p25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1145" name="Google Shape;1145;p25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BRANCH CODE MAP</a:t>
            </a:r>
            <a:endParaRPr/>
          </a:p>
        </p:txBody>
      </p:sp>
      <p:sp>
        <p:nvSpPr>
          <p:cNvPr id="1146" name="Google Shape;1146;p25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High-impact branch groups are built from ANAF prefix ranges</a:t>
            </a:r>
            <a:endParaRPr/>
          </a:p>
        </p:txBody>
      </p:sp>
      <p:sp>
        <p:nvSpPr>
          <p:cNvPr id="1147" name="Google Shape;1147;p25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deck groups four-digit targets into interpretable sectors so branch-level diagnostics are stable and readable.</a:t>
            </a:r>
            <a:endParaRPr/>
          </a:p>
        </p:txBody>
      </p:sp>
      <p:sp>
        <p:nvSpPr>
          <p:cNvPr id="1148" name="Google Shape;1148;p25"/>
          <p:cNvSpPr/>
          <p:nvPr/>
        </p:nvSpPr>
        <p:spPr>
          <a:xfrm>
            <a:off x="800100" y="1962150"/>
            <a:ext cx="2571750" cy="44529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5"/>
          <p:cNvSpPr/>
          <p:nvPr/>
        </p:nvSpPr>
        <p:spPr>
          <a:xfrm>
            <a:off x="876300" y="2009775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endParaRPr/>
          </a:p>
        </p:txBody>
      </p:sp>
      <p:sp>
        <p:nvSpPr>
          <p:cNvPr id="1150" name="Google Shape;1150;p25"/>
          <p:cNvSpPr/>
          <p:nvPr/>
        </p:nvSpPr>
        <p:spPr>
          <a:xfrm>
            <a:off x="3371850" y="1962150"/>
            <a:ext cx="2000250" cy="44529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5"/>
          <p:cNvSpPr/>
          <p:nvPr/>
        </p:nvSpPr>
        <p:spPr>
          <a:xfrm>
            <a:off x="3448050" y="2009775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 prefix rule</a:t>
            </a: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5372100" y="1962150"/>
            <a:ext cx="6019800" cy="44529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5"/>
          <p:cNvSpPr/>
          <p:nvPr/>
        </p:nvSpPr>
        <p:spPr>
          <a:xfrm>
            <a:off x="5448300" y="2009775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800100" y="2407444"/>
            <a:ext cx="25717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5"/>
          <p:cNvSpPr/>
          <p:nvPr/>
        </p:nvSpPr>
        <p:spPr>
          <a:xfrm>
            <a:off x="876300" y="2455069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</p:txBody>
      </p:sp>
      <p:sp>
        <p:nvSpPr>
          <p:cNvPr id="1156" name="Google Shape;1156;p25"/>
          <p:cNvSpPr/>
          <p:nvPr/>
        </p:nvSpPr>
        <p:spPr>
          <a:xfrm>
            <a:off x="3371850" y="2407444"/>
            <a:ext cx="20002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5"/>
          <p:cNvSpPr/>
          <p:nvPr/>
        </p:nvSpPr>
        <p:spPr>
          <a:xfrm>
            <a:off x="3448050" y="2455069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10-33</a:t>
            </a:r>
            <a:endParaRPr/>
          </a:p>
        </p:txBody>
      </p:sp>
      <p:sp>
        <p:nvSpPr>
          <p:cNvPr id="1158" name="Google Shape;1158;p25"/>
          <p:cNvSpPr/>
          <p:nvPr/>
        </p:nvSpPr>
        <p:spPr>
          <a:xfrm>
            <a:off x="5372100" y="2407444"/>
            <a:ext cx="601980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5"/>
          <p:cNvSpPr/>
          <p:nvPr/>
        </p:nvSpPr>
        <p:spPr>
          <a:xfrm>
            <a:off x="5448300" y="2455069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many sub-activities and high target variety</a:t>
            </a:r>
            <a:endParaRPr/>
          </a:p>
        </p:txBody>
      </p:sp>
      <p:sp>
        <p:nvSpPr>
          <p:cNvPr id="1160" name="Google Shape;1160;p25"/>
          <p:cNvSpPr/>
          <p:nvPr/>
        </p:nvSpPr>
        <p:spPr>
          <a:xfrm>
            <a:off x="800100" y="2852738"/>
            <a:ext cx="25717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5"/>
          <p:cNvSpPr/>
          <p:nvPr/>
        </p:nvSpPr>
        <p:spPr>
          <a:xfrm>
            <a:off x="876300" y="2900363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Construction</a:t>
            </a:r>
            <a:endParaRPr/>
          </a:p>
        </p:txBody>
      </p:sp>
      <p:sp>
        <p:nvSpPr>
          <p:cNvPr id="1162" name="Google Shape;1162;p25"/>
          <p:cNvSpPr/>
          <p:nvPr/>
        </p:nvSpPr>
        <p:spPr>
          <a:xfrm>
            <a:off x="3371850" y="2852738"/>
            <a:ext cx="20002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5"/>
          <p:cNvSpPr/>
          <p:nvPr/>
        </p:nvSpPr>
        <p:spPr>
          <a:xfrm>
            <a:off x="3448050" y="2900363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41-43</a:t>
            </a:r>
            <a:endParaRPr/>
          </a:p>
        </p:txBody>
      </p:sp>
      <p:sp>
        <p:nvSpPr>
          <p:cNvPr id="1164" name="Google Shape;1164;p25"/>
          <p:cNvSpPr/>
          <p:nvPr/>
        </p:nvSpPr>
        <p:spPr>
          <a:xfrm>
            <a:off x="5372100" y="2852738"/>
            <a:ext cx="601980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5"/>
          <p:cNvSpPr/>
          <p:nvPr/>
        </p:nvSpPr>
        <p:spPr>
          <a:xfrm>
            <a:off x="5448300" y="2900363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large manual volume and source-code baseline relevance</a:t>
            </a:r>
            <a:endParaRPr/>
          </a:p>
        </p:txBody>
      </p:sp>
      <p:sp>
        <p:nvSpPr>
          <p:cNvPr id="1166" name="Google Shape;1166;p25"/>
          <p:cNvSpPr/>
          <p:nvPr/>
        </p:nvSpPr>
        <p:spPr>
          <a:xfrm>
            <a:off x="800100" y="3298031"/>
            <a:ext cx="25717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5"/>
          <p:cNvSpPr/>
          <p:nvPr/>
        </p:nvSpPr>
        <p:spPr>
          <a:xfrm>
            <a:off x="876300" y="3345656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/>
          </a:p>
        </p:txBody>
      </p:sp>
      <p:sp>
        <p:nvSpPr>
          <p:cNvPr id="1168" name="Google Shape;1168;p25"/>
          <p:cNvSpPr/>
          <p:nvPr/>
        </p:nvSpPr>
        <p:spPr>
          <a:xfrm>
            <a:off x="3371850" y="3298031"/>
            <a:ext cx="20002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5"/>
          <p:cNvSpPr/>
          <p:nvPr/>
        </p:nvSpPr>
        <p:spPr>
          <a:xfrm>
            <a:off x="3448050" y="3345656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45-47</a:t>
            </a:r>
            <a:endParaRPr/>
          </a:p>
        </p:txBody>
      </p:sp>
      <p:sp>
        <p:nvSpPr>
          <p:cNvPr id="1170" name="Google Shape;1170;p25"/>
          <p:cNvSpPr/>
          <p:nvPr/>
        </p:nvSpPr>
        <p:spPr>
          <a:xfrm>
            <a:off x="5372100" y="3298031"/>
            <a:ext cx="601980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5"/>
          <p:cNvSpPr/>
          <p:nvPr/>
        </p:nvSpPr>
        <p:spPr>
          <a:xfrm>
            <a:off x="5448300" y="3345656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largest manual branch; high operational payoff</a:t>
            </a:r>
            <a:endParaRPr/>
          </a:p>
        </p:txBody>
      </p:sp>
      <p:sp>
        <p:nvSpPr>
          <p:cNvPr id="1172" name="Google Shape;1172;p25"/>
          <p:cNvSpPr/>
          <p:nvPr/>
        </p:nvSpPr>
        <p:spPr>
          <a:xfrm>
            <a:off x="800100" y="3743325"/>
            <a:ext cx="25717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5"/>
          <p:cNvSpPr/>
          <p:nvPr/>
        </p:nvSpPr>
        <p:spPr>
          <a:xfrm>
            <a:off x="876300" y="3790950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High-tech / ICT / R&amp;D</a:t>
            </a:r>
            <a:endParaRPr/>
          </a:p>
        </p:txBody>
      </p:sp>
      <p:sp>
        <p:nvSpPr>
          <p:cNvPr id="1174" name="Google Shape;1174;p25"/>
          <p:cNvSpPr/>
          <p:nvPr/>
        </p:nvSpPr>
        <p:spPr>
          <a:xfrm>
            <a:off x="3371850" y="3743325"/>
            <a:ext cx="20002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3448050" y="3790950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58-63 plus 721</a:t>
            </a:r>
            <a:endParaRPr/>
          </a:p>
        </p:txBody>
      </p:sp>
      <p:sp>
        <p:nvSpPr>
          <p:cNvPr id="1176" name="Google Shape;1176;p25"/>
          <p:cNvSpPr/>
          <p:nvPr/>
        </p:nvSpPr>
        <p:spPr>
          <a:xfrm>
            <a:off x="5372100" y="3743325"/>
            <a:ext cx="601980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5"/>
          <p:cNvSpPr/>
          <p:nvPr/>
        </p:nvSpPr>
        <p:spPr>
          <a:xfrm>
            <a:off x="5448300" y="3790950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text/name ambiguity and source disagreement</a:t>
            </a:r>
            <a:endParaRPr/>
          </a:p>
        </p:txBody>
      </p:sp>
      <p:sp>
        <p:nvSpPr>
          <p:cNvPr id="1178" name="Google Shape;1178;p25"/>
          <p:cNvSpPr/>
          <p:nvPr/>
        </p:nvSpPr>
        <p:spPr>
          <a:xfrm>
            <a:off x="800100" y="4188619"/>
            <a:ext cx="25717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876300" y="4236244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Professional / scientific</a:t>
            </a:r>
            <a:endParaRPr/>
          </a:p>
        </p:txBody>
      </p:sp>
      <p:sp>
        <p:nvSpPr>
          <p:cNvPr id="1180" name="Google Shape;1180;p25"/>
          <p:cNvSpPr/>
          <p:nvPr/>
        </p:nvSpPr>
        <p:spPr>
          <a:xfrm>
            <a:off x="3371850" y="4188619"/>
            <a:ext cx="20002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5"/>
          <p:cNvSpPr/>
          <p:nvPr/>
        </p:nvSpPr>
        <p:spPr>
          <a:xfrm>
            <a:off x="3448050" y="4236244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69-75</a:t>
            </a:r>
            <a:endParaRPr/>
          </a:p>
        </p:txBody>
      </p:sp>
      <p:sp>
        <p:nvSpPr>
          <p:cNvPr id="1182" name="Google Shape;1182;p25"/>
          <p:cNvSpPr/>
          <p:nvPr/>
        </p:nvSpPr>
        <p:spPr>
          <a:xfrm>
            <a:off x="5372100" y="4188619"/>
            <a:ext cx="601980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5"/>
          <p:cNvSpPr/>
          <p:nvPr/>
        </p:nvSpPr>
        <p:spPr>
          <a:xfrm>
            <a:off x="5448300" y="4236244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large but relatively stronger source baselines</a:t>
            </a:r>
            <a:endParaRPr/>
          </a:p>
        </p:txBody>
      </p:sp>
      <p:sp>
        <p:nvSpPr>
          <p:cNvPr id="1184" name="Google Shape;1184;p25"/>
          <p:cNvSpPr/>
          <p:nvPr/>
        </p:nvSpPr>
        <p:spPr>
          <a:xfrm>
            <a:off x="800100" y="4633913"/>
            <a:ext cx="25717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5"/>
          <p:cNvSpPr/>
          <p:nvPr/>
        </p:nvSpPr>
        <p:spPr>
          <a:xfrm>
            <a:off x="876300" y="4681538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/>
          </a:p>
        </p:txBody>
      </p:sp>
      <p:sp>
        <p:nvSpPr>
          <p:cNvPr id="1186" name="Google Shape;1186;p25"/>
          <p:cNvSpPr/>
          <p:nvPr/>
        </p:nvSpPr>
        <p:spPr>
          <a:xfrm>
            <a:off x="3371850" y="4633913"/>
            <a:ext cx="200025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5"/>
          <p:cNvSpPr/>
          <p:nvPr/>
        </p:nvSpPr>
        <p:spPr>
          <a:xfrm>
            <a:off x="3448050" y="4681538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/>
          </a:p>
        </p:txBody>
      </p:sp>
      <p:sp>
        <p:nvSpPr>
          <p:cNvPr id="1188" name="Google Shape;1188;p25"/>
          <p:cNvSpPr/>
          <p:nvPr/>
        </p:nvSpPr>
        <p:spPr>
          <a:xfrm>
            <a:off x="5372100" y="4633913"/>
            <a:ext cx="6019800" cy="44529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5"/>
          <p:cNvSpPr/>
          <p:nvPr/>
        </p:nvSpPr>
        <p:spPr>
          <a:xfrm>
            <a:off x="5448300" y="4681538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semantic similarity across subtypes</a:t>
            </a:r>
            <a:endParaRPr/>
          </a:p>
        </p:txBody>
      </p:sp>
      <p:sp>
        <p:nvSpPr>
          <p:cNvPr id="1190" name="Google Shape;1190;p25"/>
          <p:cNvSpPr/>
          <p:nvPr/>
        </p:nvSpPr>
        <p:spPr>
          <a:xfrm>
            <a:off x="800100" y="5079206"/>
            <a:ext cx="25717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5"/>
          <p:cNvSpPr/>
          <p:nvPr/>
        </p:nvSpPr>
        <p:spPr>
          <a:xfrm>
            <a:off x="876300" y="5126831"/>
            <a:ext cx="24193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Health / social</a:t>
            </a:r>
            <a:endParaRPr/>
          </a:p>
        </p:txBody>
      </p:sp>
      <p:sp>
        <p:nvSpPr>
          <p:cNvPr id="1192" name="Google Shape;1192;p25"/>
          <p:cNvSpPr/>
          <p:nvPr/>
        </p:nvSpPr>
        <p:spPr>
          <a:xfrm>
            <a:off x="3371850" y="5079206"/>
            <a:ext cx="200025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5"/>
          <p:cNvSpPr/>
          <p:nvPr/>
        </p:nvSpPr>
        <p:spPr>
          <a:xfrm>
            <a:off x="3448050" y="5126831"/>
            <a:ext cx="184785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86-88</a:t>
            </a:r>
            <a:endParaRPr/>
          </a:p>
        </p:txBody>
      </p:sp>
      <p:sp>
        <p:nvSpPr>
          <p:cNvPr id="1194" name="Google Shape;1194;p25"/>
          <p:cNvSpPr/>
          <p:nvPr/>
        </p:nvSpPr>
        <p:spPr>
          <a:xfrm>
            <a:off x="5372100" y="5079206"/>
            <a:ext cx="6019800" cy="44529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5"/>
          <p:cNvSpPr/>
          <p:nvPr/>
        </p:nvSpPr>
        <p:spPr>
          <a:xfrm>
            <a:off x="5448300" y="5126831"/>
            <a:ext cx="58674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institutional names and employer context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1" name="Google Shape;1201;p26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2" name="Google Shape;1202;p26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203" name="Google Shape;1203;p26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1204" name="Google Shape;1204;p26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DIFFICULTY PROXY</a:t>
            </a:r>
            <a:endParaRPr/>
          </a:p>
        </p:txBody>
      </p:sp>
      <p:sp>
        <p:nvSpPr>
          <p:cNvPr id="1205" name="Google Shape;1205;p26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Manufacturing, trade, and high-tech/ICT/R&amp;D are among the harder groups</a:t>
            </a:r>
            <a:endParaRPr/>
          </a:p>
        </p:txBody>
      </p:sp>
      <p:sp>
        <p:nvSpPr>
          <p:cNvPr id="1206" name="Google Shape;1206;p26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Difficulty is a proxy combining manual share, label diversity, and source-match weakness.</a:t>
            </a:r>
            <a:endParaRPr/>
          </a:p>
        </p:txBody>
      </p:sp>
      <p:graphicFrame>
        <p:nvGraphicFramePr>
          <p:cNvPr id="1207" name="Google Shape;1207;p26"/>
          <p:cNvGraphicFramePr/>
          <p:nvPr/>
        </p:nvGraphicFramePr>
        <p:xfrm>
          <a:off x="895350" y="2076450"/>
          <a:ext cx="7715250" cy="3333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08" name="Google Shape;1208;p26"/>
          <p:cNvSpPr/>
          <p:nvPr/>
        </p:nvSpPr>
        <p:spPr>
          <a:xfrm>
            <a:off x="895350" y="5467350"/>
            <a:ext cx="7715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composite difficulty proxy. Y-axis: high-impact branch group.</a:t>
            </a:r>
            <a:endParaRPr/>
          </a:p>
        </p:txBody>
      </p:sp>
      <p:sp>
        <p:nvSpPr>
          <p:cNvPr id="1209" name="Google Shape;1209;p26"/>
          <p:cNvSpPr/>
          <p:nvPr/>
        </p:nvSpPr>
        <p:spPr>
          <a:xfrm>
            <a:off x="8991600" y="2209800"/>
            <a:ext cx="523875" cy="397329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6"/>
          <p:cNvSpPr/>
          <p:nvPr/>
        </p:nvSpPr>
        <p:spPr>
          <a:xfrm>
            <a:off x="9067800" y="2257425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</p:txBody>
      </p:sp>
      <p:sp>
        <p:nvSpPr>
          <p:cNvPr id="1211" name="Google Shape;1211;p26"/>
          <p:cNvSpPr/>
          <p:nvPr/>
        </p:nvSpPr>
        <p:spPr>
          <a:xfrm>
            <a:off x="9515475" y="2209800"/>
            <a:ext cx="1238250" cy="397329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6"/>
          <p:cNvSpPr/>
          <p:nvPr/>
        </p:nvSpPr>
        <p:spPr>
          <a:xfrm>
            <a:off x="9591675" y="2257425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</a:t>
            </a:r>
            <a:endParaRPr/>
          </a:p>
        </p:txBody>
      </p:sp>
      <p:sp>
        <p:nvSpPr>
          <p:cNvPr id="1213" name="Google Shape;1213;p26"/>
          <p:cNvSpPr/>
          <p:nvPr/>
        </p:nvSpPr>
        <p:spPr>
          <a:xfrm>
            <a:off x="10753725" y="2209800"/>
            <a:ext cx="619125" cy="397329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26"/>
          <p:cNvSpPr/>
          <p:nvPr/>
        </p:nvSpPr>
        <p:spPr>
          <a:xfrm>
            <a:off x="10829925" y="2257425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rows</a:t>
            </a:r>
            <a:endParaRPr/>
          </a:p>
        </p:txBody>
      </p:sp>
      <p:sp>
        <p:nvSpPr>
          <p:cNvPr id="1215" name="Google Shape;1215;p26"/>
          <p:cNvSpPr/>
          <p:nvPr/>
        </p:nvSpPr>
        <p:spPr>
          <a:xfrm>
            <a:off x="8991600" y="2607129"/>
            <a:ext cx="52387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6"/>
          <p:cNvSpPr/>
          <p:nvPr/>
        </p:nvSpPr>
        <p:spPr>
          <a:xfrm>
            <a:off x="9067800" y="2654754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17" name="Google Shape;1217;p26"/>
          <p:cNvSpPr/>
          <p:nvPr/>
        </p:nvSpPr>
        <p:spPr>
          <a:xfrm>
            <a:off x="9515475" y="2607129"/>
            <a:ext cx="1238250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26"/>
          <p:cNvSpPr/>
          <p:nvPr/>
        </p:nvSpPr>
        <p:spPr>
          <a:xfrm>
            <a:off x="9591675" y="2654754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</p:txBody>
      </p:sp>
      <p:sp>
        <p:nvSpPr>
          <p:cNvPr id="1219" name="Google Shape;1219;p26"/>
          <p:cNvSpPr/>
          <p:nvPr/>
        </p:nvSpPr>
        <p:spPr>
          <a:xfrm>
            <a:off x="10753725" y="2607129"/>
            <a:ext cx="61912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26"/>
          <p:cNvSpPr/>
          <p:nvPr/>
        </p:nvSpPr>
        <p:spPr>
          <a:xfrm>
            <a:off x="10829925" y="2654754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10,936</a:t>
            </a:r>
            <a:endParaRPr/>
          </a:p>
        </p:txBody>
      </p:sp>
      <p:sp>
        <p:nvSpPr>
          <p:cNvPr id="1221" name="Google Shape;1221;p26"/>
          <p:cNvSpPr/>
          <p:nvPr/>
        </p:nvSpPr>
        <p:spPr>
          <a:xfrm>
            <a:off x="8991600" y="3004457"/>
            <a:ext cx="52387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6"/>
          <p:cNvSpPr/>
          <p:nvPr/>
        </p:nvSpPr>
        <p:spPr>
          <a:xfrm>
            <a:off x="9067800" y="3052082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23" name="Google Shape;1223;p26"/>
          <p:cNvSpPr/>
          <p:nvPr/>
        </p:nvSpPr>
        <p:spPr>
          <a:xfrm>
            <a:off x="9515475" y="3004457"/>
            <a:ext cx="1238250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6"/>
          <p:cNvSpPr/>
          <p:nvPr/>
        </p:nvSpPr>
        <p:spPr>
          <a:xfrm>
            <a:off x="9591675" y="3052082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</p:txBody>
      </p:sp>
      <p:sp>
        <p:nvSpPr>
          <p:cNvPr id="1225" name="Google Shape;1225;p26"/>
          <p:cNvSpPr/>
          <p:nvPr/>
        </p:nvSpPr>
        <p:spPr>
          <a:xfrm>
            <a:off x="10753725" y="3004457"/>
            <a:ext cx="61912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6"/>
          <p:cNvSpPr/>
          <p:nvPr/>
        </p:nvSpPr>
        <p:spPr>
          <a:xfrm>
            <a:off x="10829925" y="3052082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17,239</a:t>
            </a:r>
            <a:endParaRPr/>
          </a:p>
        </p:txBody>
      </p:sp>
      <p:sp>
        <p:nvSpPr>
          <p:cNvPr id="1227" name="Google Shape;1227;p26"/>
          <p:cNvSpPr/>
          <p:nvPr/>
        </p:nvSpPr>
        <p:spPr>
          <a:xfrm>
            <a:off x="8991600" y="3401786"/>
            <a:ext cx="52387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6"/>
          <p:cNvSpPr/>
          <p:nvPr/>
        </p:nvSpPr>
        <p:spPr>
          <a:xfrm>
            <a:off x="9067800" y="3449411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29" name="Google Shape;1229;p26"/>
          <p:cNvSpPr/>
          <p:nvPr/>
        </p:nvSpPr>
        <p:spPr>
          <a:xfrm>
            <a:off x="9515475" y="3401786"/>
            <a:ext cx="1238250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6"/>
          <p:cNvSpPr/>
          <p:nvPr/>
        </p:nvSpPr>
        <p:spPr>
          <a:xfrm>
            <a:off x="9591675" y="3449411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/>
          </a:p>
        </p:txBody>
      </p:sp>
      <p:sp>
        <p:nvSpPr>
          <p:cNvPr id="1231" name="Google Shape;1231;p26"/>
          <p:cNvSpPr/>
          <p:nvPr/>
        </p:nvSpPr>
        <p:spPr>
          <a:xfrm>
            <a:off x="10753725" y="3401786"/>
            <a:ext cx="61912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6"/>
          <p:cNvSpPr/>
          <p:nvPr/>
        </p:nvSpPr>
        <p:spPr>
          <a:xfrm>
            <a:off x="10829925" y="3449411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41,146</a:t>
            </a:r>
            <a:endParaRPr/>
          </a:p>
        </p:txBody>
      </p:sp>
      <p:sp>
        <p:nvSpPr>
          <p:cNvPr id="1233" name="Google Shape;1233;p26"/>
          <p:cNvSpPr/>
          <p:nvPr/>
        </p:nvSpPr>
        <p:spPr>
          <a:xfrm>
            <a:off x="8991600" y="3799114"/>
            <a:ext cx="52387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6"/>
          <p:cNvSpPr/>
          <p:nvPr/>
        </p:nvSpPr>
        <p:spPr>
          <a:xfrm>
            <a:off x="9067800" y="3846739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35" name="Google Shape;1235;p26"/>
          <p:cNvSpPr/>
          <p:nvPr/>
        </p:nvSpPr>
        <p:spPr>
          <a:xfrm>
            <a:off x="9515475" y="3799114"/>
            <a:ext cx="1238250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26"/>
          <p:cNvSpPr/>
          <p:nvPr/>
        </p:nvSpPr>
        <p:spPr>
          <a:xfrm>
            <a:off x="9591675" y="3846739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 Tech Ict Rd</a:t>
            </a:r>
            <a:endParaRPr/>
          </a:p>
        </p:txBody>
      </p:sp>
      <p:sp>
        <p:nvSpPr>
          <p:cNvPr id="1237" name="Google Shape;1237;p26"/>
          <p:cNvSpPr/>
          <p:nvPr/>
        </p:nvSpPr>
        <p:spPr>
          <a:xfrm>
            <a:off x="10753725" y="3799114"/>
            <a:ext cx="61912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6"/>
          <p:cNvSpPr/>
          <p:nvPr/>
        </p:nvSpPr>
        <p:spPr>
          <a:xfrm>
            <a:off x="10829925" y="3846739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18,140</a:t>
            </a:r>
            <a:endParaRPr/>
          </a:p>
        </p:txBody>
      </p:sp>
      <p:sp>
        <p:nvSpPr>
          <p:cNvPr id="1239" name="Google Shape;1239;p26"/>
          <p:cNvSpPr/>
          <p:nvPr/>
        </p:nvSpPr>
        <p:spPr>
          <a:xfrm>
            <a:off x="8991600" y="4196443"/>
            <a:ext cx="52387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6"/>
          <p:cNvSpPr/>
          <p:nvPr/>
        </p:nvSpPr>
        <p:spPr>
          <a:xfrm>
            <a:off x="9067800" y="4244068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41" name="Google Shape;1241;p26"/>
          <p:cNvSpPr/>
          <p:nvPr/>
        </p:nvSpPr>
        <p:spPr>
          <a:xfrm>
            <a:off x="9515475" y="4196443"/>
            <a:ext cx="1238250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26"/>
          <p:cNvSpPr/>
          <p:nvPr/>
        </p:nvSpPr>
        <p:spPr>
          <a:xfrm>
            <a:off x="9591675" y="4244068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/>
          </a:p>
        </p:txBody>
      </p:sp>
      <p:sp>
        <p:nvSpPr>
          <p:cNvPr id="1243" name="Google Shape;1243;p26"/>
          <p:cNvSpPr/>
          <p:nvPr/>
        </p:nvSpPr>
        <p:spPr>
          <a:xfrm>
            <a:off x="10753725" y="4196443"/>
            <a:ext cx="619125" cy="39732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6"/>
          <p:cNvSpPr/>
          <p:nvPr/>
        </p:nvSpPr>
        <p:spPr>
          <a:xfrm>
            <a:off x="10829925" y="4244068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9,964</a:t>
            </a:r>
            <a:endParaRPr/>
          </a:p>
        </p:txBody>
      </p:sp>
      <p:sp>
        <p:nvSpPr>
          <p:cNvPr id="1245" name="Google Shape;1245;p26"/>
          <p:cNvSpPr/>
          <p:nvPr/>
        </p:nvSpPr>
        <p:spPr>
          <a:xfrm>
            <a:off x="8991600" y="4593771"/>
            <a:ext cx="52387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6"/>
          <p:cNvSpPr/>
          <p:nvPr/>
        </p:nvSpPr>
        <p:spPr>
          <a:xfrm>
            <a:off x="9067800" y="4641396"/>
            <a:ext cx="37147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247" name="Google Shape;1247;p26"/>
          <p:cNvSpPr/>
          <p:nvPr/>
        </p:nvSpPr>
        <p:spPr>
          <a:xfrm>
            <a:off x="9515475" y="4593771"/>
            <a:ext cx="1238250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6"/>
          <p:cNvSpPr/>
          <p:nvPr/>
        </p:nvSpPr>
        <p:spPr>
          <a:xfrm>
            <a:off x="9591675" y="4641396"/>
            <a:ext cx="1085850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Finance Insurance</a:t>
            </a:r>
            <a:endParaRPr/>
          </a:p>
        </p:txBody>
      </p:sp>
      <p:sp>
        <p:nvSpPr>
          <p:cNvPr id="1249" name="Google Shape;1249;p26"/>
          <p:cNvSpPr/>
          <p:nvPr/>
        </p:nvSpPr>
        <p:spPr>
          <a:xfrm>
            <a:off x="10753725" y="4593771"/>
            <a:ext cx="619125" cy="397329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6"/>
          <p:cNvSpPr/>
          <p:nvPr/>
        </p:nvSpPr>
        <p:spPr>
          <a:xfrm>
            <a:off x="10829925" y="4641396"/>
            <a:ext cx="466725" cy="302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5,286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6" name="Google Shape;1256;p27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7" name="Google Shape;1257;p27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258" name="Google Shape;1258;p27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1259" name="Google Shape;1259;p27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DIFFICULTY PROXY FORMULA</a:t>
            </a:r>
            <a:endParaRPr/>
          </a:p>
        </p:txBody>
      </p:sp>
      <p:sp>
        <p:nvSpPr>
          <p:cNvPr id="1260" name="Google Shape;1260;p27"/>
          <p:cNvSpPr/>
          <p:nvPr/>
        </p:nvSpPr>
        <p:spPr>
          <a:xfrm>
            <a:off x="609600" y="742950"/>
            <a:ext cx="10515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score is an EDA prioritization tool, not model accuracy</a:t>
            </a:r>
            <a:endParaRPr/>
          </a:p>
        </p:txBody>
      </p:sp>
      <p:sp>
        <p:nvSpPr>
          <p:cNvPr id="1261" name="Google Shape;1261;p27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It ranks branches that combine large operational burden, many labels, and weak source-code baselines.</a:t>
            </a:r>
            <a:endParaRPr/>
          </a:p>
        </p:txBody>
      </p:sp>
      <p:sp>
        <p:nvSpPr>
          <p:cNvPr id="1262" name="Google Shape;1262;p27"/>
          <p:cNvSpPr/>
          <p:nvPr/>
        </p:nvSpPr>
        <p:spPr>
          <a:xfrm>
            <a:off x="1104900" y="2152650"/>
            <a:ext cx="342900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27"/>
          <p:cNvSpPr/>
          <p:nvPr/>
        </p:nvSpPr>
        <p:spPr>
          <a:xfrm>
            <a:off x="1181100" y="2200275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/>
          </a:p>
        </p:txBody>
      </p:sp>
      <p:sp>
        <p:nvSpPr>
          <p:cNvPr id="1264" name="Google Shape;1264;p27"/>
          <p:cNvSpPr/>
          <p:nvPr/>
        </p:nvSpPr>
        <p:spPr>
          <a:xfrm>
            <a:off x="4533900" y="2152650"/>
            <a:ext cx="133350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7"/>
          <p:cNvSpPr/>
          <p:nvPr/>
        </p:nvSpPr>
        <p:spPr>
          <a:xfrm>
            <a:off x="4610100" y="2200275"/>
            <a:ext cx="118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/>
          </a:p>
        </p:txBody>
      </p:sp>
      <p:sp>
        <p:nvSpPr>
          <p:cNvPr id="1266" name="Google Shape;1266;p27"/>
          <p:cNvSpPr/>
          <p:nvPr/>
        </p:nvSpPr>
        <p:spPr>
          <a:xfrm>
            <a:off x="5867400" y="2152650"/>
            <a:ext cx="521970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7"/>
          <p:cNvSpPr/>
          <p:nvPr/>
        </p:nvSpPr>
        <p:spPr>
          <a:xfrm>
            <a:off x="5943600" y="220027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1268" name="Google Shape;1268;p27"/>
          <p:cNvSpPr/>
          <p:nvPr/>
        </p:nvSpPr>
        <p:spPr>
          <a:xfrm>
            <a:off x="1104900" y="2628900"/>
            <a:ext cx="3429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7"/>
          <p:cNvSpPr/>
          <p:nvPr/>
        </p:nvSpPr>
        <p:spPr>
          <a:xfrm>
            <a:off x="1181100" y="2676525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4-digit weakness</a:t>
            </a:r>
            <a:endParaRPr/>
          </a:p>
        </p:txBody>
      </p:sp>
      <p:sp>
        <p:nvSpPr>
          <p:cNvPr id="1270" name="Google Shape;1270;p27"/>
          <p:cNvSpPr/>
          <p:nvPr/>
        </p:nvSpPr>
        <p:spPr>
          <a:xfrm>
            <a:off x="4533900" y="2628900"/>
            <a:ext cx="1333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27"/>
          <p:cNvSpPr/>
          <p:nvPr/>
        </p:nvSpPr>
        <p:spPr>
          <a:xfrm>
            <a:off x="4610100" y="2676525"/>
            <a:ext cx="118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/>
          </a:p>
        </p:txBody>
      </p:sp>
      <p:sp>
        <p:nvSpPr>
          <p:cNvPr id="1272" name="Google Shape;1272;p27"/>
          <p:cNvSpPr/>
          <p:nvPr/>
        </p:nvSpPr>
        <p:spPr>
          <a:xfrm>
            <a:off x="5867400" y="2628900"/>
            <a:ext cx="52197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7"/>
          <p:cNvSpPr/>
          <p:nvPr/>
        </p:nvSpPr>
        <p:spPr>
          <a:xfrm>
            <a:off x="5943600" y="267652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1 - exact Ma'am/source match rate against the manual target</a:t>
            </a:r>
            <a:endParaRPr/>
          </a:p>
        </p:txBody>
      </p:sp>
      <p:sp>
        <p:nvSpPr>
          <p:cNvPr id="1274" name="Google Shape;1274;p27"/>
          <p:cNvSpPr/>
          <p:nvPr/>
        </p:nvSpPr>
        <p:spPr>
          <a:xfrm>
            <a:off x="1104900" y="3105150"/>
            <a:ext cx="34290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7"/>
          <p:cNvSpPr/>
          <p:nvPr/>
        </p:nvSpPr>
        <p:spPr>
          <a:xfrm>
            <a:off x="1181100" y="3152775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Bituach Leumi 4-digit weakness</a:t>
            </a:r>
            <a:endParaRPr/>
          </a:p>
        </p:txBody>
      </p:sp>
      <p:sp>
        <p:nvSpPr>
          <p:cNvPr id="1276" name="Google Shape;1276;p27"/>
          <p:cNvSpPr/>
          <p:nvPr/>
        </p:nvSpPr>
        <p:spPr>
          <a:xfrm>
            <a:off x="4533900" y="3105150"/>
            <a:ext cx="1333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7"/>
          <p:cNvSpPr/>
          <p:nvPr/>
        </p:nvSpPr>
        <p:spPr>
          <a:xfrm>
            <a:off x="4610100" y="3152775"/>
            <a:ext cx="118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/>
          </a:p>
        </p:txBody>
      </p:sp>
      <p:sp>
        <p:nvSpPr>
          <p:cNvPr id="1278" name="Google Shape;1278;p27"/>
          <p:cNvSpPr/>
          <p:nvPr/>
        </p:nvSpPr>
        <p:spPr>
          <a:xfrm>
            <a:off x="5867400" y="3105150"/>
            <a:ext cx="52197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7"/>
          <p:cNvSpPr/>
          <p:nvPr/>
        </p:nvSpPr>
        <p:spPr>
          <a:xfrm>
            <a:off x="5943600" y="315277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1 - exact Bituach/source match rate against the manual target</a:t>
            </a:r>
            <a:endParaRPr/>
          </a:p>
        </p:txBody>
      </p:sp>
      <p:sp>
        <p:nvSpPr>
          <p:cNvPr id="1280" name="Google Shape;1280;p27"/>
          <p:cNvSpPr/>
          <p:nvPr/>
        </p:nvSpPr>
        <p:spPr>
          <a:xfrm>
            <a:off x="1104900" y="3581400"/>
            <a:ext cx="34290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7"/>
          <p:cNvSpPr/>
          <p:nvPr/>
        </p:nvSpPr>
        <p:spPr>
          <a:xfrm>
            <a:off x="1181100" y="3629025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Target diversity</a:t>
            </a:r>
            <a:endParaRPr/>
          </a:p>
        </p:txBody>
      </p:sp>
      <p:sp>
        <p:nvSpPr>
          <p:cNvPr id="1282" name="Google Shape;1282;p27"/>
          <p:cNvSpPr/>
          <p:nvPr/>
        </p:nvSpPr>
        <p:spPr>
          <a:xfrm>
            <a:off x="4533900" y="3581400"/>
            <a:ext cx="1333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7"/>
          <p:cNvSpPr/>
          <p:nvPr/>
        </p:nvSpPr>
        <p:spPr>
          <a:xfrm>
            <a:off x="4610100" y="3629025"/>
            <a:ext cx="118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1284" name="Google Shape;1284;p27"/>
          <p:cNvSpPr/>
          <p:nvPr/>
        </p:nvSpPr>
        <p:spPr>
          <a:xfrm>
            <a:off x="5867400" y="3581400"/>
            <a:ext cx="52197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27"/>
          <p:cNvSpPr/>
          <p:nvPr/>
        </p:nvSpPr>
        <p:spPr>
          <a:xfrm>
            <a:off x="5943600" y="362902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more unique four-digit targets makes the branch harder</a:t>
            </a:r>
            <a:endParaRPr/>
          </a:p>
        </p:txBody>
      </p:sp>
      <p:sp>
        <p:nvSpPr>
          <p:cNvPr id="1286" name="Google Shape;1286;p27"/>
          <p:cNvSpPr/>
          <p:nvPr/>
        </p:nvSpPr>
        <p:spPr>
          <a:xfrm>
            <a:off x="1104900" y="4057650"/>
            <a:ext cx="34290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7"/>
          <p:cNvSpPr/>
          <p:nvPr/>
        </p:nvSpPr>
        <p:spPr>
          <a:xfrm>
            <a:off x="1181100" y="4105275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Manual-share burden</a:t>
            </a:r>
            <a:endParaRPr/>
          </a:p>
        </p:txBody>
      </p:sp>
      <p:sp>
        <p:nvSpPr>
          <p:cNvPr id="1288" name="Google Shape;1288;p27"/>
          <p:cNvSpPr/>
          <p:nvPr/>
        </p:nvSpPr>
        <p:spPr>
          <a:xfrm>
            <a:off x="4533900" y="4057650"/>
            <a:ext cx="1333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7"/>
          <p:cNvSpPr/>
          <p:nvPr/>
        </p:nvSpPr>
        <p:spPr>
          <a:xfrm>
            <a:off x="4610100" y="4105275"/>
            <a:ext cx="1181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1290" name="Google Shape;1290;p27"/>
          <p:cNvSpPr/>
          <p:nvPr/>
        </p:nvSpPr>
        <p:spPr>
          <a:xfrm>
            <a:off x="5867400" y="4057650"/>
            <a:ext cx="52197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27"/>
          <p:cNvSpPr/>
          <p:nvPr/>
        </p:nvSpPr>
        <p:spPr>
          <a:xfrm>
            <a:off x="5943600" y="4105275"/>
            <a:ext cx="50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branches with a higher manual share require more operational attention</a:t>
            </a:r>
            <a:endParaRPr/>
          </a:p>
        </p:txBody>
      </p:sp>
      <p:sp>
        <p:nvSpPr>
          <p:cNvPr id="1292" name="Google Shape;1292;p27"/>
          <p:cNvSpPr/>
          <p:nvPr/>
        </p:nvSpPr>
        <p:spPr>
          <a:xfrm>
            <a:off x="1714500" y="4972050"/>
            <a:ext cx="87630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7"/>
          <p:cNvSpPr/>
          <p:nvPr/>
        </p:nvSpPr>
        <p:spPr>
          <a:xfrm>
            <a:off x="1714500" y="4972050"/>
            <a:ext cx="57150" cy="68580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7"/>
          <p:cNvSpPr/>
          <p:nvPr/>
        </p:nvSpPr>
        <p:spPr>
          <a:xfrm>
            <a:off x="1924050" y="5086350"/>
            <a:ext cx="840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it carefully</a:t>
            </a:r>
            <a:endParaRPr/>
          </a:p>
        </p:txBody>
      </p:sp>
      <p:sp>
        <p:nvSpPr>
          <p:cNvPr id="1295" name="Google Shape;1295;p27"/>
          <p:cNvSpPr/>
          <p:nvPr/>
        </p:nvSpPr>
        <p:spPr>
          <a:xfrm>
            <a:off x="1924050" y="5334000"/>
            <a:ext cx="8401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score tells us where to inspect first. It does not replace actual validation accuracy, branch-specific confusion matrices, or source-baseline lift.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1" name="Google Shape;1301;p28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2" name="Google Shape;1302;p28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303" name="Google Shape;1303;p28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sp>
        <p:nvSpPr>
          <p:cNvPr id="1304" name="Google Shape;1304;p28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HIGH-IMPACT BRANCH DETAIL</a:t>
            </a:r>
            <a:endParaRPr/>
          </a:p>
        </p:txBody>
      </p:sp>
      <p:sp>
        <p:nvSpPr>
          <p:cNvPr id="1305" name="Google Shape;1305;p28"/>
          <p:cNvSpPr/>
          <p:nvPr/>
        </p:nvSpPr>
        <p:spPr>
          <a:xfrm>
            <a:off x="609600" y="742950"/>
            <a:ext cx="10515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Large branches differ in source reliability and label variety</a:t>
            </a:r>
            <a:endParaRPr/>
          </a:p>
        </p:txBody>
      </p:sp>
      <p:sp>
        <p:nvSpPr>
          <p:cNvPr id="1306" name="Google Shape;1306;p28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This is why a single global metric can hide operational failure modes.</a:t>
            </a:r>
            <a:endParaRPr/>
          </a:p>
        </p:txBody>
      </p:sp>
      <p:sp>
        <p:nvSpPr>
          <p:cNvPr id="1307" name="Google Shape;1307;p28"/>
          <p:cNvSpPr/>
          <p:nvPr/>
        </p:nvSpPr>
        <p:spPr>
          <a:xfrm>
            <a:off x="628650" y="2076450"/>
            <a:ext cx="2617876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8"/>
          <p:cNvSpPr/>
          <p:nvPr/>
        </p:nvSpPr>
        <p:spPr>
          <a:xfrm>
            <a:off x="704850" y="2124075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</a:t>
            </a:r>
            <a:endParaRPr/>
          </a:p>
        </p:txBody>
      </p:sp>
      <p:sp>
        <p:nvSpPr>
          <p:cNvPr id="1309" name="Google Shape;1309;p28"/>
          <p:cNvSpPr/>
          <p:nvPr/>
        </p:nvSpPr>
        <p:spPr>
          <a:xfrm>
            <a:off x="3246526" y="2076450"/>
            <a:ext cx="1782384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8"/>
          <p:cNvSpPr/>
          <p:nvPr/>
        </p:nvSpPr>
        <p:spPr>
          <a:xfrm>
            <a:off x="3322726" y="2124075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rows</a:t>
            </a:r>
            <a:endParaRPr/>
          </a:p>
        </p:txBody>
      </p:sp>
      <p:sp>
        <p:nvSpPr>
          <p:cNvPr id="1311" name="Google Shape;1311;p28"/>
          <p:cNvSpPr/>
          <p:nvPr/>
        </p:nvSpPr>
        <p:spPr>
          <a:xfrm>
            <a:off x="5028910" y="2076450"/>
            <a:ext cx="1670985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8"/>
          <p:cNvSpPr/>
          <p:nvPr/>
        </p:nvSpPr>
        <p:spPr>
          <a:xfrm>
            <a:off x="5105110" y="2124075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share</a:t>
            </a:r>
            <a:endParaRPr/>
          </a:p>
        </p:txBody>
      </p:sp>
      <p:sp>
        <p:nvSpPr>
          <p:cNvPr id="1313" name="Google Shape;1313;p28"/>
          <p:cNvSpPr/>
          <p:nvPr/>
        </p:nvSpPr>
        <p:spPr>
          <a:xfrm>
            <a:off x="6699895" y="2076450"/>
            <a:ext cx="1782384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28"/>
          <p:cNvSpPr/>
          <p:nvPr/>
        </p:nvSpPr>
        <p:spPr>
          <a:xfrm>
            <a:off x="6776095" y="2124075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Unique targets</a:t>
            </a:r>
            <a:endParaRPr/>
          </a:p>
        </p:txBody>
      </p:sp>
      <p:sp>
        <p:nvSpPr>
          <p:cNvPr id="1315" name="Google Shape;1315;p28"/>
          <p:cNvSpPr/>
          <p:nvPr/>
        </p:nvSpPr>
        <p:spPr>
          <a:xfrm>
            <a:off x="8482278" y="2076450"/>
            <a:ext cx="1559586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8"/>
          <p:cNvSpPr/>
          <p:nvPr/>
        </p:nvSpPr>
        <p:spPr>
          <a:xfrm>
            <a:off x="8558478" y="2124075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 4d</a:t>
            </a:r>
            <a:endParaRPr/>
          </a:p>
        </p:txBody>
      </p:sp>
      <p:sp>
        <p:nvSpPr>
          <p:cNvPr id="1317" name="Google Shape;1317;p28"/>
          <p:cNvSpPr/>
          <p:nvPr/>
        </p:nvSpPr>
        <p:spPr>
          <a:xfrm>
            <a:off x="10041864" y="2076450"/>
            <a:ext cx="1559586" cy="408214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8"/>
          <p:cNvSpPr/>
          <p:nvPr/>
        </p:nvSpPr>
        <p:spPr>
          <a:xfrm>
            <a:off x="10118064" y="2124075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Bituach 4d</a:t>
            </a:r>
            <a:endParaRPr/>
          </a:p>
        </p:txBody>
      </p:sp>
      <p:sp>
        <p:nvSpPr>
          <p:cNvPr id="1319" name="Google Shape;1319;p28"/>
          <p:cNvSpPr/>
          <p:nvPr/>
        </p:nvSpPr>
        <p:spPr>
          <a:xfrm>
            <a:off x="628650" y="2484664"/>
            <a:ext cx="261787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8"/>
          <p:cNvSpPr/>
          <p:nvPr/>
        </p:nvSpPr>
        <p:spPr>
          <a:xfrm>
            <a:off x="704850" y="2532289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/>
          </a:p>
        </p:txBody>
      </p:sp>
      <p:sp>
        <p:nvSpPr>
          <p:cNvPr id="1321" name="Google Shape;1321;p28"/>
          <p:cNvSpPr/>
          <p:nvPr/>
        </p:nvSpPr>
        <p:spPr>
          <a:xfrm>
            <a:off x="3246526" y="2484664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28"/>
          <p:cNvSpPr/>
          <p:nvPr/>
        </p:nvSpPr>
        <p:spPr>
          <a:xfrm>
            <a:off x="3322726" y="2532289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41,146</a:t>
            </a:r>
            <a:endParaRPr/>
          </a:p>
        </p:txBody>
      </p:sp>
      <p:sp>
        <p:nvSpPr>
          <p:cNvPr id="1323" name="Google Shape;1323;p28"/>
          <p:cNvSpPr/>
          <p:nvPr/>
        </p:nvSpPr>
        <p:spPr>
          <a:xfrm>
            <a:off x="5028910" y="2484664"/>
            <a:ext cx="1670985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8"/>
          <p:cNvSpPr/>
          <p:nvPr/>
        </p:nvSpPr>
        <p:spPr>
          <a:xfrm>
            <a:off x="5105110" y="2532289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19.1%</a:t>
            </a:r>
            <a:endParaRPr/>
          </a:p>
        </p:txBody>
      </p:sp>
      <p:sp>
        <p:nvSpPr>
          <p:cNvPr id="1325" name="Google Shape;1325;p28"/>
          <p:cNvSpPr/>
          <p:nvPr/>
        </p:nvSpPr>
        <p:spPr>
          <a:xfrm>
            <a:off x="6699895" y="2484664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8"/>
          <p:cNvSpPr/>
          <p:nvPr/>
        </p:nvSpPr>
        <p:spPr>
          <a:xfrm>
            <a:off x="6776095" y="2532289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  <a:endParaRPr/>
          </a:p>
        </p:txBody>
      </p:sp>
      <p:sp>
        <p:nvSpPr>
          <p:cNvPr id="1327" name="Google Shape;1327;p28"/>
          <p:cNvSpPr/>
          <p:nvPr/>
        </p:nvSpPr>
        <p:spPr>
          <a:xfrm>
            <a:off x="8482278" y="2484664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8"/>
          <p:cNvSpPr/>
          <p:nvPr/>
        </p:nvSpPr>
        <p:spPr>
          <a:xfrm>
            <a:off x="8558478" y="2532289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49.5%</a:t>
            </a:r>
            <a:endParaRPr/>
          </a:p>
        </p:txBody>
      </p:sp>
      <p:sp>
        <p:nvSpPr>
          <p:cNvPr id="1329" name="Google Shape;1329;p28"/>
          <p:cNvSpPr/>
          <p:nvPr/>
        </p:nvSpPr>
        <p:spPr>
          <a:xfrm>
            <a:off x="10041864" y="2484664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8"/>
          <p:cNvSpPr/>
          <p:nvPr/>
        </p:nvSpPr>
        <p:spPr>
          <a:xfrm>
            <a:off x="10118064" y="2532289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46.7%</a:t>
            </a:r>
            <a:endParaRPr/>
          </a:p>
        </p:txBody>
      </p:sp>
      <p:sp>
        <p:nvSpPr>
          <p:cNvPr id="1331" name="Google Shape;1331;p28"/>
          <p:cNvSpPr/>
          <p:nvPr/>
        </p:nvSpPr>
        <p:spPr>
          <a:xfrm>
            <a:off x="628650" y="2892879"/>
            <a:ext cx="261787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8"/>
          <p:cNvSpPr/>
          <p:nvPr/>
        </p:nvSpPr>
        <p:spPr>
          <a:xfrm>
            <a:off x="704850" y="2940504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Construction</a:t>
            </a:r>
            <a:endParaRPr/>
          </a:p>
        </p:txBody>
      </p:sp>
      <p:sp>
        <p:nvSpPr>
          <p:cNvPr id="1333" name="Google Shape;1333;p28"/>
          <p:cNvSpPr/>
          <p:nvPr/>
        </p:nvSpPr>
        <p:spPr>
          <a:xfrm>
            <a:off x="3246526" y="2892879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8"/>
          <p:cNvSpPr/>
          <p:nvPr/>
        </p:nvSpPr>
        <p:spPr>
          <a:xfrm>
            <a:off x="3322726" y="2940504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30,131</a:t>
            </a:r>
            <a:endParaRPr/>
          </a:p>
        </p:txBody>
      </p:sp>
      <p:sp>
        <p:nvSpPr>
          <p:cNvPr id="1335" name="Google Shape;1335;p28"/>
          <p:cNvSpPr/>
          <p:nvPr/>
        </p:nvSpPr>
        <p:spPr>
          <a:xfrm>
            <a:off x="5028910" y="2892879"/>
            <a:ext cx="1670985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28"/>
          <p:cNvSpPr/>
          <p:nvPr/>
        </p:nvSpPr>
        <p:spPr>
          <a:xfrm>
            <a:off x="5105110" y="2940504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14.0%</a:t>
            </a:r>
            <a:endParaRPr/>
          </a:p>
        </p:txBody>
      </p:sp>
      <p:sp>
        <p:nvSpPr>
          <p:cNvPr id="1337" name="Google Shape;1337;p28"/>
          <p:cNvSpPr/>
          <p:nvPr/>
        </p:nvSpPr>
        <p:spPr>
          <a:xfrm>
            <a:off x="6699895" y="2892879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8"/>
          <p:cNvSpPr/>
          <p:nvPr/>
        </p:nvSpPr>
        <p:spPr>
          <a:xfrm>
            <a:off x="6776095" y="2940504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1339" name="Google Shape;1339;p28"/>
          <p:cNvSpPr/>
          <p:nvPr/>
        </p:nvSpPr>
        <p:spPr>
          <a:xfrm>
            <a:off x="8482278" y="2892879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28"/>
          <p:cNvSpPr/>
          <p:nvPr/>
        </p:nvSpPr>
        <p:spPr>
          <a:xfrm>
            <a:off x="8558478" y="2940504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57.4%</a:t>
            </a:r>
            <a:endParaRPr/>
          </a:p>
        </p:txBody>
      </p:sp>
      <p:sp>
        <p:nvSpPr>
          <p:cNvPr id="1341" name="Google Shape;1341;p28"/>
          <p:cNvSpPr/>
          <p:nvPr/>
        </p:nvSpPr>
        <p:spPr>
          <a:xfrm>
            <a:off x="10041864" y="2892879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8"/>
          <p:cNvSpPr/>
          <p:nvPr/>
        </p:nvSpPr>
        <p:spPr>
          <a:xfrm>
            <a:off x="10118064" y="2940504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55.4%</a:t>
            </a:r>
            <a:endParaRPr/>
          </a:p>
        </p:txBody>
      </p:sp>
      <p:sp>
        <p:nvSpPr>
          <p:cNvPr id="1343" name="Google Shape;1343;p28"/>
          <p:cNvSpPr/>
          <p:nvPr/>
        </p:nvSpPr>
        <p:spPr>
          <a:xfrm>
            <a:off x="628650" y="3301093"/>
            <a:ext cx="261787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8"/>
          <p:cNvSpPr/>
          <p:nvPr/>
        </p:nvSpPr>
        <p:spPr>
          <a:xfrm>
            <a:off x="704850" y="3348718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Professional Scientific</a:t>
            </a:r>
            <a:endParaRPr/>
          </a:p>
        </p:txBody>
      </p:sp>
      <p:sp>
        <p:nvSpPr>
          <p:cNvPr id="1345" name="Google Shape;1345;p28"/>
          <p:cNvSpPr/>
          <p:nvPr/>
        </p:nvSpPr>
        <p:spPr>
          <a:xfrm>
            <a:off x="3246526" y="3301093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8"/>
          <p:cNvSpPr/>
          <p:nvPr/>
        </p:nvSpPr>
        <p:spPr>
          <a:xfrm>
            <a:off x="3322726" y="3348718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26,348</a:t>
            </a:r>
            <a:endParaRPr/>
          </a:p>
        </p:txBody>
      </p:sp>
      <p:sp>
        <p:nvSpPr>
          <p:cNvPr id="1347" name="Google Shape;1347;p28"/>
          <p:cNvSpPr/>
          <p:nvPr/>
        </p:nvSpPr>
        <p:spPr>
          <a:xfrm>
            <a:off x="5028910" y="3301093"/>
            <a:ext cx="1670985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8"/>
          <p:cNvSpPr/>
          <p:nvPr/>
        </p:nvSpPr>
        <p:spPr>
          <a:xfrm>
            <a:off x="5105110" y="3348718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12.2%</a:t>
            </a:r>
            <a:endParaRPr/>
          </a:p>
        </p:txBody>
      </p:sp>
      <p:sp>
        <p:nvSpPr>
          <p:cNvPr id="1349" name="Google Shape;1349;p28"/>
          <p:cNvSpPr/>
          <p:nvPr/>
        </p:nvSpPr>
        <p:spPr>
          <a:xfrm>
            <a:off x="6699895" y="3301093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8"/>
          <p:cNvSpPr/>
          <p:nvPr/>
        </p:nvSpPr>
        <p:spPr>
          <a:xfrm>
            <a:off x="6776095" y="3348718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1351" name="Google Shape;1351;p28"/>
          <p:cNvSpPr/>
          <p:nvPr/>
        </p:nvSpPr>
        <p:spPr>
          <a:xfrm>
            <a:off x="8482278" y="3301093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8"/>
          <p:cNvSpPr/>
          <p:nvPr/>
        </p:nvSpPr>
        <p:spPr>
          <a:xfrm>
            <a:off x="8558478" y="3348718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63.5%</a:t>
            </a:r>
            <a:endParaRPr/>
          </a:p>
        </p:txBody>
      </p:sp>
      <p:sp>
        <p:nvSpPr>
          <p:cNvPr id="1353" name="Google Shape;1353;p28"/>
          <p:cNvSpPr/>
          <p:nvPr/>
        </p:nvSpPr>
        <p:spPr>
          <a:xfrm>
            <a:off x="10041864" y="3301093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8"/>
          <p:cNvSpPr/>
          <p:nvPr/>
        </p:nvSpPr>
        <p:spPr>
          <a:xfrm>
            <a:off x="10118064" y="3348718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60.6%</a:t>
            </a:r>
            <a:endParaRPr/>
          </a:p>
        </p:txBody>
      </p:sp>
      <p:sp>
        <p:nvSpPr>
          <p:cNvPr id="1355" name="Google Shape;1355;p28"/>
          <p:cNvSpPr/>
          <p:nvPr/>
        </p:nvSpPr>
        <p:spPr>
          <a:xfrm>
            <a:off x="628650" y="3709307"/>
            <a:ext cx="261787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8"/>
          <p:cNvSpPr/>
          <p:nvPr/>
        </p:nvSpPr>
        <p:spPr>
          <a:xfrm>
            <a:off x="704850" y="3756932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 Tech Ict Rd</a:t>
            </a:r>
            <a:endParaRPr/>
          </a:p>
        </p:txBody>
      </p:sp>
      <p:sp>
        <p:nvSpPr>
          <p:cNvPr id="1357" name="Google Shape;1357;p28"/>
          <p:cNvSpPr/>
          <p:nvPr/>
        </p:nvSpPr>
        <p:spPr>
          <a:xfrm>
            <a:off x="3246526" y="3709307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8"/>
          <p:cNvSpPr/>
          <p:nvPr/>
        </p:nvSpPr>
        <p:spPr>
          <a:xfrm>
            <a:off x="3322726" y="3756932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18,140</a:t>
            </a:r>
            <a:endParaRPr/>
          </a:p>
        </p:txBody>
      </p:sp>
      <p:sp>
        <p:nvSpPr>
          <p:cNvPr id="1359" name="Google Shape;1359;p28"/>
          <p:cNvSpPr/>
          <p:nvPr/>
        </p:nvSpPr>
        <p:spPr>
          <a:xfrm>
            <a:off x="5028910" y="3709307"/>
            <a:ext cx="1670985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8"/>
          <p:cNvSpPr/>
          <p:nvPr/>
        </p:nvSpPr>
        <p:spPr>
          <a:xfrm>
            <a:off x="5105110" y="3756932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8.4%</a:t>
            </a:r>
            <a:endParaRPr/>
          </a:p>
        </p:txBody>
      </p:sp>
      <p:sp>
        <p:nvSpPr>
          <p:cNvPr id="1361" name="Google Shape;1361;p28"/>
          <p:cNvSpPr/>
          <p:nvPr/>
        </p:nvSpPr>
        <p:spPr>
          <a:xfrm>
            <a:off x="6699895" y="3709307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8"/>
          <p:cNvSpPr/>
          <p:nvPr/>
        </p:nvSpPr>
        <p:spPr>
          <a:xfrm>
            <a:off x="6776095" y="3756932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1363" name="Google Shape;1363;p28"/>
          <p:cNvSpPr/>
          <p:nvPr/>
        </p:nvSpPr>
        <p:spPr>
          <a:xfrm>
            <a:off x="8482278" y="3709307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8"/>
          <p:cNvSpPr/>
          <p:nvPr/>
        </p:nvSpPr>
        <p:spPr>
          <a:xfrm>
            <a:off x="8558478" y="3756932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32.2%</a:t>
            </a:r>
            <a:endParaRPr/>
          </a:p>
        </p:txBody>
      </p:sp>
      <p:sp>
        <p:nvSpPr>
          <p:cNvPr id="1365" name="Google Shape;1365;p28"/>
          <p:cNvSpPr/>
          <p:nvPr/>
        </p:nvSpPr>
        <p:spPr>
          <a:xfrm>
            <a:off x="10041864" y="3709307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28"/>
          <p:cNvSpPr/>
          <p:nvPr/>
        </p:nvSpPr>
        <p:spPr>
          <a:xfrm>
            <a:off x="10118064" y="3756932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31.5%</a:t>
            </a:r>
            <a:endParaRPr/>
          </a:p>
        </p:txBody>
      </p:sp>
      <p:sp>
        <p:nvSpPr>
          <p:cNvPr id="1367" name="Google Shape;1367;p28"/>
          <p:cNvSpPr/>
          <p:nvPr/>
        </p:nvSpPr>
        <p:spPr>
          <a:xfrm>
            <a:off x="628650" y="4117521"/>
            <a:ext cx="261787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8"/>
          <p:cNvSpPr/>
          <p:nvPr/>
        </p:nvSpPr>
        <p:spPr>
          <a:xfrm>
            <a:off x="704850" y="4165146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</p:txBody>
      </p:sp>
      <p:sp>
        <p:nvSpPr>
          <p:cNvPr id="1369" name="Google Shape;1369;p28"/>
          <p:cNvSpPr/>
          <p:nvPr/>
        </p:nvSpPr>
        <p:spPr>
          <a:xfrm>
            <a:off x="3246526" y="4117521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8"/>
          <p:cNvSpPr/>
          <p:nvPr/>
        </p:nvSpPr>
        <p:spPr>
          <a:xfrm>
            <a:off x="3322726" y="4165146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10,936</a:t>
            </a:r>
            <a:endParaRPr/>
          </a:p>
        </p:txBody>
      </p:sp>
      <p:sp>
        <p:nvSpPr>
          <p:cNvPr id="1371" name="Google Shape;1371;p28"/>
          <p:cNvSpPr/>
          <p:nvPr/>
        </p:nvSpPr>
        <p:spPr>
          <a:xfrm>
            <a:off x="5028910" y="4117521"/>
            <a:ext cx="1670985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8"/>
          <p:cNvSpPr/>
          <p:nvPr/>
        </p:nvSpPr>
        <p:spPr>
          <a:xfrm>
            <a:off x="5105110" y="4165146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5.1%</a:t>
            </a:r>
            <a:endParaRPr/>
          </a:p>
        </p:txBody>
      </p:sp>
      <p:sp>
        <p:nvSpPr>
          <p:cNvPr id="1373" name="Google Shape;1373;p28"/>
          <p:cNvSpPr/>
          <p:nvPr/>
        </p:nvSpPr>
        <p:spPr>
          <a:xfrm>
            <a:off x="6699895" y="4117521"/>
            <a:ext cx="1782384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28"/>
          <p:cNvSpPr/>
          <p:nvPr/>
        </p:nvSpPr>
        <p:spPr>
          <a:xfrm>
            <a:off x="6776095" y="4165146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144</a:t>
            </a:r>
            <a:endParaRPr/>
          </a:p>
        </p:txBody>
      </p:sp>
      <p:sp>
        <p:nvSpPr>
          <p:cNvPr id="1375" name="Google Shape;1375;p28"/>
          <p:cNvSpPr/>
          <p:nvPr/>
        </p:nvSpPr>
        <p:spPr>
          <a:xfrm>
            <a:off x="8482278" y="4117521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8"/>
          <p:cNvSpPr/>
          <p:nvPr/>
        </p:nvSpPr>
        <p:spPr>
          <a:xfrm>
            <a:off x="8558478" y="4165146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44.7%</a:t>
            </a:r>
            <a:endParaRPr/>
          </a:p>
        </p:txBody>
      </p:sp>
      <p:sp>
        <p:nvSpPr>
          <p:cNvPr id="1377" name="Google Shape;1377;p28"/>
          <p:cNvSpPr/>
          <p:nvPr/>
        </p:nvSpPr>
        <p:spPr>
          <a:xfrm>
            <a:off x="10041864" y="4117521"/>
            <a:ext cx="1559586" cy="40821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8"/>
          <p:cNvSpPr/>
          <p:nvPr/>
        </p:nvSpPr>
        <p:spPr>
          <a:xfrm>
            <a:off x="10118064" y="4165146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40.0%</a:t>
            </a:r>
            <a:endParaRPr/>
          </a:p>
        </p:txBody>
      </p:sp>
      <p:sp>
        <p:nvSpPr>
          <p:cNvPr id="1379" name="Google Shape;1379;p28"/>
          <p:cNvSpPr/>
          <p:nvPr/>
        </p:nvSpPr>
        <p:spPr>
          <a:xfrm>
            <a:off x="628650" y="4525736"/>
            <a:ext cx="261787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8"/>
          <p:cNvSpPr/>
          <p:nvPr/>
        </p:nvSpPr>
        <p:spPr>
          <a:xfrm>
            <a:off x="704850" y="4573361"/>
            <a:ext cx="246547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endParaRPr/>
          </a:p>
        </p:txBody>
      </p:sp>
      <p:sp>
        <p:nvSpPr>
          <p:cNvPr id="1381" name="Google Shape;1381;p28"/>
          <p:cNvSpPr/>
          <p:nvPr/>
        </p:nvSpPr>
        <p:spPr>
          <a:xfrm>
            <a:off x="3246526" y="4525736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8"/>
          <p:cNvSpPr/>
          <p:nvPr/>
        </p:nvSpPr>
        <p:spPr>
          <a:xfrm>
            <a:off x="3322726" y="4573361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9,964</a:t>
            </a:r>
            <a:endParaRPr/>
          </a:p>
        </p:txBody>
      </p:sp>
      <p:sp>
        <p:nvSpPr>
          <p:cNvPr id="1383" name="Google Shape;1383;p28"/>
          <p:cNvSpPr/>
          <p:nvPr/>
        </p:nvSpPr>
        <p:spPr>
          <a:xfrm>
            <a:off x="5028910" y="4525736"/>
            <a:ext cx="1670985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8"/>
          <p:cNvSpPr/>
          <p:nvPr/>
        </p:nvSpPr>
        <p:spPr>
          <a:xfrm>
            <a:off x="5105110" y="4573361"/>
            <a:ext cx="1518585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4.6%</a:t>
            </a:r>
            <a:endParaRPr/>
          </a:p>
        </p:txBody>
      </p:sp>
      <p:sp>
        <p:nvSpPr>
          <p:cNvPr id="1385" name="Google Shape;1385;p28"/>
          <p:cNvSpPr/>
          <p:nvPr/>
        </p:nvSpPr>
        <p:spPr>
          <a:xfrm>
            <a:off x="6699895" y="4525736"/>
            <a:ext cx="1782384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8"/>
          <p:cNvSpPr/>
          <p:nvPr/>
        </p:nvSpPr>
        <p:spPr>
          <a:xfrm>
            <a:off x="6776095" y="4573361"/>
            <a:ext cx="1629984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1387" name="Google Shape;1387;p28"/>
          <p:cNvSpPr/>
          <p:nvPr/>
        </p:nvSpPr>
        <p:spPr>
          <a:xfrm>
            <a:off x="8482278" y="4525736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28"/>
          <p:cNvSpPr/>
          <p:nvPr/>
        </p:nvSpPr>
        <p:spPr>
          <a:xfrm>
            <a:off x="8558478" y="4573361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35.5%</a:t>
            </a:r>
            <a:endParaRPr/>
          </a:p>
        </p:txBody>
      </p:sp>
      <p:sp>
        <p:nvSpPr>
          <p:cNvPr id="1389" name="Google Shape;1389;p28"/>
          <p:cNvSpPr/>
          <p:nvPr/>
        </p:nvSpPr>
        <p:spPr>
          <a:xfrm>
            <a:off x="10041864" y="4525736"/>
            <a:ext cx="1559586" cy="408214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28"/>
          <p:cNvSpPr/>
          <p:nvPr/>
        </p:nvSpPr>
        <p:spPr>
          <a:xfrm>
            <a:off x="10118064" y="4573361"/>
            <a:ext cx="1407186" cy="31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42.6%</a:t>
            </a:r>
            <a:endParaRPr/>
          </a:p>
        </p:txBody>
      </p:sp>
      <p:sp>
        <p:nvSpPr>
          <p:cNvPr id="1391" name="Google Shape;1391;p28"/>
          <p:cNvSpPr/>
          <p:nvPr/>
        </p:nvSpPr>
        <p:spPr>
          <a:xfrm>
            <a:off x="1371600" y="53530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28"/>
          <p:cNvSpPr/>
          <p:nvPr/>
        </p:nvSpPr>
        <p:spPr>
          <a:xfrm>
            <a:off x="1581150" y="5276850"/>
            <a:ext cx="9315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Prioritize error analysis by branch, not only by global confusion matrix.</a:t>
            </a:r>
            <a:endParaRPr/>
          </a:p>
        </p:txBody>
      </p:sp>
      <p:sp>
        <p:nvSpPr>
          <p:cNvPr id="1393" name="Google Shape;1393;p28"/>
          <p:cNvSpPr/>
          <p:nvPr/>
        </p:nvSpPr>
        <p:spPr>
          <a:xfrm>
            <a:off x="1371600" y="56769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8"/>
          <p:cNvSpPr/>
          <p:nvPr/>
        </p:nvSpPr>
        <p:spPr>
          <a:xfrm>
            <a:off x="1581150" y="5600700"/>
            <a:ext cx="9315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source-match weakness to decide where branch-specific features or thresholds may help.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0" name="Google Shape;1400;p29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1" name="Google Shape;1401;p29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 analysis</a:t>
            </a:r>
            <a:endParaRPr/>
          </a:p>
        </p:txBody>
      </p:sp>
      <p:sp>
        <p:nvSpPr>
          <p:cNvPr id="1402" name="Google Shape;1402;p29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1403" name="Google Shape;1403;p29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HARD-BRANCH INTERPRETATION</a:t>
            </a:r>
            <a:endParaRPr/>
          </a:p>
        </p:txBody>
      </p:sp>
      <p:sp>
        <p:nvSpPr>
          <p:cNvPr id="1404" name="Google Shape;1404;p29"/>
          <p:cNvSpPr/>
          <p:nvPr/>
        </p:nvSpPr>
        <p:spPr>
          <a:xfrm>
            <a:off x="609600" y="742950"/>
            <a:ext cx="10439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Manufacturing, high-tech, and trade need different diagnostics</a:t>
            </a:r>
            <a:endParaRPr/>
          </a:p>
        </p:txBody>
      </p:sp>
      <p:sp>
        <p:nvSpPr>
          <p:cNvPr id="1405" name="Google Shape;1405;p29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Each high-impact branch has a different mix of volume, ambiguity, and source-code usefulness.</a:t>
            </a:r>
            <a:endParaRPr/>
          </a:p>
        </p:txBody>
      </p:sp>
      <p:sp>
        <p:nvSpPr>
          <p:cNvPr id="1406" name="Google Shape;1406;p29"/>
          <p:cNvSpPr/>
          <p:nvPr/>
        </p:nvSpPr>
        <p:spPr>
          <a:xfrm>
            <a:off x="723900" y="2095500"/>
            <a:ext cx="3276600" cy="2038350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29"/>
          <p:cNvSpPr/>
          <p:nvPr/>
        </p:nvSpPr>
        <p:spPr>
          <a:xfrm>
            <a:off x="723900" y="2095500"/>
            <a:ext cx="57150" cy="203835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29"/>
          <p:cNvSpPr/>
          <p:nvPr/>
        </p:nvSpPr>
        <p:spPr>
          <a:xfrm>
            <a:off x="933450" y="2266950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Manufacturing</a:t>
            </a:r>
            <a:endParaRPr/>
          </a:p>
        </p:txBody>
      </p:sp>
      <p:sp>
        <p:nvSpPr>
          <p:cNvPr id="1409" name="Google Shape;1409;p29"/>
          <p:cNvSpPr/>
          <p:nvPr/>
        </p:nvSpPr>
        <p:spPr>
          <a:xfrm>
            <a:off x="933450" y="2628900"/>
            <a:ext cx="291465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Highest difficulty proxy. Many sub-activities and weaker source exactness mean it should be an early branch-specific error-analysis target.</a:t>
            </a:r>
            <a:endParaRPr/>
          </a:p>
        </p:txBody>
      </p:sp>
      <p:sp>
        <p:nvSpPr>
          <p:cNvPr id="1410" name="Google Shape;1410;p29"/>
          <p:cNvSpPr/>
          <p:nvPr/>
        </p:nvSpPr>
        <p:spPr>
          <a:xfrm>
            <a:off x="4457700" y="2095500"/>
            <a:ext cx="3276600" cy="2038350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29"/>
          <p:cNvSpPr/>
          <p:nvPr/>
        </p:nvSpPr>
        <p:spPr>
          <a:xfrm>
            <a:off x="4457700" y="2095500"/>
            <a:ext cx="57150" cy="203835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29"/>
          <p:cNvSpPr/>
          <p:nvPr/>
        </p:nvSpPr>
        <p:spPr>
          <a:xfrm>
            <a:off x="4667250" y="2266950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High-tech / ICT / R&amp;D</a:t>
            </a:r>
            <a:endParaRPr/>
          </a:p>
        </p:txBody>
      </p:sp>
      <p:sp>
        <p:nvSpPr>
          <p:cNvPr id="1413" name="Google Shape;1413;p29"/>
          <p:cNvSpPr/>
          <p:nvPr/>
        </p:nvSpPr>
        <p:spPr>
          <a:xfrm>
            <a:off x="4667250" y="2628900"/>
            <a:ext cx="291465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Moderate-to-large manual volume with naming and activity-text ambiguity. Text normalization and source markers are likely important.</a:t>
            </a:r>
            <a:endParaRPr/>
          </a:p>
        </p:txBody>
      </p:sp>
      <p:sp>
        <p:nvSpPr>
          <p:cNvPr id="1414" name="Google Shape;1414;p29"/>
          <p:cNvSpPr/>
          <p:nvPr/>
        </p:nvSpPr>
        <p:spPr>
          <a:xfrm>
            <a:off x="8191500" y="2095500"/>
            <a:ext cx="3276600" cy="2038350"/>
          </a:xfrm>
          <a:prstGeom prst="roundRect">
            <a:avLst>
              <a:gd fmla="val 373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29"/>
          <p:cNvSpPr/>
          <p:nvPr/>
        </p:nvSpPr>
        <p:spPr>
          <a:xfrm>
            <a:off x="8191500" y="2095500"/>
            <a:ext cx="57150" cy="20383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9"/>
          <p:cNvSpPr/>
          <p:nvPr/>
        </p:nvSpPr>
        <p:spPr>
          <a:xfrm>
            <a:off x="8401050" y="2266950"/>
            <a:ext cx="2914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/>
          </a:p>
        </p:txBody>
      </p:sp>
      <p:sp>
        <p:nvSpPr>
          <p:cNvPr id="1417" name="Google Shape;1417;p29"/>
          <p:cNvSpPr/>
          <p:nvPr/>
        </p:nvSpPr>
        <p:spPr>
          <a:xfrm>
            <a:off x="8401050" y="2628900"/>
            <a:ext cx="291465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Largest manual branch. Even small accuracy improvements have high operational impact, but label granularity can be broad.</a:t>
            </a:r>
            <a:endParaRPr/>
          </a:p>
        </p:txBody>
      </p:sp>
      <p:sp>
        <p:nvSpPr>
          <p:cNvPr id="1418" name="Google Shape;1418;p29"/>
          <p:cNvSpPr/>
          <p:nvPr/>
        </p:nvSpPr>
        <p:spPr>
          <a:xfrm>
            <a:off x="2438400" y="4629150"/>
            <a:ext cx="7315200" cy="81915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29"/>
          <p:cNvSpPr/>
          <p:nvPr/>
        </p:nvSpPr>
        <p:spPr>
          <a:xfrm>
            <a:off x="2438400" y="4629150"/>
            <a:ext cx="57150" cy="8191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29"/>
          <p:cNvSpPr/>
          <p:nvPr/>
        </p:nvSpPr>
        <p:spPr>
          <a:xfrm>
            <a:off x="2647950" y="4743450"/>
            <a:ext cx="695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</p:txBody>
      </p:sp>
      <p:sp>
        <p:nvSpPr>
          <p:cNvPr id="1421" name="Google Shape;1421;p29"/>
          <p:cNvSpPr/>
          <p:nvPr/>
        </p:nvSpPr>
        <p:spPr>
          <a:xfrm>
            <a:off x="2647950" y="4991100"/>
            <a:ext cx="695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first prototype report should include per-branch accuracy, top confusions, source baseline lift, and examples for these branches.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7" name="Google Shape;1427;p30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8" name="Google Shape;1428;p30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Temporal analysis</a:t>
            </a:r>
            <a:endParaRPr/>
          </a:p>
        </p:txBody>
      </p:sp>
      <p:sp>
        <p:nvSpPr>
          <p:cNvPr id="1429" name="Google Shape;1429;p30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  <p:sp>
        <p:nvSpPr>
          <p:cNvPr id="1430" name="Google Shape;1430;p30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TEMPORAL BEHAVIOR</a:t>
            </a:r>
            <a:endParaRPr/>
          </a:p>
        </p:txBody>
      </p:sp>
      <p:sp>
        <p:nvSpPr>
          <p:cNvPr id="1431" name="Google Shape;1431;p30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Manual share and source accuracy move over time</a:t>
            </a:r>
            <a:endParaRPr/>
          </a:p>
        </p:txBody>
      </p:sp>
      <p:sp>
        <p:nvSpPr>
          <p:cNvPr id="1432" name="Google Shape;1432;p30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Temporal analysis is necessary because the register, sources, and automation rules are not stationary.</a:t>
            </a:r>
            <a:endParaRPr/>
          </a:p>
        </p:txBody>
      </p:sp>
      <p:graphicFrame>
        <p:nvGraphicFramePr>
          <p:cNvPr id="1433" name="Google Shape;1433;p30"/>
          <p:cNvGraphicFramePr/>
          <p:nvPr/>
        </p:nvGraphicFramePr>
        <p:xfrm>
          <a:off x="781050" y="2095500"/>
          <a:ext cx="8001000" cy="3238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34" name="Google Shape;1434;p30"/>
          <p:cNvSpPr/>
          <p:nvPr/>
        </p:nvSpPr>
        <p:spPr>
          <a:xfrm>
            <a:off x="781050" y="5391150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SIVUG year. Y-axis: manual share and source-target match rates.</a:t>
            </a:r>
            <a:endParaRPr/>
          </a:p>
        </p:txBody>
      </p:sp>
      <p:sp>
        <p:nvSpPr>
          <p:cNvPr id="1435" name="Google Shape;1435;p30"/>
          <p:cNvSpPr/>
          <p:nvPr/>
        </p:nvSpPr>
        <p:spPr>
          <a:xfrm>
            <a:off x="9163050" y="2362200"/>
            <a:ext cx="2419500" cy="2360400"/>
          </a:xfrm>
          <a:prstGeom prst="roundRect">
            <a:avLst>
              <a:gd fmla="val 3774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0"/>
          <p:cNvSpPr/>
          <p:nvPr/>
        </p:nvSpPr>
        <p:spPr>
          <a:xfrm>
            <a:off x="9163050" y="2362200"/>
            <a:ext cx="57150" cy="201930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0"/>
          <p:cNvSpPr/>
          <p:nvPr/>
        </p:nvSpPr>
        <p:spPr>
          <a:xfrm>
            <a:off x="9372600" y="2533650"/>
            <a:ext cx="173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Validation implication</a:t>
            </a:r>
            <a:endParaRPr/>
          </a:p>
        </p:txBody>
      </p:sp>
      <p:sp>
        <p:nvSpPr>
          <p:cNvPr id="1438" name="Google Shape;1438;p30"/>
          <p:cNvSpPr/>
          <p:nvPr/>
        </p:nvSpPr>
        <p:spPr>
          <a:xfrm>
            <a:off x="9372600" y="3048000"/>
            <a:ext cx="1968300" cy="15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Use two test sets: newest-period holdout and stratified historical holdout. Sweep training windows such as all years, 2016+, 2018+, and 2020+.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4" name="Google Shape;1444;p31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5" name="Google Shape;1445;p31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Temporal analysis</a:t>
            </a:r>
            <a:endParaRPr/>
          </a:p>
        </p:txBody>
      </p:sp>
      <p:sp>
        <p:nvSpPr>
          <p:cNvPr id="1446" name="Google Shape;1446;p31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1447" name="Google Shape;1447;p31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NEW VERSUS CHANGED ROWS</a:t>
            </a:r>
            <a:endParaRPr/>
          </a:p>
        </p:txBody>
      </p:sp>
      <p:sp>
        <p:nvSpPr>
          <p:cNvPr id="1448" name="Google Shape;1448;p31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Recent 31-180 day rows are overwhelmingly manual</a:t>
            </a:r>
            <a:endParaRPr/>
          </a:p>
        </p:txBody>
      </p:sp>
      <p:sp>
        <p:nvSpPr>
          <p:cNvPr id="1449" name="Google Shape;1449;p31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Age and update-reason slices reveal very different operational regimes.</a:t>
            </a:r>
            <a:endParaRPr/>
          </a:p>
        </p:txBody>
      </p:sp>
      <p:graphicFrame>
        <p:nvGraphicFramePr>
          <p:cNvPr id="1450" name="Google Shape;1450;p31"/>
          <p:cNvGraphicFramePr/>
          <p:nvPr/>
        </p:nvGraphicFramePr>
        <p:xfrm>
          <a:off x="762000" y="2133600"/>
          <a:ext cx="4762500" cy="2857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51" name="Google Shape;1451;p31"/>
          <p:cNvSpPr/>
          <p:nvPr/>
        </p:nvSpPr>
        <p:spPr>
          <a:xfrm>
            <a:off x="762000" y="506730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Left chart - X-axis: age segment; Y-axis: manual share.</a:t>
            </a:r>
            <a:endParaRPr/>
          </a:p>
        </p:txBody>
      </p:sp>
      <p:graphicFrame>
        <p:nvGraphicFramePr>
          <p:cNvPr id="1452" name="Google Shape;1452;p31"/>
          <p:cNvGraphicFramePr/>
          <p:nvPr/>
        </p:nvGraphicFramePr>
        <p:xfrm>
          <a:off x="6191250" y="2133600"/>
          <a:ext cx="4762500" cy="28575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453" name="Google Shape;1453;p31"/>
          <p:cNvSpPr/>
          <p:nvPr/>
        </p:nvSpPr>
        <p:spPr>
          <a:xfrm>
            <a:off x="6191250" y="5067300"/>
            <a:ext cx="4762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Right chart - X-axis: update reason; Y-axis: manual share.</a:t>
            </a:r>
            <a:endParaRPr/>
          </a:p>
        </p:txBody>
      </p:sp>
      <p:sp>
        <p:nvSpPr>
          <p:cNvPr id="1454" name="Google Shape;1454;p31"/>
          <p:cNvSpPr/>
          <p:nvPr/>
        </p:nvSpPr>
        <p:spPr>
          <a:xfrm>
            <a:off x="1619250" y="53149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Recent rows: 88.5% manual; new rows: 8.9% manual; improvement rows: 34.3% manual.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0" name="Google Shape;1460;p32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1" name="Google Shape;1461;p32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 process</a:t>
            </a:r>
            <a:endParaRPr/>
          </a:p>
        </p:txBody>
      </p:sp>
      <p:sp>
        <p:nvSpPr>
          <p:cNvPr id="1462" name="Google Shape;1462;p32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1463" name="Google Shape;1463;p32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MANUAL CLASSIFIER PROCESS</a:t>
            </a:r>
            <a:endParaRPr/>
          </a:p>
        </p:txBody>
      </p:sp>
      <p:sp>
        <p:nvSpPr>
          <p:cNvPr id="1464" name="Google Shape;1464;p32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Classifier metadata is for QA, not predictive modeling</a:t>
            </a:r>
            <a:endParaRPr/>
          </a:p>
        </p:txBody>
      </p:sp>
      <p:sp>
        <p:nvSpPr>
          <p:cNvPr id="1465" name="Google Shape;1465;p32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 labels are concentrated among a small number of anonymized classifiers.</a:t>
            </a:r>
            <a:endParaRPr/>
          </a:p>
        </p:txBody>
      </p:sp>
      <p:sp>
        <p:nvSpPr>
          <p:cNvPr id="1466" name="Google Shape;1466;p32"/>
          <p:cNvSpPr/>
          <p:nvPr/>
        </p:nvSpPr>
        <p:spPr>
          <a:xfrm>
            <a:off x="1200150" y="2209800"/>
            <a:ext cx="2000250" cy="4381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2"/>
          <p:cNvSpPr/>
          <p:nvPr/>
        </p:nvSpPr>
        <p:spPr>
          <a:xfrm>
            <a:off x="1276350" y="2257425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Classifier</a:t>
            </a:r>
            <a:endParaRPr/>
          </a:p>
        </p:txBody>
      </p:sp>
      <p:sp>
        <p:nvSpPr>
          <p:cNvPr id="1468" name="Google Shape;1468;p32"/>
          <p:cNvSpPr/>
          <p:nvPr/>
        </p:nvSpPr>
        <p:spPr>
          <a:xfrm>
            <a:off x="3200400" y="2209800"/>
            <a:ext cx="1428750" cy="4381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32"/>
          <p:cNvSpPr/>
          <p:nvPr/>
        </p:nvSpPr>
        <p:spPr>
          <a:xfrm>
            <a:off x="3276600" y="2257425"/>
            <a:ext cx="1276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/>
          </a:p>
        </p:txBody>
      </p:sp>
      <p:sp>
        <p:nvSpPr>
          <p:cNvPr id="1470" name="Google Shape;1470;p32"/>
          <p:cNvSpPr/>
          <p:nvPr/>
        </p:nvSpPr>
        <p:spPr>
          <a:xfrm>
            <a:off x="4629150" y="2209800"/>
            <a:ext cx="1524000" cy="4381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2"/>
          <p:cNvSpPr/>
          <p:nvPr/>
        </p:nvSpPr>
        <p:spPr>
          <a:xfrm>
            <a:off x="4705350" y="225742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 share</a:t>
            </a:r>
            <a:endParaRPr/>
          </a:p>
        </p:txBody>
      </p:sp>
      <p:sp>
        <p:nvSpPr>
          <p:cNvPr id="1472" name="Google Shape;1472;p32"/>
          <p:cNvSpPr/>
          <p:nvPr/>
        </p:nvSpPr>
        <p:spPr>
          <a:xfrm>
            <a:off x="1200150" y="2647950"/>
            <a:ext cx="200025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2"/>
          <p:cNvSpPr/>
          <p:nvPr/>
        </p:nvSpPr>
        <p:spPr>
          <a:xfrm>
            <a:off x="1276350" y="2695575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Classifier_007</a:t>
            </a:r>
            <a:endParaRPr/>
          </a:p>
        </p:txBody>
      </p:sp>
      <p:sp>
        <p:nvSpPr>
          <p:cNvPr id="1474" name="Google Shape;1474;p32"/>
          <p:cNvSpPr/>
          <p:nvPr/>
        </p:nvSpPr>
        <p:spPr>
          <a:xfrm>
            <a:off x="3200400" y="2647950"/>
            <a:ext cx="142875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2"/>
          <p:cNvSpPr/>
          <p:nvPr/>
        </p:nvSpPr>
        <p:spPr>
          <a:xfrm>
            <a:off x="3276600" y="2695575"/>
            <a:ext cx="1276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89,648</a:t>
            </a:r>
            <a:endParaRPr/>
          </a:p>
        </p:txBody>
      </p:sp>
      <p:sp>
        <p:nvSpPr>
          <p:cNvPr id="1476" name="Google Shape;1476;p32"/>
          <p:cNvSpPr/>
          <p:nvPr/>
        </p:nvSpPr>
        <p:spPr>
          <a:xfrm>
            <a:off x="4629150" y="2647950"/>
            <a:ext cx="152400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2"/>
          <p:cNvSpPr/>
          <p:nvPr/>
        </p:nvSpPr>
        <p:spPr>
          <a:xfrm>
            <a:off x="4705350" y="269557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42.1%</a:t>
            </a:r>
            <a:endParaRPr/>
          </a:p>
        </p:txBody>
      </p:sp>
      <p:sp>
        <p:nvSpPr>
          <p:cNvPr id="1478" name="Google Shape;1478;p32"/>
          <p:cNvSpPr/>
          <p:nvPr/>
        </p:nvSpPr>
        <p:spPr>
          <a:xfrm>
            <a:off x="1200150" y="3086100"/>
            <a:ext cx="200025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32"/>
          <p:cNvSpPr/>
          <p:nvPr/>
        </p:nvSpPr>
        <p:spPr>
          <a:xfrm>
            <a:off x="1276350" y="3133725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Classifier_009</a:t>
            </a:r>
            <a:endParaRPr/>
          </a:p>
        </p:txBody>
      </p:sp>
      <p:sp>
        <p:nvSpPr>
          <p:cNvPr id="1480" name="Google Shape;1480;p32"/>
          <p:cNvSpPr/>
          <p:nvPr/>
        </p:nvSpPr>
        <p:spPr>
          <a:xfrm>
            <a:off x="3200400" y="3086100"/>
            <a:ext cx="142875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2"/>
          <p:cNvSpPr/>
          <p:nvPr/>
        </p:nvSpPr>
        <p:spPr>
          <a:xfrm>
            <a:off x="3276600" y="3133725"/>
            <a:ext cx="1276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56,708</a:t>
            </a:r>
            <a:endParaRPr/>
          </a:p>
        </p:txBody>
      </p:sp>
      <p:sp>
        <p:nvSpPr>
          <p:cNvPr id="1482" name="Google Shape;1482;p32"/>
          <p:cNvSpPr/>
          <p:nvPr/>
        </p:nvSpPr>
        <p:spPr>
          <a:xfrm>
            <a:off x="4629150" y="3086100"/>
            <a:ext cx="152400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2"/>
          <p:cNvSpPr/>
          <p:nvPr/>
        </p:nvSpPr>
        <p:spPr>
          <a:xfrm>
            <a:off x="4705350" y="313372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26.6%</a:t>
            </a:r>
            <a:endParaRPr/>
          </a:p>
        </p:txBody>
      </p:sp>
      <p:sp>
        <p:nvSpPr>
          <p:cNvPr id="1484" name="Google Shape;1484;p32"/>
          <p:cNvSpPr/>
          <p:nvPr/>
        </p:nvSpPr>
        <p:spPr>
          <a:xfrm>
            <a:off x="1200150" y="3524250"/>
            <a:ext cx="200025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2"/>
          <p:cNvSpPr/>
          <p:nvPr/>
        </p:nvSpPr>
        <p:spPr>
          <a:xfrm>
            <a:off x="1276350" y="3571875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Classifier_004</a:t>
            </a:r>
            <a:endParaRPr/>
          </a:p>
        </p:txBody>
      </p:sp>
      <p:sp>
        <p:nvSpPr>
          <p:cNvPr id="1486" name="Google Shape;1486;p32"/>
          <p:cNvSpPr/>
          <p:nvPr/>
        </p:nvSpPr>
        <p:spPr>
          <a:xfrm>
            <a:off x="3200400" y="3524250"/>
            <a:ext cx="142875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2"/>
          <p:cNvSpPr/>
          <p:nvPr/>
        </p:nvSpPr>
        <p:spPr>
          <a:xfrm>
            <a:off x="3276600" y="3571875"/>
            <a:ext cx="1276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33,521</a:t>
            </a:r>
            <a:endParaRPr/>
          </a:p>
        </p:txBody>
      </p:sp>
      <p:sp>
        <p:nvSpPr>
          <p:cNvPr id="1488" name="Google Shape;1488;p32"/>
          <p:cNvSpPr/>
          <p:nvPr/>
        </p:nvSpPr>
        <p:spPr>
          <a:xfrm>
            <a:off x="4629150" y="3524250"/>
            <a:ext cx="1524000" cy="438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2"/>
          <p:cNvSpPr/>
          <p:nvPr/>
        </p:nvSpPr>
        <p:spPr>
          <a:xfrm>
            <a:off x="4705350" y="357187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15.7%</a:t>
            </a:r>
            <a:endParaRPr/>
          </a:p>
        </p:txBody>
      </p:sp>
      <p:sp>
        <p:nvSpPr>
          <p:cNvPr id="1490" name="Google Shape;1490;p32"/>
          <p:cNvSpPr/>
          <p:nvPr/>
        </p:nvSpPr>
        <p:spPr>
          <a:xfrm>
            <a:off x="1200150" y="3962400"/>
            <a:ext cx="200025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2"/>
          <p:cNvSpPr/>
          <p:nvPr/>
        </p:nvSpPr>
        <p:spPr>
          <a:xfrm>
            <a:off x="1276350" y="4010025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Classifier_002</a:t>
            </a:r>
            <a:endParaRPr/>
          </a:p>
        </p:txBody>
      </p:sp>
      <p:sp>
        <p:nvSpPr>
          <p:cNvPr id="1492" name="Google Shape;1492;p32"/>
          <p:cNvSpPr/>
          <p:nvPr/>
        </p:nvSpPr>
        <p:spPr>
          <a:xfrm>
            <a:off x="3200400" y="3962400"/>
            <a:ext cx="142875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2"/>
          <p:cNvSpPr/>
          <p:nvPr/>
        </p:nvSpPr>
        <p:spPr>
          <a:xfrm>
            <a:off x="3276600" y="4010025"/>
            <a:ext cx="12763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30,624</a:t>
            </a:r>
            <a:endParaRPr/>
          </a:p>
        </p:txBody>
      </p:sp>
      <p:sp>
        <p:nvSpPr>
          <p:cNvPr id="1494" name="Google Shape;1494;p32"/>
          <p:cNvSpPr/>
          <p:nvPr/>
        </p:nvSpPr>
        <p:spPr>
          <a:xfrm>
            <a:off x="4629150" y="3962400"/>
            <a:ext cx="1524000" cy="4381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32"/>
          <p:cNvSpPr/>
          <p:nvPr/>
        </p:nvSpPr>
        <p:spPr>
          <a:xfrm>
            <a:off x="4705350" y="401002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14.4%</a:t>
            </a:r>
            <a:endParaRPr/>
          </a:p>
        </p:txBody>
      </p:sp>
      <p:sp>
        <p:nvSpPr>
          <p:cNvPr id="1496" name="Google Shape;1496;p32"/>
          <p:cNvSpPr/>
          <p:nvPr/>
        </p:nvSpPr>
        <p:spPr>
          <a:xfrm>
            <a:off x="6972300" y="22669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2"/>
          <p:cNvSpPr/>
          <p:nvPr/>
        </p:nvSpPr>
        <p:spPr>
          <a:xfrm>
            <a:off x="7181850" y="2190750"/>
            <a:ext cx="379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classifier/process fields to audit consistency and possible labeling regimes.</a:t>
            </a:r>
            <a:endParaRPr/>
          </a:p>
        </p:txBody>
      </p:sp>
      <p:sp>
        <p:nvSpPr>
          <p:cNvPr id="1498" name="Google Shape;1498;p32"/>
          <p:cNvSpPr/>
          <p:nvPr/>
        </p:nvSpPr>
        <p:spPr>
          <a:xfrm>
            <a:off x="6972300" y="27432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2"/>
          <p:cNvSpPr/>
          <p:nvPr/>
        </p:nvSpPr>
        <p:spPr>
          <a:xfrm>
            <a:off x="7181850" y="2667000"/>
            <a:ext cx="379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Exclude classifier IDs and downstream classification metadata from predictive features.</a:t>
            </a:r>
            <a:endParaRPr/>
          </a:p>
        </p:txBody>
      </p:sp>
      <p:sp>
        <p:nvSpPr>
          <p:cNvPr id="1500" name="Google Shape;1500;p32"/>
          <p:cNvSpPr/>
          <p:nvPr/>
        </p:nvSpPr>
        <p:spPr>
          <a:xfrm>
            <a:off x="6972300" y="32194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2"/>
          <p:cNvSpPr/>
          <p:nvPr/>
        </p:nvSpPr>
        <p:spPr>
          <a:xfrm>
            <a:off x="7181850" y="3143250"/>
            <a:ext cx="3790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If disagreement is suspected, evaluate model errors by classifier/time/branch slices.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7" name="Google Shape;1507;p33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8" name="Google Shape;1508;p33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Automatic population</a:t>
            </a:r>
            <a:endParaRPr/>
          </a:p>
        </p:txBody>
      </p:sp>
      <p:sp>
        <p:nvSpPr>
          <p:cNvPr id="1509" name="Google Shape;1509;p33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1510" name="Google Shape;1510;p33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AUTOMATIC LABEL TIERS</a:t>
            </a:r>
            <a:endParaRPr/>
          </a:p>
        </p:txBody>
      </p:sp>
      <p:sp>
        <p:nvSpPr>
          <p:cNvPr id="1511" name="Google Shape;1511;p33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Automatic rows contain useful weak labels, but confidence is not uniform</a:t>
            </a:r>
            <a:endParaRPr/>
          </a:p>
        </p:txBody>
      </p:sp>
      <p:sp>
        <p:nvSpPr>
          <p:cNvPr id="1512" name="Google Shape;1512;p33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automatic population should be stratified before it is used for training.</a:t>
            </a:r>
            <a:endParaRPr/>
          </a:p>
        </p:txBody>
      </p:sp>
      <p:graphicFrame>
        <p:nvGraphicFramePr>
          <p:cNvPr id="1513" name="Google Shape;1513;p33"/>
          <p:cNvGraphicFramePr/>
          <p:nvPr/>
        </p:nvGraphicFramePr>
        <p:xfrm>
          <a:off x="781050" y="2076450"/>
          <a:ext cx="7429500" cy="333375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14" name="Google Shape;1514;p33"/>
          <p:cNvSpPr/>
          <p:nvPr/>
        </p:nvSpPr>
        <p:spPr>
          <a:xfrm>
            <a:off x="781050" y="5467350"/>
            <a:ext cx="742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X-axis: share of automatic rows. Y-axis: source-agreement/confidence tier.</a:t>
            </a:r>
            <a:endParaRPr/>
          </a:p>
        </p:txBody>
      </p:sp>
      <p:sp>
        <p:nvSpPr>
          <p:cNvPr id="1515" name="Google Shape;1515;p33"/>
          <p:cNvSpPr/>
          <p:nvPr/>
        </p:nvSpPr>
        <p:spPr>
          <a:xfrm>
            <a:off x="8763000" y="2247900"/>
            <a:ext cx="2286000" cy="1085850"/>
          </a:xfrm>
          <a:prstGeom prst="roundRect">
            <a:avLst>
              <a:gd fmla="val 701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3"/>
          <p:cNvSpPr/>
          <p:nvPr/>
        </p:nvSpPr>
        <p:spPr>
          <a:xfrm>
            <a:off x="8934450" y="2419350"/>
            <a:ext cx="1943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50.4%</a:t>
            </a:r>
            <a:endParaRPr/>
          </a:p>
        </p:txBody>
      </p:sp>
      <p:sp>
        <p:nvSpPr>
          <p:cNvPr id="1517" name="Google Shape;1517;p33"/>
          <p:cNvSpPr/>
          <p:nvPr/>
        </p:nvSpPr>
        <p:spPr>
          <a:xfrm>
            <a:off x="8934450" y="2895600"/>
            <a:ext cx="1943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Ma'am-only match tier</a:t>
            </a:r>
            <a:endParaRPr/>
          </a:p>
        </p:txBody>
      </p:sp>
      <p:sp>
        <p:nvSpPr>
          <p:cNvPr id="1518" name="Google Shape;1518;p33"/>
          <p:cNvSpPr/>
          <p:nvPr/>
        </p:nvSpPr>
        <p:spPr>
          <a:xfrm>
            <a:off x="8763000" y="3676650"/>
            <a:ext cx="2286000" cy="1085850"/>
          </a:xfrm>
          <a:prstGeom prst="roundRect">
            <a:avLst>
              <a:gd fmla="val 7018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33"/>
          <p:cNvSpPr/>
          <p:nvPr/>
        </p:nvSpPr>
        <p:spPr>
          <a:xfrm>
            <a:off x="8934450" y="3848100"/>
            <a:ext cx="1943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20.7%</a:t>
            </a:r>
            <a:endParaRPr/>
          </a:p>
        </p:txBody>
      </p:sp>
      <p:sp>
        <p:nvSpPr>
          <p:cNvPr id="1520" name="Google Shape;1520;p33"/>
          <p:cNvSpPr/>
          <p:nvPr/>
        </p:nvSpPr>
        <p:spPr>
          <a:xfrm>
            <a:off x="8934450" y="4324350"/>
            <a:ext cx="1943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 source agreement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6" name="Google Shape;1526;p34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7" name="Google Shape;1527;p34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Automatic population</a:t>
            </a:r>
            <a:endParaRPr/>
          </a:p>
        </p:txBody>
      </p:sp>
      <p:sp>
        <p:nvSpPr>
          <p:cNvPr id="1528" name="Google Shape;1528;p34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  <p:sp>
        <p:nvSpPr>
          <p:cNvPr id="1529" name="Google Shape;1529;p34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HOW AUTOMATIC ROWS SHOULD BE USED</a:t>
            </a:r>
            <a:endParaRPr/>
          </a:p>
        </p:txBody>
      </p:sp>
      <p:sp>
        <p:nvSpPr>
          <p:cNvPr id="1530" name="Google Shape;1530;p34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Treat automatic labels as auxiliary evidence, not as a replacement for manual labels</a:t>
            </a:r>
            <a:endParaRPr/>
          </a:p>
        </p:txBody>
      </p:sp>
      <p:sp>
        <p:nvSpPr>
          <p:cNvPr id="1531" name="Google Shape;1531;p34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safest strategy is staged: benchmark manual-only first, then add automatic data under explicit assumptions.</a:t>
            </a:r>
            <a:endParaRPr/>
          </a:p>
        </p:txBody>
      </p:sp>
      <p:sp>
        <p:nvSpPr>
          <p:cNvPr id="1532" name="Google Shape;1532;p34"/>
          <p:cNvSpPr/>
          <p:nvPr/>
        </p:nvSpPr>
        <p:spPr>
          <a:xfrm>
            <a:off x="723900" y="2057400"/>
            <a:ext cx="3181350" cy="158115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4"/>
          <p:cNvSpPr/>
          <p:nvPr/>
        </p:nvSpPr>
        <p:spPr>
          <a:xfrm>
            <a:off x="723900" y="2057400"/>
            <a:ext cx="57150" cy="15811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4"/>
          <p:cNvSpPr/>
          <p:nvPr/>
        </p:nvSpPr>
        <p:spPr>
          <a:xfrm>
            <a:off x="933450" y="2228850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now</a:t>
            </a:r>
            <a:endParaRPr/>
          </a:p>
        </p:txBody>
      </p:sp>
      <p:sp>
        <p:nvSpPr>
          <p:cNvPr id="1535" name="Google Shape;1535;p34"/>
          <p:cNvSpPr/>
          <p:nvPr/>
        </p:nvSpPr>
        <p:spPr>
          <a:xfrm>
            <a:off x="933450" y="2590800"/>
            <a:ext cx="2819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Dictionary enrichment, text pretraining, source agreement priors, and examples for high-confidence easy cases.</a:t>
            </a:r>
            <a:endParaRPr/>
          </a:p>
        </p:txBody>
      </p:sp>
      <p:sp>
        <p:nvSpPr>
          <p:cNvPr id="1536" name="Google Shape;1536;p34"/>
          <p:cNvSpPr/>
          <p:nvPr/>
        </p:nvSpPr>
        <p:spPr>
          <a:xfrm>
            <a:off x="4514850" y="2057400"/>
            <a:ext cx="3181350" cy="158115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34"/>
          <p:cNvSpPr/>
          <p:nvPr/>
        </p:nvSpPr>
        <p:spPr>
          <a:xfrm>
            <a:off x="4514850" y="2057400"/>
            <a:ext cx="57150" cy="15811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4"/>
          <p:cNvSpPr/>
          <p:nvPr/>
        </p:nvSpPr>
        <p:spPr>
          <a:xfrm>
            <a:off x="4724400" y="2228850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with experiments</a:t>
            </a:r>
            <a:endParaRPr/>
          </a:p>
        </p:txBody>
      </p:sp>
      <p:sp>
        <p:nvSpPr>
          <p:cNvPr id="1539" name="Google Shape;1539;p34"/>
          <p:cNvSpPr/>
          <p:nvPr/>
        </p:nvSpPr>
        <p:spPr>
          <a:xfrm>
            <a:off x="4724400" y="2590800"/>
            <a:ext cx="2819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Weak-label training with sample weights, confidence tiers, and manual-distribution validation.</a:t>
            </a:r>
            <a:endParaRPr/>
          </a:p>
        </p:txBody>
      </p:sp>
      <p:sp>
        <p:nvSpPr>
          <p:cNvPr id="1540" name="Google Shape;1540;p34"/>
          <p:cNvSpPr/>
          <p:nvPr/>
        </p:nvSpPr>
        <p:spPr>
          <a:xfrm>
            <a:off x="8305800" y="2057400"/>
            <a:ext cx="3181350" cy="1581150"/>
          </a:xfrm>
          <a:prstGeom prst="roundRect">
            <a:avLst>
              <a:gd fmla="val 4819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4"/>
          <p:cNvSpPr/>
          <p:nvPr/>
        </p:nvSpPr>
        <p:spPr>
          <a:xfrm>
            <a:off x="8305800" y="2057400"/>
            <a:ext cx="57150" cy="158115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4"/>
          <p:cNvSpPr/>
          <p:nvPr/>
        </p:nvSpPr>
        <p:spPr>
          <a:xfrm>
            <a:off x="8515350" y="2228850"/>
            <a:ext cx="281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Avoid initially</a:t>
            </a:r>
            <a:endParaRPr/>
          </a:p>
        </p:txBody>
      </p:sp>
      <p:sp>
        <p:nvSpPr>
          <p:cNvPr id="1543" name="Google Shape;1543;p34"/>
          <p:cNvSpPr/>
          <p:nvPr/>
        </p:nvSpPr>
        <p:spPr>
          <a:xfrm>
            <a:off x="8515350" y="2590800"/>
            <a:ext cx="28194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Naively merging automatic and manual rows as if they are IID labels from the same population.</a:t>
            </a:r>
            <a:endParaRPr/>
          </a:p>
        </p:txBody>
      </p:sp>
      <p:sp>
        <p:nvSpPr>
          <p:cNvPr id="1544" name="Google Shape;1544;p34"/>
          <p:cNvSpPr/>
          <p:nvPr/>
        </p:nvSpPr>
        <p:spPr>
          <a:xfrm>
            <a:off x="1581150" y="45529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4"/>
          <p:cNvSpPr/>
          <p:nvPr/>
        </p:nvSpPr>
        <p:spPr>
          <a:xfrm>
            <a:off x="1790700" y="4476750"/>
            <a:ext cx="874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Every automatic-data experiment should report manual-only validation performance.</a:t>
            </a:r>
            <a:endParaRPr/>
          </a:p>
        </p:txBody>
      </p:sp>
      <p:sp>
        <p:nvSpPr>
          <p:cNvPr id="1546" name="Google Shape;1546;p34"/>
          <p:cNvSpPr/>
          <p:nvPr/>
        </p:nvSpPr>
        <p:spPr>
          <a:xfrm>
            <a:off x="1581150" y="49530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34"/>
          <p:cNvSpPr/>
          <p:nvPr/>
        </p:nvSpPr>
        <p:spPr>
          <a:xfrm>
            <a:off x="1790700" y="4876800"/>
            <a:ext cx="8743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Run ablations by automatic confidence tier and by branch.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3" name="Google Shape;1553;p35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4" name="Google Shape;1554;p35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Feature recommendations</a:t>
            </a:r>
            <a:endParaRPr/>
          </a:p>
        </p:txBody>
      </p:sp>
      <p:sp>
        <p:nvSpPr>
          <p:cNvPr id="1555" name="Google Shape;1555;p35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1556" name="Google Shape;1556;p35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FEATURE RECOMMENDATION SUMMARY</a:t>
            </a:r>
            <a:endParaRPr/>
          </a:p>
        </p:txBody>
      </p:sp>
      <p:sp>
        <p:nvSpPr>
          <p:cNvPr id="1557" name="Google Shape;1557;p35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allowlist should be explicit and versioned</a:t>
            </a:r>
            <a:endParaRPr/>
          </a:p>
        </p:txBody>
      </p:sp>
      <p:sp>
        <p:nvSpPr>
          <p:cNvPr id="1558" name="Google Shape;1558;p35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revised modeling view separates primary candidates, ablation candidates, QA/split fields, and hard exclusions.</a:t>
            </a:r>
            <a:endParaRPr/>
          </a:p>
        </p:txBody>
      </p:sp>
      <p:sp>
        <p:nvSpPr>
          <p:cNvPr id="1559" name="Google Shape;1559;p35"/>
          <p:cNvSpPr/>
          <p:nvPr/>
        </p:nvSpPr>
        <p:spPr>
          <a:xfrm>
            <a:off x="666750" y="2076450"/>
            <a:ext cx="1600200" cy="6953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5"/>
          <p:cNvSpPr/>
          <p:nvPr/>
        </p:nvSpPr>
        <p:spPr>
          <a:xfrm>
            <a:off x="742950" y="2124075"/>
            <a:ext cx="1447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group</a:t>
            </a:r>
            <a:endParaRPr/>
          </a:p>
        </p:txBody>
      </p:sp>
      <p:sp>
        <p:nvSpPr>
          <p:cNvPr id="1561" name="Google Shape;1561;p35"/>
          <p:cNvSpPr/>
          <p:nvPr/>
        </p:nvSpPr>
        <p:spPr>
          <a:xfrm>
            <a:off x="2266950" y="2076450"/>
            <a:ext cx="4895850" cy="6953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5"/>
          <p:cNvSpPr/>
          <p:nvPr/>
        </p:nvSpPr>
        <p:spPr>
          <a:xfrm>
            <a:off x="2343150" y="2124075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Fields / examples</a:t>
            </a:r>
            <a:endParaRPr/>
          </a:p>
        </p:txBody>
      </p:sp>
      <p:sp>
        <p:nvSpPr>
          <p:cNvPr id="1563" name="Google Shape;1563;p35"/>
          <p:cNvSpPr/>
          <p:nvPr/>
        </p:nvSpPr>
        <p:spPr>
          <a:xfrm>
            <a:off x="7162800" y="2076450"/>
            <a:ext cx="4362450" cy="6953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5"/>
          <p:cNvSpPr/>
          <p:nvPr/>
        </p:nvSpPr>
        <p:spPr>
          <a:xfrm>
            <a:off x="7239000" y="2124075"/>
            <a:ext cx="4210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1565" name="Google Shape;1565;p35"/>
          <p:cNvSpPr/>
          <p:nvPr/>
        </p:nvSpPr>
        <p:spPr>
          <a:xfrm>
            <a:off x="666750" y="2771775"/>
            <a:ext cx="160020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5"/>
          <p:cNvSpPr/>
          <p:nvPr/>
        </p:nvSpPr>
        <p:spPr>
          <a:xfrm>
            <a:off x="742950" y="2819400"/>
            <a:ext cx="1447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/>
          </a:p>
        </p:txBody>
      </p:sp>
      <p:sp>
        <p:nvSpPr>
          <p:cNvPr id="1567" name="Google Shape;1567;p35"/>
          <p:cNvSpPr/>
          <p:nvPr/>
        </p:nvSpPr>
        <p:spPr>
          <a:xfrm>
            <a:off x="2266950" y="2771775"/>
            <a:ext cx="489585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5"/>
          <p:cNvSpPr/>
          <p:nvPr/>
        </p:nvSpPr>
        <p:spPr>
          <a:xfrm>
            <a:off x="2343150" y="2819400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TEUR_PEILUT_MAAM, SHEM_OSEK, SHEM_MAASIK, ANAF_MAAM, ANAF_BL, SUG_TIK_MAAM, KOD_ISHUT</a:t>
            </a:r>
            <a:endParaRPr/>
          </a:p>
        </p:txBody>
      </p:sp>
      <p:sp>
        <p:nvSpPr>
          <p:cNvPr id="1569" name="Google Shape;1569;p35"/>
          <p:cNvSpPr/>
          <p:nvPr/>
        </p:nvSpPr>
        <p:spPr>
          <a:xfrm>
            <a:off x="7162800" y="2771775"/>
            <a:ext cx="436245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5"/>
          <p:cNvSpPr/>
          <p:nvPr/>
        </p:nvSpPr>
        <p:spPr>
          <a:xfrm>
            <a:off x="7239000" y="2819400"/>
            <a:ext cx="4210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in the first combined supervised model if timing/leakage checks pass.</a:t>
            </a:r>
            <a:endParaRPr/>
          </a:p>
        </p:txBody>
      </p:sp>
      <p:sp>
        <p:nvSpPr>
          <p:cNvPr id="1571" name="Google Shape;1571;p35"/>
          <p:cNvSpPr/>
          <p:nvPr/>
        </p:nvSpPr>
        <p:spPr>
          <a:xfrm>
            <a:off x="666750" y="3467100"/>
            <a:ext cx="1600200" cy="6953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5"/>
          <p:cNvSpPr/>
          <p:nvPr/>
        </p:nvSpPr>
        <p:spPr>
          <a:xfrm>
            <a:off x="742950" y="3514725"/>
            <a:ext cx="1447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Ablation</a:t>
            </a:r>
            <a:endParaRPr/>
          </a:p>
        </p:txBody>
      </p:sp>
      <p:sp>
        <p:nvSpPr>
          <p:cNvPr id="1573" name="Google Shape;1573;p35"/>
          <p:cNvSpPr/>
          <p:nvPr/>
        </p:nvSpPr>
        <p:spPr>
          <a:xfrm>
            <a:off x="2266950" y="3467100"/>
            <a:ext cx="4895850" cy="6953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5"/>
          <p:cNvSpPr/>
          <p:nvPr/>
        </p:nvSpPr>
        <p:spPr>
          <a:xfrm>
            <a:off x="2343150" y="3514725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KOD_TKUFA_* fields, SUG_TIK_MH_TEUR, MAAMAD_MISHPATI, ANAF_MAAM_TEUR, ANAF_BL_TEUR, SHEM_ESEK_LMS, SHEM_OSEK_LUAZI</a:t>
            </a:r>
            <a:endParaRPr/>
          </a:p>
        </p:txBody>
      </p:sp>
      <p:sp>
        <p:nvSpPr>
          <p:cNvPr id="1575" name="Google Shape;1575;p35"/>
          <p:cNvSpPr/>
          <p:nvPr/>
        </p:nvSpPr>
        <p:spPr>
          <a:xfrm>
            <a:off x="7162800" y="3467100"/>
            <a:ext cx="4362450" cy="6953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5"/>
          <p:cNvSpPr/>
          <p:nvPr/>
        </p:nvSpPr>
        <p:spPr>
          <a:xfrm>
            <a:off x="7239000" y="3514725"/>
            <a:ext cx="4210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Run with and without this group to measure marginal lift and decide if complexity is worthwhile.</a:t>
            </a:r>
            <a:endParaRPr/>
          </a:p>
        </p:txBody>
      </p:sp>
      <p:sp>
        <p:nvSpPr>
          <p:cNvPr id="1577" name="Google Shape;1577;p35"/>
          <p:cNvSpPr/>
          <p:nvPr/>
        </p:nvSpPr>
        <p:spPr>
          <a:xfrm>
            <a:off x="666750" y="4162425"/>
            <a:ext cx="160020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5"/>
          <p:cNvSpPr/>
          <p:nvPr/>
        </p:nvSpPr>
        <p:spPr>
          <a:xfrm>
            <a:off x="742950" y="4210050"/>
            <a:ext cx="1447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Exclude / QA</a:t>
            </a:r>
            <a:endParaRPr/>
          </a:p>
        </p:txBody>
      </p:sp>
      <p:sp>
        <p:nvSpPr>
          <p:cNvPr id="1579" name="Google Shape;1579;p35"/>
          <p:cNvSpPr/>
          <p:nvPr/>
        </p:nvSpPr>
        <p:spPr>
          <a:xfrm>
            <a:off x="2266950" y="4162425"/>
            <a:ext cx="489585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5"/>
          <p:cNvSpPr/>
          <p:nvPr/>
        </p:nvSpPr>
        <p:spPr>
          <a:xfrm>
            <a:off x="2343150" y="4210050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ANAF_2011_ID, ANAF_MIRSHAM_TEUR, STATUS_SIVUG_TEUR, MAKOR_SIVUG_TEUR, classifier IDs, raw identifiers, raw dates, process comments</a:t>
            </a:r>
            <a:endParaRPr/>
          </a:p>
        </p:txBody>
      </p:sp>
      <p:sp>
        <p:nvSpPr>
          <p:cNvPr id="1581" name="Google Shape;1581;p35"/>
          <p:cNvSpPr/>
          <p:nvPr/>
        </p:nvSpPr>
        <p:spPr>
          <a:xfrm>
            <a:off x="7162800" y="4162425"/>
            <a:ext cx="4362450" cy="6953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5"/>
          <p:cNvSpPr/>
          <p:nvPr/>
        </p:nvSpPr>
        <p:spPr>
          <a:xfrm>
            <a:off x="7239000" y="4210050"/>
            <a:ext cx="42100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for target, slicing, audit, joins, or leakage checks, but not predictive input.</a:t>
            </a:r>
            <a:endParaRPr/>
          </a:p>
        </p:txBody>
      </p:sp>
      <p:sp>
        <p:nvSpPr>
          <p:cNvPr id="1583" name="Google Shape;1583;p35"/>
          <p:cNvSpPr/>
          <p:nvPr/>
        </p:nvSpPr>
        <p:spPr>
          <a:xfrm>
            <a:off x="1352550" y="5257800"/>
            <a:ext cx="9486900" cy="6858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5"/>
          <p:cNvSpPr/>
          <p:nvPr/>
        </p:nvSpPr>
        <p:spPr>
          <a:xfrm>
            <a:off x="1352550" y="5257800"/>
            <a:ext cx="57150" cy="6858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5"/>
          <p:cNvSpPr/>
          <p:nvPr/>
        </p:nvSpPr>
        <p:spPr>
          <a:xfrm>
            <a:off x="1562100" y="5372100"/>
            <a:ext cx="912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Ablation in plain English</a:t>
            </a:r>
            <a:endParaRPr/>
          </a:p>
        </p:txBody>
      </p:sp>
      <p:sp>
        <p:nvSpPr>
          <p:cNvPr id="1586" name="Google Shape;1586;p35"/>
          <p:cNvSpPr/>
          <p:nvPr/>
        </p:nvSpPr>
        <p:spPr>
          <a:xfrm>
            <a:off x="1562100" y="5619750"/>
            <a:ext cx="9124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An ablation is a controlled comparison: train the same model with a feature group and without it, then measure whether the group improves manual-validation performance.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2" name="Google Shape;1592;p36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3" name="Google Shape;1593;p36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Modeling strategy</a:t>
            </a:r>
            <a:endParaRPr/>
          </a:p>
        </p:txBody>
      </p:sp>
      <p:sp>
        <p:nvSpPr>
          <p:cNvPr id="1594" name="Google Shape;1594;p36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1595" name="Google Shape;1595;p36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RECOMMENDED MODEL CANDIDATES</a:t>
            </a:r>
            <a:endParaRPr/>
          </a:p>
        </p:txBody>
      </p:sp>
      <p:sp>
        <p:nvSpPr>
          <p:cNvPr id="1596" name="Google Shape;1596;p36"/>
          <p:cNvSpPr/>
          <p:nvPr/>
        </p:nvSpPr>
        <p:spPr>
          <a:xfrm>
            <a:off x="609600" y="742950"/>
            <a:ext cx="9334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Start simple, then add representation power only when it beats the baselines</a:t>
            </a:r>
            <a:endParaRPr/>
          </a:p>
        </p:txBody>
      </p:sp>
      <p:sp>
        <p:nvSpPr>
          <p:cNvPr id="1597" name="Google Shape;1597;p36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on-prem stack supports sparse ML, XGBoost, sentence-transformer embeddings, and Hebrew transformer experiments.</a:t>
            </a:r>
            <a:endParaRPr/>
          </a:p>
        </p:txBody>
      </p:sp>
      <p:sp>
        <p:nvSpPr>
          <p:cNvPr id="1598" name="Google Shape;1598;p36"/>
          <p:cNvSpPr/>
          <p:nvPr/>
        </p:nvSpPr>
        <p:spPr>
          <a:xfrm>
            <a:off x="495300" y="1924050"/>
            <a:ext cx="666750" cy="5937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6"/>
          <p:cNvSpPr/>
          <p:nvPr/>
        </p:nvSpPr>
        <p:spPr>
          <a:xfrm>
            <a:off x="571500" y="1971675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/>
          </a:p>
        </p:txBody>
      </p:sp>
      <p:sp>
        <p:nvSpPr>
          <p:cNvPr id="1600" name="Google Shape;1600;p36"/>
          <p:cNvSpPr/>
          <p:nvPr/>
        </p:nvSpPr>
        <p:spPr>
          <a:xfrm>
            <a:off x="1162050" y="1924050"/>
            <a:ext cx="3524250" cy="5937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6"/>
          <p:cNvSpPr/>
          <p:nvPr/>
        </p:nvSpPr>
        <p:spPr>
          <a:xfrm>
            <a:off x="1238250" y="1971675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Candidate architecture</a:t>
            </a:r>
            <a:endParaRPr/>
          </a:p>
        </p:txBody>
      </p:sp>
      <p:sp>
        <p:nvSpPr>
          <p:cNvPr id="1602" name="Google Shape;1602;p36"/>
          <p:cNvSpPr/>
          <p:nvPr/>
        </p:nvSpPr>
        <p:spPr>
          <a:xfrm>
            <a:off x="4686300" y="1924050"/>
            <a:ext cx="3238500" cy="5937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4762500" y="1971675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On-prem tools / models</a:t>
            </a:r>
            <a:endParaRPr/>
          </a:p>
        </p:txBody>
      </p:sp>
      <p:sp>
        <p:nvSpPr>
          <p:cNvPr id="1604" name="Google Shape;1604;p36"/>
          <p:cNvSpPr/>
          <p:nvPr/>
        </p:nvSpPr>
        <p:spPr>
          <a:xfrm>
            <a:off x="7924800" y="1924050"/>
            <a:ext cx="3771900" cy="593725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6"/>
          <p:cNvSpPr/>
          <p:nvPr/>
        </p:nvSpPr>
        <p:spPr>
          <a:xfrm>
            <a:off x="8001000" y="1971675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Why test it</a:t>
            </a:r>
            <a:endParaRPr/>
          </a:p>
        </p:txBody>
      </p:sp>
      <p:sp>
        <p:nvSpPr>
          <p:cNvPr id="1606" name="Google Shape;1606;p36"/>
          <p:cNvSpPr/>
          <p:nvPr/>
        </p:nvSpPr>
        <p:spPr>
          <a:xfrm>
            <a:off x="495300" y="2517775"/>
            <a:ext cx="6667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6"/>
          <p:cNvSpPr/>
          <p:nvPr/>
        </p:nvSpPr>
        <p:spPr>
          <a:xfrm>
            <a:off x="571500" y="2565400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08" name="Google Shape;1608;p36"/>
          <p:cNvSpPr/>
          <p:nvPr/>
        </p:nvSpPr>
        <p:spPr>
          <a:xfrm>
            <a:off x="1162050" y="2517775"/>
            <a:ext cx="35242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6"/>
          <p:cNvSpPr/>
          <p:nvPr/>
        </p:nvSpPr>
        <p:spPr>
          <a:xfrm>
            <a:off x="1238250" y="2565400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TF-IDF text + categorical/source/numeric features + linear classifier</a:t>
            </a:r>
            <a:endParaRPr/>
          </a:p>
        </p:txBody>
      </p:sp>
      <p:sp>
        <p:nvSpPr>
          <p:cNvPr id="1610" name="Google Shape;1610;p36"/>
          <p:cNvSpPr/>
          <p:nvPr/>
        </p:nvSpPr>
        <p:spPr>
          <a:xfrm>
            <a:off x="4686300" y="2517775"/>
            <a:ext cx="32385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6"/>
          <p:cNvSpPr/>
          <p:nvPr/>
        </p:nvSpPr>
        <p:spPr>
          <a:xfrm>
            <a:off x="4762500" y="2565400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scikit-learn, scipy, pandas</a:t>
            </a:r>
            <a:endParaRPr/>
          </a:p>
        </p:txBody>
      </p:sp>
      <p:sp>
        <p:nvSpPr>
          <p:cNvPr id="1612" name="Google Shape;1612;p36"/>
          <p:cNvSpPr/>
          <p:nvPr/>
        </p:nvSpPr>
        <p:spPr>
          <a:xfrm>
            <a:off x="7924800" y="2517775"/>
            <a:ext cx="37719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6"/>
          <p:cNvSpPr/>
          <p:nvPr/>
        </p:nvSpPr>
        <p:spPr>
          <a:xfrm>
            <a:off x="8001000" y="2565400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fast, transparent, strong baseline for sparse text and many classes</a:t>
            </a:r>
            <a:endParaRPr/>
          </a:p>
        </p:txBody>
      </p:sp>
      <p:sp>
        <p:nvSpPr>
          <p:cNvPr id="1614" name="Google Shape;1614;p36"/>
          <p:cNvSpPr/>
          <p:nvPr/>
        </p:nvSpPr>
        <p:spPr>
          <a:xfrm>
            <a:off x="495300" y="3111500"/>
            <a:ext cx="66675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6"/>
          <p:cNvSpPr/>
          <p:nvPr/>
        </p:nvSpPr>
        <p:spPr>
          <a:xfrm>
            <a:off x="571500" y="3159125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16" name="Google Shape;1616;p36"/>
          <p:cNvSpPr/>
          <p:nvPr/>
        </p:nvSpPr>
        <p:spPr>
          <a:xfrm>
            <a:off x="1162050" y="3111500"/>
            <a:ext cx="352425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6"/>
          <p:cNvSpPr/>
          <p:nvPr/>
        </p:nvSpPr>
        <p:spPr>
          <a:xfrm>
            <a:off x="1238250" y="3159125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XGBoost on source/categorical/numeric + compact text features</a:t>
            </a:r>
            <a:endParaRPr/>
          </a:p>
        </p:txBody>
      </p:sp>
      <p:sp>
        <p:nvSpPr>
          <p:cNvPr id="1618" name="Google Shape;1618;p36"/>
          <p:cNvSpPr/>
          <p:nvPr/>
        </p:nvSpPr>
        <p:spPr>
          <a:xfrm>
            <a:off x="4686300" y="3111500"/>
            <a:ext cx="323850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6"/>
          <p:cNvSpPr/>
          <p:nvPr/>
        </p:nvSpPr>
        <p:spPr>
          <a:xfrm>
            <a:off x="4762500" y="3159125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xgboost, scikit-learn</a:t>
            </a:r>
            <a:endParaRPr/>
          </a:p>
        </p:txBody>
      </p:sp>
      <p:sp>
        <p:nvSpPr>
          <p:cNvPr id="1620" name="Google Shape;1620;p36"/>
          <p:cNvSpPr/>
          <p:nvPr/>
        </p:nvSpPr>
        <p:spPr>
          <a:xfrm>
            <a:off x="7924800" y="3111500"/>
            <a:ext cx="377190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6"/>
          <p:cNvSpPr/>
          <p:nvPr/>
        </p:nvSpPr>
        <p:spPr>
          <a:xfrm>
            <a:off x="8001000" y="3159125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handles nonlinear tabular interactions and missingness well</a:t>
            </a:r>
            <a:endParaRPr/>
          </a:p>
        </p:txBody>
      </p:sp>
      <p:sp>
        <p:nvSpPr>
          <p:cNvPr id="1622" name="Google Shape;1622;p36"/>
          <p:cNvSpPr/>
          <p:nvPr/>
        </p:nvSpPr>
        <p:spPr>
          <a:xfrm>
            <a:off x="495300" y="3705225"/>
            <a:ext cx="6667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6"/>
          <p:cNvSpPr/>
          <p:nvPr/>
        </p:nvSpPr>
        <p:spPr>
          <a:xfrm>
            <a:off x="571500" y="3752850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624" name="Google Shape;1624;p36"/>
          <p:cNvSpPr/>
          <p:nvPr/>
        </p:nvSpPr>
        <p:spPr>
          <a:xfrm>
            <a:off x="1162050" y="3705225"/>
            <a:ext cx="35242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6"/>
          <p:cNvSpPr/>
          <p:nvPr/>
        </p:nvSpPr>
        <p:spPr>
          <a:xfrm>
            <a:off x="1238250" y="3752850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Sentence embeddings + classifier</a:t>
            </a:r>
            <a:endParaRPr/>
          </a:p>
        </p:txBody>
      </p:sp>
      <p:sp>
        <p:nvSpPr>
          <p:cNvPr id="1626" name="Google Shape;1626;p36"/>
          <p:cNvSpPr/>
          <p:nvPr/>
        </p:nvSpPr>
        <p:spPr>
          <a:xfrm>
            <a:off x="4686300" y="3705225"/>
            <a:ext cx="32385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6"/>
          <p:cNvSpPr/>
          <p:nvPr/>
        </p:nvSpPr>
        <p:spPr>
          <a:xfrm>
            <a:off x="4762500" y="3752850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sentence-transformers, multilingual-e5-large, scikit-learn/XGBoost</a:t>
            </a:r>
            <a:endParaRPr/>
          </a:p>
        </p:txBody>
      </p:sp>
      <p:sp>
        <p:nvSpPr>
          <p:cNvPr id="1628" name="Google Shape;1628;p36"/>
          <p:cNvSpPr/>
          <p:nvPr/>
        </p:nvSpPr>
        <p:spPr>
          <a:xfrm>
            <a:off x="7924800" y="3705225"/>
            <a:ext cx="37719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6"/>
          <p:cNvSpPr/>
          <p:nvPr/>
        </p:nvSpPr>
        <p:spPr>
          <a:xfrm>
            <a:off x="8001000" y="3752850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captures semantic similarity beyond exact words</a:t>
            </a:r>
            <a:endParaRPr/>
          </a:p>
        </p:txBody>
      </p:sp>
      <p:sp>
        <p:nvSpPr>
          <p:cNvPr id="1630" name="Google Shape;1630;p36"/>
          <p:cNvSpPr/>
          <p:nvPr/>
        </p:nvSpPr>
        <p:spPr>
          <a:xfrm>
            <a:off x="495300" y="4298950"/>
            <a:ext cx="66675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6"/>
          <p:cNvSpPr/>
          <p:nvPr/>
        </p:nvSpPr>
        <p:spPr>
          <a:xfrm>
            <a:off x="571500" y="4346575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32" name="Google Shape;1632;p36"/>
          <p:cNvSpPr/>
          <p:nvPr/>
        </p:nvSpPr>
        <p:spPr>
          <a:xfrm>
            <a:off x="1162050" y="4298950"/>
            <a:ext cx="352425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6"/>
          <p:cNvSpPr/>
          <p:nvPr/>
        </p:nvSpPr>
        <p:spPr>
          <a:xfrm>
            <a:off x="1238250" y="4346575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Fine-tuned Hebrew encoder</a:t>
            </a:r>
            <a:endParaRPr/>
          </a:p>
        </p:txBody>
      </p:sp>
      <p:sp>
        <p:nvSpPr>
          <p:cNvPr id="1634" name="Google Shape;1634;p36"/>
          <p:cNvSpPr/>
          <p:nvPr/>
        </p:nvSpPr>
        <p:spPr>
          <a:xfrm>
            <a:off x="4686300" y="4298950"/>
            <a:ext cx="323850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6"/>
          <p:cNvSpPr/>
          <p:nvPr/>
        </p:nvSpPr>
        <p:spPr>
          <a:xfrm>
            <a:off x="4762500" y="4346575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transformers, torch, AlephBERT / DictaBERT / NeoDictaBERT</a:t>
            </a:r>
            <a:endParaRPr/>
          </a:p>
        </p:txBody>
      </p:sp>
      <p:sp>
        <p:nvSpPr>
          <p:cNvPr id="1636" name="Google Shape;1636;p36"/>
          <p:cNvSpPr/>
          <p:nvPr/>
        </p:nvSpPr>
        <p:spPr>
          <a:xfrm>
            <a:off x="7924800" y="4298950"/>
            <a:ext cx="3771900" cy="593725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6"/>
          <p:cNvSpPr/>
          <p:nvPr/>
        </p:nvSpPr>
        <p:spPr>
          <a:xfrm>
            <a:off x="8001000" y="4346575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strongest text model candidate, but slower and easier to overfit</a:t>
            </a:r>
            <a:endParaRPr/>
          </a:p>
        </p:txBody>
      </p:sp>
      <p:sp>
        <p:nvSpPr>
          <p:cNvPr id="1638" name="Google Shape;1638;p36"/>
          <p:cNvSpPr/>
          <p:nvPr/>
        </p:nvSpPr>
        <p:spPr>
          <a:xfrm>
            <a:off x="495300" y="4892675"/>
            <a:ext cx="6667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6"/>
          <p:cNvSpPr/>
          <p:nvPr/>
        </p:nvSpPr>
        <p:spPr>
          <a:xfrm>
            <a:off x="571500" y="4940300"/>
            <a:ext cx="5143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40" name="Google Shape;1640;p36"/>
          <p:cNvSpPr/>
          <p:nvPr/>
        </p:nvSpPr>
        <p:spPr>
          <a:xfrm>
            <a:off x="1162050" y="4892675"/>
            <a:ext cx="352425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6"/>
          <p:cNvSpPr/>
          <p:nvPr/>
        </p:nvSpPr>
        <p:spPr>
          <a:xfrm>
            <a:off x="1238250" y="4940300"/>
            <a:ext cx="337185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8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LLM-assisted rerank/enrichment</a:t>
            </a:r>
            <a:endParaRPr/>
          </a:p>
        </p:txBody>
      </p:sp>
      <p:sp>
        <p:nvSpPr>
          <p:cNvPr id="1642" name="Google Shape;1642;p36"/>
          <p:cNvSpPr/>
          <p:nvPr/>
        </p:nvSpPr>
        <p:spPr>
          <a:xfrm>
            <a:off x="4686300" y="4892675"/>
            <a:ext cx="32385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6"/>
          <p:cNvSpPr/>
          <p:nvPr/>
        </p:nvSpPr>
        <p:spPr>
          <a:xfrm>
            <a:off x="4762500" y="4940300"/>
            <a:ext cx="30861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DictaLM/Aya/Qwen/Vicuna family where available</a:t>
            </a:r>
            <a:endParaRPr/>
          </a:p>
        </p:txBody>
      </p:sp>
      <p:sp>
        <p:nvSpPr>
          <p:cNvPr id="1644" name="Google Shape;1644;p36"/>
          <p:cNvSpPr/>
          <p:nvPr/>
        </p:nvSpPr>
        <p:spPr>
          <a:xfrm>
            <a:off x="7924800" y="4892675"/>
            <a:ext cx="3771900" cy="5937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6"/>
          <p:cNvSpPr/>
          <p:nvPr/>
        </p:nvSpPr>
        <p:spPr>
          <a:xfrm>
            <a:off x="8001000" y="4940300"/>
            <a:ext cx="36195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later for hard cases, explanations, or candidate reranking</a:t>
            </a:r>
            <a:endParaRPr/>
          </a:p>
        </p:txBody>
      </p:sp>
      <p:sp>
        <p:nvSpPr>
          <p:cNvPr id="1646" name="Google Shape;1646;p36"/>
          <p:cNvSpPr/>
          <p:nvPr/>
        </p:nvSpPr>
        <p:spPr>
          <a:xfrm>
            <a:off x="1200150" y="5753100"/>
            <a:ext cx="9791700" cy="514350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6"/>
          <p:cNvSpPr/>
          <p:nvPr/>
        </p:nvSpPr>
        <p:spPr>
          <a:xfrm>
            <a:off x="1200150" y="5753100"/>
            <a:ext cx="57150" cy="5143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6"/>
          <p:cNvSpPr/>
          <p:nvPr/>
        </p:nvSpPr>
        <p:spPr>
          <a:xfrm>
            <a:off x="1390650" y="5905500"/>
            <a:ext cx="9372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Recommended order: do not jump straight to the largest model. First prove lift over source baselines and a sparse text/tabular benchmark on manual-only validation.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4" name="Google Shape;1654;p37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5" name="Google Shape;1655;p37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Modeling strategy</a:t>
            </a:r>
            <a:endParaRPr/>
          </a:p>
        </p:txBody>
      </p:sp>
      <p:sp>
        <p:nvSpPr>
          <p:cNvPr id="1656" name="Google Shape;1656;p37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  <p:sp>
        <p:nvSpPr>
          <p:cNvPr id="1657" name="Google Shape;1657;p37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MODEL SYSTEM SHAPE</a:t>
            </a:r>
            <a:endParaRPr/>
          </a:p>
        </p:txBody>
      </p:sp>
      <p:sp>
        <p:nvSpPr>
          <p:cNvPr id="1658" name="Google Shape;1658;p37"/>
          <p:cNvSpPr/>
          <p:nvPr/>
        </p:nvSpPr>
        <p:spPr>
          <a:xfrm>
            <a:off x="609600" y="742950"/>
            <a:ext cx="10230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Use a manual-first supervised model and explicit baselines</a:t>
            </a:r>
            <a:endParaRPr/>
          </a:p>
        </p:txBody>
      </p:sp>
      <p:sp>
        <p:nvSpPr>
          <p:cNvPr id="1659" name="Google Shape;1659;p37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first prototype should preserve the comparison structure even if the first implementation is simple.</a:t>
            </a:r>
            <a:endParaRPr/>
          </a:p>
        </p:txBody>
      </p:sp>
      <p:sp>
        <p:nvSpPr>
          <p:cNvPr id="1660" name="Google Shape;1660;p37"/>
          <p:cNvSpPr/>
          <p:nvPr/>
        </p:nvSpPr>
        <p:spPr>
          <a:xfrm>
            <a:off x="876300" y="2133600"/>
            <a:ext cx="2305050" cy="14478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7"/>
          <p:cNvSpPr/>
          <p:nvPr/>
        </p:nvSpPr>
        <p:spPr>
          <a:xfrm>
            <a:off x="1047750" y="230505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7"/>
          <p:cNvSpPr/>
          <p:nvPr/>
        </p:nvSpPr>
        <p:spPr>
          <a:xfrm>
            <a:off x="1181100" y="23526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/>
          </a:p>
        </p:txBody>
      </p:sp>
      <p:sp>
        <p:nvSpPr>
          <p:cNvPr id="1663" name="Google Shape;1663;p37"/>
          <p:cNvSpPr/>
          <p:nvPr/>
        </p:nvSpPr>
        <p:spPr>
          <a:xfrm>
            <a:off x="1047750" y="26860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Eligible features</a:t>
            </a:r>
            <a:endParaRPr/>
          </a:p>
        </p:txBody>
      </p:sp>
      <p:sp>
        <p:nvSpPr>
          <p:cNvPr id="1664" name="Google Shape;1664;p37"/>
          <p:cNvSpPr/>
          <p:nvPr/>
        </p:nvSpPr>
        <p:spPr>
          <a:xfrm>
            <a:off x="1047750" y="3048000"/>
            <a:ext cx="1962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primary text/source fields plus ablation-tested categorical, source-description, and reference-name fields</a:t>
            </a:r>
            <a:endParaRPr/>
          </a:p>
        </p:txBody>
      </p:sp>
      <p:sp>
        <p:nvSpPr>
          <p:cNvPr id="1665" name="Google Shape;1665;p37"/>
          <p:cNvSpPr/>
          <p:nvPr/>
        </p:nvSpPr>
        <p:spPr>
          <a:xfrm>
            <a:off x="3238500" y="2686050"/>
            <a:ext cx="4572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7"/>
          <p:cNvSpPr/>
          <p:nvPr/>
        </p:nvSpPr>
        <p:spPr>
          <a:xfrm>
            <a:off x="3657600" y="2133600"/>
            <a:ext cx="2305050" cy="14478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7"/>
          <p:cNvSpPr/>
          <p:nvPr/>
        </p:nvSpPr>
        <p:spPr>
          <a:xfrm>
            <a:off x="3829050" y="230505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7"/>
          <p:cNvSpPr/>
          <p:nvPr/>
        </p:nvSpPr>
        <p:spPr>
          <a:xfrm>
            <a:off x="3962400" y="23526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2</a:t>
            </a:r>
            <a:endParaRPr/>
          </a:p>
        </p:txBody>
      </p:sp>
      <p:sp>
        <p:nvSpPr>
          <p:cNvPr id="1669" name="Google Shape;1669;p37"/>
          <p:cNvSpPr/>
          <p:nvPr/>
        </p:nvSpPr>
        <p:spPr>
          <a:xfrm>
            <a:off x="3829050" y="26860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Manual-first model</a:t>
            </a:r>
            <a:endParaRPr/>
          </a:p>
        </p:txBody>
      </p:sp>
      <p:sp>
        <p:nvSpPr>
          <p:cNvPr id="1670" name="Google Shape;1670;p37"/>
          <p:cNvSpPr/>
          <p:nvPr/>
        </p:nvSpPr>
        <p:spPr>
          <a:xfrm>
            <a:off x="3829050" y="3048000"/>
            <a:ext cx="1962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primary supervised learner trained/evaluated on manual population</a:t>
            </a:r>
            <a:endParaRPr/>
          </a:p>
        </p:txBody>
      </p:sp>
      <p:sp>
        <p:nvSpPr>
          <p:cNvPr id="1671" name="Google Shape;1671;p37"/>
          <p:cNvSpPr/>
          <p:nvPr/>
        </p:nvSpPr>
        <p:spPr>
          <a:xfrm>
            <a:off x="6019800" y="2686050"/>
            <a:ext cx="4572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7"/>
          <p:cNvSpPr/>
          <p:nvPr/>
        </p:nvSpPr>
        <p:spPr>
          <a:xfrm>
            <a:off x="6438900" y="2133600"/>
            <a:ext cx="2305050" cy="14478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7"/>
          <p:cNvSpPr/>
          <p:nvPr/>
        </p:nvSpPr>
        <p:spPr>
          <a:xfrm>
            <a:off x="6610350" y="230505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7"/>
          <p:cNvSpPr/>
          <p:nvPr/>
        </p:nvSpPr>
        <p:spPr>
          <a:xfrm>
            <a:off x="6743700" y="23526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3</a:t>
            </a:r>
            <a:endParaRPr/>
          </a:p>
        </p:txBody>
      </p:sp>
      <p:sp>
        <p:nvSpPr>
          <p:cNvPr id="1675" name="Google Shape;1675;p37"/>
          <p:cNvSpPr/>
          <p:nvPr/>
        </p:nvSpPr>
        <p:spPr>
          <a:xfrm>
            <a:off x="6610350" y="26860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Auxiliary source models+ </a:t>
            </a:r>
            <a:r>
              <a:rPr b="1" lang="en-US" sz="1275">
                <a:solidFill>
                  <a:srgbClr val="14202D"/>
                </a:solidFill>
              </a:rPr>
              <a:t>finance data</a:t>
            </a:r>
            <a:r>
              <a:rPr b="1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76" name="Google Shape;1676;p37"/>
          <p:cNvSpPr/>
          <p:nvPr/>
        </p:nvSpPr>
        <p:spPr>
          <a:xfrm>
            <a:off x="6610350" y="3048000"/>
            <a:ext cx="1962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Ma'am/Bituach agreement, branch-specific thresholds, automatic weak labels</a:t>
            </a:r>
            <a:endParaRPr/>
          </a:p>
        </p:txBody>
      </p:sp>
      <p:sp>
        <p:nvSpPr>
          <p:cNvPr id="1677" name="Google Shape;1677;p37"/>
          <p:cNvSpPr/>
          <p:nvPr/>
        </p:nvSpPr>
        <p:spPr>
          <a:xfrm>
            <a:off x="8801100" y="2686050"/>
            <a:ext cx="4572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7"/>
          <p:cNvSpPr/>
          <p:nvPr/>
        </p:nvSpPr>
        <p:spPr>
          <a:xfrm>
            <a:off x="9220200" y="2133600"/>
            <a:ext cx="2305050" cy="14478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7"/>
          <p:cNvSpPr/>
          <p:nvPr/>
        </p:nvSpPr>
        <p:spPr>
          <a:xfrm>
            <a:off x="9391650" y="2305050"/>
            <a:ext cx="1790700" cy="266700"/>
          </a:xfrm>
          <a:prstGeom prst="roundRect">
            <a:avLst>
              <a:gd fmla="val 50000" name="adj"/>
            </a:avLst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7"/>
          <p:cNvSpPr/>
          <p:nvPr/>
        </p:nvSpPr>
        <p:spPr>
          <a:xfrm>
            <a:off x="9525000" y="235267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4</a:t>
            </a:r>
            <a:endParaRPr/>
          </a:p>
        </p:txBody>
      </p:sp>
      <p:sp>
        <p:nvSpPr>
          <p:cNvPr id="1681" name="Google Shape;1681;p37"/>
          <p:cNvSpPr/>
          <p:nvPr/>
        </p:nvSpPr>
        <p:spPr>
          <a:xfrm>
            <a:off x="9391650" y="2686050"/>
            <a:ext cx="1962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Decision layer</a:t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9391650" y="3048000"/>
            <a:ext cx="19621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confidence, hierarchy-aware fallback, human-review queue</a:t>
            </a:r>
            <a:endParaRPr/>
          </a:p>
        </p:txBody>
      </p:sp>
      <p:sp>
        <p:nvSpPr>
          <p:cNvPr id="1683" name="Google Shape;1683;p37"/>
          <p:cNvSpPr/>
          <p:nvPr/>
        </p:nvSpPr>
        <p:spPr>
          <a:xfrm>
            <a:off x="1314450" y="44958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1524000" y="4419600"/>
            <a:ext cx="9315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Required baselines: majority, Ma'am, Bituach, Ma'am-else-Bituach, agreement-only, exact-text dictionary.</a:t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1314450" y="48577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1524000" y="4781550"/>
            <a:ext cx="9315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Primary model: combined text + source branches + categorical + numeric features.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2" name="Google Shape;1692;p38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3" name="Google Shape;1693;p38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Modeling strategy</a:t>
            </a:r>
            <a:endParaRPr/>
          </a:p>
        </p:txBody>
      </p:sp>
      <p:sp>
        <p:nvSpPr>
          <p:cNvPr id="1694" name="Google Shape;1694;p38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p:sp>
        <p:nvSpPr>
          <p:cNvPr id="1695" name="Google Shape;1695;p38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SPECIALIST OPTION A</a:t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609600" y="742950"/>
            <a:ext cx="10040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Route by class-frequency regime: head, middle, and long tail</a:t>
            </a:r>
            <a:endParaRPr/>
          </a:p>
        </p:txBody>
      </p:sp>
      <p:sp>
        <p:nvSpPr>
          <p:cNvPr id="1697" name="Google Shape;1697;p38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 two-layer strategy can separate abundant classes from sparse classes instead of forcing one global decision surface.</a:t>
            </a:r>
            <a:endParaRPr/>
          </a:p>
        </p:txBody>
      </p:sp>
      <p:sp>
        <p:nvSpPr>
          <p:cNvPr id="1698" name="Google Shape;1698;p38"/>
          <p:cNvSpPr/>
          <p:nvPr/>
        </p:nvSpPr>
        <p:spPr>
          <a:xfrm>
            <a:off x="876300" y="2114550"/>
            <a:ext cx="180975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38"/>
          <p:cNvSpPr/>
          <p:nvPr/>
        </p:nvSpPr>
        <p:spPr>
          <a:xfrm>
            <a:off x="952500" y="2162175"/>
            <a:ext cx="1657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Layer</a:t>
            </a:r>
            <a:endParaRPr/>
          </a:p>
        </p:txBody>
      </p:sp>
      <p:sp>
        <p:nvSpPr>
          <p:cNvPr id="1700" name="Google Shape;1700;p38"/>
          <p:cNvSpPr/>
          <p:nvPr/>
        </p:nvSpPr>
        <p:spPr>
          <a:xfrm>
            <a:off x="2686050" y="2114550"/>
            <a:ext cx="447675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8"/>
          <p:cNvSpPr/>
          <p:nvPr/>
        </p:nvSpPr>
        <p:spPr>
          <a:xfrm>
            <a:off x="2762250" y="2162175"/>
            <a:ext cx="432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/>
          </a:p>
        </p:txBody>
      </p:sp>
      <p:sp>
        <p:nvSpPr>
          <p:cNvPr id="1702" name="Google Shape;1702;p38"/>
          <p:cNvSpPr/>
          <p:nvPr/>
        </p:nvSpPr>
        <p:spPr>
          <a:xfrm>
            <a:off x="7162800" y="2114550"/>
            <a:ext cx="4152900" cy="57150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8"/>
          <p:cNvSpPr/>
          <p:nvPr/>
        </p:nvSpPr>
        <p:spPr>
          <a:xfrm>
            <a:off x="7239000" y="2162175"/>
            <a:ext cx="400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Candidate implementation</a:t>
            </a:r>
            <a:endParaRPr/>
          </a:p>
        </p:txBody>
      </p:sp>
      <p:sp>
        <p:nvSpPr>
          <p:cNvPr id="1704" name="Google Shape;1704;p38"/>
          <p:cNvSpPr/>
          <p:nvPr/>
        </p:nvSpPr>
        <p:spPr>
          <a:xfrm>
            <a:off x="876300" y="2686050"/>
            <a:ext cx="1809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8"/>
          <p:cNvSpPr/>
          <p:nvPr/>
        </p:nvSpPr>
        <p:spPr>
          <a:xfrm>
            <a:off x="952500" y="2733675"/>
            <a:ext cx="1657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1706" name="Google Shape;1706;p38"/>
          <p:cNvSpPr/>
          <p:nvPr/>
        </p:nvSpPr>
        <p:spPr>
          <a:xfrm>
            <a:off x="2686050" y="2686050"/>
            <a:ext cx="4476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8"/>
          <p:cNvSpPr/>
          <p:nvPr/>
        </p:nvSpPr>
        <p:spPr>
          <a:xfrm>
            <a:off x="2762250" y="2733675"/>
            <a:ext cx="432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Predict whether a row belongs to head, middle, or sparse/long-tail regime</a:t>
            </a:r>
            <a:endParaRPr/>
          </a:p>
        </p:txBody>
      </p:sp>
      <p:sp>
        <p:nvSpPr>
          <p:cNvPr id="1708" name="Google Shape;1708;p38"/>
          <p:cNvSpPr/>
          <p:nvPr/>
        </p:nvSpPr>
        <p:spPr>
          <a:xfrm>
            <a:off x="7162800" y="2686050"/>
            <a:ext cx="41529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8"/>
          <p:cNvSpPr/>
          <p:nvPr/>
        </p:nvSpPr>
        <p:spPr>
          <a:xfrm>
            <a:off x="7239000" y="2733675"/>
            <a:ext cx="400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calibrated classifier using text + source + branch signals</a:t>
            </a:r>
            <a:endParaRPr/>
          </a:p>
        </p:txBody>
      </p:sp>
      <p:sp>
        <p:nvSpPr>
          <p:cNvPr id="1710" name="Google Shape;1710;p38"/>
          <p:cNvSpPr/>
          <p:nvPr/>
        </p:nvSpPr>
        <p:spPr>
          <a:xfrm>
            <a:off x="876300" y="3257550"/>
            <a:ext cx="1809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8"/>
          <p:cNvSpPr/>
          <p:nvPr/>
        </p:nvSpPr>
        <p:spPr>
          <a:xfrm>
            <a:off x="952500" y="3305175"/>
            <a:ext cx="1657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Head model</a:t>
            </a:r>
            <a:endParaRPr/>
          </a:p>
        </p:txBody>
      </p:sp>
      <p:sp>
        <p:nvSpPr>
          <p:cNvPr id="1712" name="Google Shape;1712;p38"/>
          <p:cNvSpPr/>
          <p:nvPr/>
        </p:nvSpPr>
        <p:spPr>
          <a:xfrm>
            <a:off x="2686050" y="3257550"/>
            <a:ext cx="4476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8"/>
          <p:cNvSpPr/>
          <p:nvPr/>
        </p:nvSpPr>
        <p:spPr>
          <a:xfrm>
            <a:off x="2762250" y="3305175"/>
            <a:ext cx="432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Classify top ~50 classes with abundant training examples</a:t>
            </a:r>
            <a:endParaRPr/>
          </a:p>
        </p:txBody>
      </p:sp>
      <p:sp>
        <p:nvSpPr>
          <p:cNvPr id="1714" name="Google Shape;1714;p38"/>
          <p:cNvSpPr/>
          <p:nvPr/>
        </p:nvSpPr>
        <p:spPr>
          <a:xfrm>
            <a:off x="7162800" y="3257550"/>
            <a:ext cx="415290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8"/>
          <p:cNvSpPr/>
          <p:nvPr/>
        </p:nvSpPr>
        <p:spPr>
          <a:xfrm>
            <a:off x="7239000" y="3305175"/>
            <a:ext cx="400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high-accuracy direct classifier; stronger confidence thresholds</a:t>
            </a:r>
            <a:endParaRPr/>
          </a:p>
        </p:txBody>
      </p:sp>
      <p:sp>
        <p:nvSpPr>
          <p:cNvPr id="1716" name="Google Shape;1716;p38"/>
          <p:cNvSpPr/>
          <p:nvPr/>
        </p:nvSpPr>
        <p:spPr>
          <a:xfrm>
            <a:off x="876300" y="3829050"/>
            <a:ext cx="1809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8"/>
          <p:cNvSpPr/>
          <p:nvPr/>
        </p:nvSpPr>
        <p:spPr>
          <a:xfrm>
            <a:off x="952500" y="3876675"/>
            <a:ext cx="1657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Middle model</a:t>
            </a:r>
            <a:endParaRPr/>
          </a:p>
        </p:txBody>
      </p:sp>
      <p:sp>
        <p:nvSpPr>
          <p:cNvPr id="1718" name="Google Shape;1718;p38"/>
          <p:cNvSpPr/>
          <p:nvPr/>
        </p:nvSpPr>
        <p:spPr>
          <a:xfrm>
            <a:off x="2686050" y="3829050"/>
            <a:ext cx="447675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8"/>
          <p:cNvSpPr/>
          <p:nvPr/>
        </p:nvSpPr>
        <p:spPr>
          <a:xfrm>
            <a:off x="2762250" y="3876675"/>
            <a:ext cx="432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Classify classes ranked ~51-200</a:t>
            </a:r>
            <a:endParaRPr/>
          </a:p>
        </p:txBody>
      </p:sp>
      <p:sp>
        <p:nvSpPr>
          <p:cNvPr id="1720" name="Google Shape;1720;p38"/>
          <p:cNvSpPr/>
          <p:nvPr/>
        </p:nvSpPr>
        <p:spPr>
          <a:xfrm>
            <a:off x="7162800" y="3829050"/>
            <a:ext cx="41529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8"/>
          <p:cNvSpPr/>
          <p:nvPr/>
        </p:nvSpPr>
        <p:spPr>
          <a:xfrm>
            <a:off x="7239000" y="3876675"/>
            <a:ext cx="400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same features, more regularization and top-k reporting</a:t>
            </a:r>
            <a:endParaRPr/>
          </a:p>
        </p:txBody>
      </p:sp>
      <p:sp>
        <p:nvSpPr>
          <p:cNvPr id="1722" name="Google Shape;1722;p38"/>
          <p:cNvSpPr/>
          <p:nvPr/>
        </p:nvSpPr>
        <p:spPr>
          <a:xfrm>
            <a:off x="876300" y="4400550"/>
            <a:ext cx="1809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8"/>
          <p:cNvSpPr/>
          <p:nvPr/>
        </p:nvSpPr>
        <p:spPr>
          <a:xfrm>
            <a:off x="952500" y="4448175"/>
            <a:ext cx="1657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Long-tail model</a:t>
            </a:r>
            <a:endParaRPr/>
          </a:p>
        </p:txBody>
      </p:sp>
      <p:sp>
        <p:nvSpPr>
          <p:cNvPr id="1724" name="Google Shape;1724;p38"/>
          <p:cNvSpPr/>
          <p:nvPr/>
        </p:nvSpPr>
        <p:spPr>
          <a:xfrm>
            <a:off x="2686050" y="4400550"/>
            <a:ext cx="447675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8"/>
          <p:cNvSpPr/>
          <p:nvPr/>
        </p:nvSpPr>
        <p:spPr>
          <a:xfrm>
            <a:off x="2762250" y="4448175"/>
            <a:ext cx="43243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Handle rare classes</a:t>
            </a:r>
            <a:endParaRPr/>
          </a:p>
        </p:txBody>
      </p:sp>
      <p:sp>
        <p:nvSpPr>
          <p:cNvPr id="1726" name="Google Shape;1726;p38"/>
          <p:cNvSpPr/>
          <p:nvPr/>
        </p:nvSpPr>
        <p:spPr>
          <a:xfrm>
            <a:off x="7162800" y="4400550"/>
            <a:ext cx="4152900" cy="57150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8"/>
          <p:cNvSpPr/>
          <p:nvPr/>
        </p:nvSpPr>
        <p:spPr>
          <a:xfrm>
            <a:off x="7239000" y="4448175"/>
            <a:ext cx="400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hierarchical fallback, candidate generation, or manual-review routing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3" name="Google Shape;1733;p39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4" name="Google Shape;1734;p39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Modeling strategy</a:t>
            </a:r>
            <a:endParaRPr/>
          </a:p>
        </p:txBody>
      </p:sp>
      <p:sp>
        <p:nvSpPr>
          <p:cNvPr id="1735" name="Google Shape;1735;p39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1736" name="Google Shape;1736;p39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SPECIALIST OPTION B</a:t>
            </a:r>
            <a:endParaRPr/>
          </a:p>
        </p:txBody>
      </p:sp>
      <p:sp>
        <p:nvSpPr>
          <p:cNvPr id="1737" name="Google Shape;1737;p39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Route by branch group, then classify inside the branch</a:t>
            </a:r>
            <a:endParaRPr/>
          </a:p>
        </p:txBody>
      </p:sp>
      <p:sp>
        <p:nvSpPr>
          <p:cNvPr id="1738" name="Google Shape;1738;p39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Branch-specialist models may help when sectors have different text language, source reliability, and target granularity.</a:t>
            </a:r>
            <a:endParaRPr/>
          </a:p>
        </p:txBody>
      </p:sp>
      <p:sp>
        <p:nvSpPr>
          <p:cNvPr id="1739" name="Google Shape;1739;p39"/>
          <p:cNvSpPr/>
          <p:nvPr/>
        </p:nvSpPr>
        <p:spPr>
          <a:xfrm>
            <a:off x="914400" y="2076450"/>
            <a:ext cx="2190750" cy="54768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9"/>
          <p:cNvSpPr/>
          <p:nvPr/>
        </p:nvSpPr>
        <p:spPr>
          <a:xfrm>
            <a:off x="990600" y="2124075"/>
            <a:ext cx="2038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/>
          </a:p>
        </p:txBody>
      </p:sp>
      <p:sp>
        <p:nvSpPr>
          <p:cNvPr id="1741" name="Google Shape;1741;p39"/>
          <p:cNvSpPr/>
          <p:nvPr/>
        </p:nvSpPr>
        <p:spPr>
          <a:xfrm>
            <a:off x="3105150" y="2076450"/>
            <a:ext cx="3048000" cy="54768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9"/>
          <p:cNvSpPr/>
          <p:nvPr/>
        </p:nvSpPr>
        <p:spPr>
          <a:xfrm>
            <a:off x="3181350" y="2124075"/>
            <a:ext cx="2895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it predicts</a:t>
            </a:r>
            <a:endParaRPr/>
          </a:p>
        </p:txBody>
      </p:sp>
      <p:sp>
        <p:nvSpPr>
          <p:cNvPr id="1743" name="Google Shape;1743;p39"/>
          <p:cNvSpPr/>
          <p:nvPr/>
        </p:nvSpPr>
        <p:spPr>
          <a:xfrm>
            <a:off x="6153150" y="2076450"/>
            <a:ext cx="5124450" cy="54768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39"/>
          <p:cNvSpPr/>
          <p:nvPr/>
        </p:nvSpPr>
        <p:spPr>
          <a:xfrm>
            <a:off x="6229350" y="2124075"/>
            <a:ext cx="49720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Examples / branches</a:t>
            </a:r>
            <a:endParaRPr/>
          </a:p>
        </p:txBody>
      </p:sp>
      <p:sp>
        <p:nvSpPr>
          <p:cNvPr id="1745" name="Google Shape;1745;p39"/>
          <p:cNvSpPr/>
          <p:nvPr/>
        </p:nvSpPr>
        <p:spPr>
          <a:xfrm>
            <a:off x="914400" y="2624138"/>
            <a:ext cx="219075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9"/>
          <p:cNvSpPr/>
          <p:nvPr/>
        </p:nvSpPr>
        <p:spPr>
          <a:xfrm>
            <a:off x="990600" y="2671763"/>
            <a:ext cx="2038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 router</a:t>
            </a:r>
            <a:endParaRPr/>
          </a:p>
        </p:txBody>
      </p:sp>
      <p:sp>
        <p:nvSpPr>
          <p:cNvPr id="1747" name="Google Shape;1747;p39"/>
          <p:cNvSpPr/>
          <p:nvPr/>
        </p:nvSpPr>
        <p:spPr>
          <a:xfrm>
            <a:off x="3105150" y="2624138"/>
            <a:ext cx="304800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39"/>
          <p:cNvSpPr/>
          <p:nvPr/>
        </p:nvSpPr>
        <p:spPr>
          <a:xfrm>
            <a:off x="3181350" y="2671763"/>
            <a:ext cx="2895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High-impact branch group</a:t>
            </a:r>
            <a:endParaRPr/>
          </a:p>
        </p:txBody>
      </p:sp>
      <p:sp>
        <p:nvSpPr>
          <p:cNvPr id="1749" name="Google Shape;1749;p39"/>
          <p:cNvSpPr/>
          <p:nvPr/>
        </p:nvSpPr>
        <p:spPr>
          <a:xfrm>
            <a:off x="6153150" y="2624138"/>
            <a:ext cx="512445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9"/>
          <p:cNvSpPr/>
          <p:nvPr/>
        </p:nvSpPr>
        <p:spPr>
          <a:xfrm>
            <a:off x="6229350" y="2671763"/>
            <a:ext cx="49720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trade, construction, manufacturing, high-tech/ICT/R&amp;D, professional/scientific, education</a:t>
            </a:r>
            <a:endParaRPr/>
          </a:p>
        </p:txBody>
      </p:sp>
      <p:sp>
        <p:nvSpPr>
          <p:cNvPr id="1751" name="Google Shape;1751;p39"/>
          <p:cNvSpPr/>
          <p:nvPr/>
        </p:nvSpPr>
        <p:spPr>
          <a:xfrm>
            <a:off x="914400" y="3171825"/>
            <a:ext cx="2190750" cy="54768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9"/>
          <p:cNvSpPr/>
          <p:nvPr/>
        </p:nvSpPr>
        <p:spPr>
          <a:xfrm>
            <a:off x="990600" y="3219450"/>
            <a:ext cx="2038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 specialist</a:t>
            </a:r>
            <a:endParaRPr/>
          </a:p>
        </p:txBody>
      </p:sp>
      <p:sp>
        <p:nvSpPr>
          <p:cNvPr id="1753" name="Google Shape;1753;p39"/>
          <p:cNvSpPr/>
          <p:nvPr/>
        </p:nvSpPr>
        <p:spPr>
          <a:xfrm>
            <a:off x="3105150" y="3171825"/>
            <a:ext cx="3048000" cy="54768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39"/>
          <p:cNvSpPr/>
          <p:nvPr/>
        </p:nvSpPr>
        <p:spPr>
          <a:xfrm>
            <a:off x="3181350" y="3219450"/>
            <a:ext cx="2895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Four-digit ANAF within the routed branch</a:t>
            </a:r>
            <a:endParaRPr/>
          </a:p>
        </p:txBody>
      </p:sp>
      <p:sp>
        <p:nvSpPr>
          <p:cNvPr id="1755" name="Google Shape;1755;p39"/>
          <p:cNvSpPr/>
          <p:nvPr/>
        </p:nvSpPr>
        <p:spPr>
          <a:xfrm>
            <a:off x="6153150" y="3171825"/>
            <a:ext cx="5124450" cy="54768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9"/>
          <p:cNvSpPr/>
          <p:nvPr/>
        </p:nvSpPr>
        <p:spPr>
          <a:xfrm>
            <a:off x="6229350" y="3219450"/>
            <a:ext cx="49720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branch-specific target set and branch-specific errors</a:t>
            </a:r>
            <a:endParaRPr/>
          </a:p>
        </p:txBody>
      </p:sp>
      <p:sp>
        <p:nvSpPr>
          <p:cNvPr id="1757" name="Google Shape;1757;p39"/>
          <p:cNvSpPr/>
          <p:nvPr/>
        </p:nvSpPr>
        <p:spPr>
          <a:xfrm>
            <a:off x="914400" y="3719513"/>
            <a:ext cx="219075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9"/>
          <p:cNvSpPr/>
          <p:nvPr/>
        </p:nvSpPr>
        <p:spPr>
          <a:xfrm>
            <a:off x="990600" y="3767138"/>
            <a:ext cx="20383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Global fallback</a:t>
            </a:r>
            <a:endParaRPr/>
          </a:p>
        </p:txBody>
      </p:sp>
      <p:sp>
        <p:nvSpPr>
          <p:cNvPr id="1759" name="Google Shape;1759;p39"/>
          <p:cNvSpPr/>
          <p:nvPr/>
        </p:nvSpPr>
        <p:spPr>
          <a:xfrm>
            <a:off x="3105150" y="3719513"/>
            <a:ext cx="304800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9"/>
          <p:cNvSpPr/>
          <p:nvPr/>
        </p:nvSpPr>
        <p:spPr>
          <a:xfrm>
            <a:off x="3181350" y="3767138"/>
            <a:ext cx="28956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Any row with uncertain branch routing</a:t>
            </a:r>
            <a:endParaRPr/>
          </a:p>
        </p:txBody>
      </p:sp>
      <p:sp>
        <p:nvSpPr>
          <p:cNvPr id="1761" name="Google Shape;1761;p39"/>
          <p:cNvSpPr/>
          <p:nvPr/>
        </p:nvSpPr>
        <p:spPr>
          <a:xfrm>
            <a:off x="6153150" y="3719513"/>
            <a:ext cx="5124450" cy="5476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9"/>
          <p:cNvSpPr/>
          <p:nvPr/>
        </p:nvSpPr>
        <p:spPr>
          <a:xfrm>
            <a:off x="6229350" y="3767138"/>
            <a:ext cx="497205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use global model, top-k candidates, or human review</a:t>
            </a:r>
            <a:endParaRPr/>
          </a:p>
        </p:txBody>
      </p:sp>
      <p:sp>
        <p:nvSpPr>
          <p:cNvPr id="1763" name="Google Shape;1763;p39"/>
          <p:cNvSpPr/>
          <p:nvPr/>
        </p:nvSpPr>
        <p:spPr>
          <a:xfrm>
            <a:off x="1485900" y="4705350"/>
            <a:ext cx="4095750" cy="914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9"/>
          <p:cNvSpPr/>
          <p:nvPr/>
        </p:nvSpPr>
        <p:spPr>
          <a:xfrm>
            <a:off x="1485900" y="4705350"/>
            <a:ext cx="57150" cy="91440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9"/>
          <p:cNvSpPr/>
          <p:nvPr/>
        </p:nvSpPr>
        <p:spPr>
          <a:xfrm>
            <a:off x="1695450" y="4819650"/>
            <a:ext cx="37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Why it may help</a:t>
            </a:r>
            <a:endParaRPr/>
          </a:p>
        </p:txBody>
      </p:sp>
      <p:sp>
        <p:nvSpPr>
          <p:cNvPr id="1766" name="Google Shape;1766;p39"/>
          <p:cNvSpPr/>
          <p:nvPr/>
        </p:nvSpPr>
        <p:spPr>
          <a:xfrm>
            <a:off x="1695450" y="5067300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Manufacturing, high-tech, and trade show different source reliability and label diversity.</a:t>
            </a:r>
            <a:endParaRPr/>
          </a:p>
        </p:txBody>
      </p:sp>
      <p:sp>
        <p:nvSpPr>
          <p:cNvPr id="1767" name="Google Shape;1767;p39"/>
          <p:cNvSpPr/>
          <p:nvPr/>
        </p:nvSpPr>
        <p:spPr>
          <a:xfrm>
            <a:off x="6610350" y="4705350"/>
            <a:ext cx="4095750" cy="914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9"/>
          <p:cNvSpPr/>
          <p:nvPr/>
        </p:nvSpPr>
        <p:spPr>
          <a:xfrm>
            <a:off x="6610350" y="4705350"/>
            <a:ext cx="57150" cy="9144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9"/>
          <p:cNvSpPr/>
          <p:nvPr/>
        </p:nvSpPr>
        <p:spPr>
          <a:xfrm>
            <a:off x="6819900" y="4819650"/>
            <a:ext cx="37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to validate</a:t>
            </a:r>
            <a:endParaRPr/>
          </a:p>
        </p:txBody>
      </p:sp>
      <p:sp>
        <p:nvSpPr>
          <p:cNvPr id="1770" name="Google Shape;1770;p39"/>
          <p:cNvSpPr/>
          <p:nvPr/>
        </p:nvSpPr>
        <p:spPr>
          <a:xfrm>
            <a:off x="6819900" y="5067300"/>
            <a:ext cx="3733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Compare global-only vs router+specialists on the same manual-only newest and stratified test sets.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6" name="Google Shape;1776;p40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7" name="Google Shape;1777;p40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Modeling strategy</a:t>
            </a:r>
            <a:endParaRPr/>
          </a:p>
        </p:txBody>
      </p:sp>
      <p:sp>
        <p:nvSpPr>
          <p:cNvPr id="1778" name="Google Shape;1778;p40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  <p:sp>
        <p:nvSpPr>
          <p:cNvPr id="1779" name="Google Shape;1779;p40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ABLATION DESIGN</a:t>
            </a:r>
            <a:endParaRPr/>
          </a:p>
        </p:txBody>
      </p:sp>
      <p:sp>
        <p:nvSpPr>
          <p:cNvPr id="1780" name="Google Shape;1780;p40"/>
          <p:cNvSpPr/>
          <p:nvPr/>
        </p:nvSpPr>
        <p:spPr>
          <a:xfrm>
            <a:off x="609600" y="742950"/>
            <a:ext cx="103164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prototype should measure marginal lift, not only final accuracy</a:t>
            </a:r>
            <a:endParaRPr/>
          </a:p>
        </p:txBody>
      </p:sp>
      <p:sp>
        <p:nvSpPr>
          <p:cNvPr id="1781" name="Google Shape;1781;p40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Ablations turn EDA hypotheses into quantitative decisions.</a:t>
            </a:r>
            <a:endParaRPr/>
          </a:p>
        </p:txBody>
      </p:sp>
      <p:sp>
        <p:nvSpPr>
          <p:cNvPr id="1782" name="Google Shape;1782;p40"/>
          <p:cNvSpPr/>
          <p:nvPr/>
        </p:nvSpPr>
        <p:spPr>
          <a:xfrm>
            <a:off x="1028700" y="1962150"/>
            <a:ext cx="3143250" cy="41063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40"/>
          <p:cNvSpPr/>
          <p:nvPr/>
        </p:nvSpPr>
        <p:spPr>
          <a:xfrm>
            <a:off x="1104900" y="2009775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Experiment</a:t>
            </a:r>
            <a:endParaRPr/>
          </a:p>
        </p:txBody>
      </p:sp>
      <p:sp>
        <p:nvSpPr>
          <p:cNvPr id="1784" name="Google Shape;1784;p40"/>
          <p:cNvSpPr/>
          <p:nvPr/>
        </p:nvSpPr>
        <p:spPr>
          <a:xfrm>
            <a:off x="4171950" y="1962150"/>
            <a:ext cx="6953250" cy="410633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40"/>
          <p:cNvSpPr/>
          <p:nvPr/>
        </p:nvSpPr>
        <p:spPr>
          <a:xfrm>
            <a:off x="4248150" y="2009775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Question answered</a:t>
            </a:r>
            <a:endParaRPr/>
          </a:p>
        </p:txBody>
      </p:sp>
      <p:sp>
        <p:nvSpPr>
          <p:cNvPr id="1786" name="Google Shape;1786;p40"/>
          <p:cNvSpPr/>
          <p:nvPr/>
        </p:nvSpPr>
        <p:spPr>
          <a:xfrm>
            <a:off x="1028700" y="2372783"/>
            <a:ext cx="314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40"/>
          <p:cNvSpPr/>
          <p:nvPr/>
        </p:nvSpPr>
        <p:spPr>
          <a:xfrm>
            <a:off x="1104900" y="2420408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Source-only</a:t>
            </a:r>
            <a:endParaRPr/>
          </a:p>
        </p:txBody>
      </p:sp>
      <p:sp>
        <p:nvSpPr>
          <p:cNvPr id="1788" name="Google Shape;1788;p40"/>
          <p:cNvSpPr/>
          <p:nvPr/>
        </p:nvSpPr>
        <p:spPr>
          <a:xfrm>
            <a:off x="4171950" y="2372783"/>
            <a:ext cx="695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40"/>
          <p:cNvSpPr/>
          <p:nvPr/>
        </p:nvSpPr>
        <p:spPr>
          <a:xfrm>
            <a:off x="4248150" y="2420408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far do Ma'am/Bituach and source confidence get us?</a:t>
            </a:r>
            <a:endParaRPr/>
          </a:p>
        </p:txBody>
      </p:sp>
      <p:sp>
        <p:nvSpPr>
          <p:cNvPr id="1790" name="Google Shape;1790;p40"/>
          <p:cNvSpPr/>
          <p:nvPr/>
        </p:nvSpPr>
        <p:spPr>
          <a:xfrm>
            <a:off x="1028700" y="2783417"/>
            <a:ext cx="314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40"/>
          <p:cNvSpPr/>
          <p:nvPr/>
        </p:nvSpPr>
        <p:spPr>
          <a:xfrm>
            <a:off x="1104900" y="2831042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Text-only</a:t>
            </a:r>
            <a:endParaRPr/>
          </a:p>
        </p:txBody>
      </p:sp>
      <p:sp>
        <p:nvSpPr>
          <p:cNvPr id="1792" name="Google Shape;1792;p40"/>
          <p:cNvSpPr/>
          <p:nvPr/>
        </p:nvSpPr>
        <p:spPr>
          <a:xfrm>
            <a:off x="4171950" y="2783417"/>
            <a:ext cx="695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40"/>
          <p:cNvSpPr/>
          <p:nvPr/>
        </p:nvSpPr>
        <p:spPr>
          <a:xfrm>
            <a:off x="4248150" y="2831042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much semantic activity information exists without source codes?</a:t>
            </a:r>
            <a:endParaRPr/>
          </a:p>
        </p:txBody>
      </p:sp>
      <p:sp>
        <p:nvSpPr>
          <p:cNvPr id="1794" name="Google Shape;1794;p40"/>
          <p:cNvSpPr/>
          <p:nvPr/>
        </p:nvSpPr>
        <p:spPr>
          <a:xfrm>
            <a:off x="1028700" y="3194050"/>
            <a:ext cx="314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40"/>
          <p:cNvSpPr/>
          <p:nvPr/>
        </p:nvSpPr>
        <p:spPr>
          <a:xfrm>
            <a:off x="1104900" y="3241675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Categorical-only</a:t>
            </a:r>
            <a:endParaRPr/>
          </a:p>
        </p:txBody>
      </p:sp>
      <p:sp>
        <p:nvSpPr>
          <p:cNvPr id="1796" name="Google Shape;1796;p40"/>
          <p:cNvSpPr/>
          <p:nvPr/>
        </p:nvSpPr>
        <p:spPr>
          <a:xfrm>
            <a:off x="4171950" y="3194050"/>
            <a:ext cx="695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40"/>
          <p:cNvSpPr/>
          <p:nvPr/>
        </p:nvSpPr>
        <p:spPr>
          <a:xfrm>
            <a:off x="4248150" y="3241675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much context is carried by entity/file/status fields?</a:t>
            </a:r>
            <a:endParaRPr/>
          </a:p>
        </p:txBody>
      </p:sp>
      <p:sp>
        <p:nvSpPr>
          <p:cNvPr id="1798" name="Google Shape;1798;p40"/>
          <p:cNvSpPr/>
          <p:nvPr/>
        </p:nvSpPr>
        <p:spPr>
          <a:xfrm>
            <a:off x="1028700" y="3604683"/>
            <a:ext cx="314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40"/>
          <p:cNvSpPr/>
          <p:nvPr/>
        </p:nvSpPr>
        <p:spPr>
          <a:xfrm>
            <a:off x="1104900" y="3652308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Admin/as-of ablation</a:t>
            </a:r>
            <a:endParaRPr/>
          </a:p>
        </p:txBody>
      </p:sp>
      <p:sp>
        <p:nvSpPr>
          <p:cNvPr id="1800" name="Google Shape;1800;p40"/>
          <p:cNvSpPr/>
          <p:nvPr/>
        </p:nvSpPr>
        <p:spPr>
          <a:xfrm>
            <a:off x="4171950" y="3604683"/>
            <a:ext cx="695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40"/>
          <p:cNvSpPr/>
          <p:nvPr/>
        </p:nvSpPr>
        <p:spPr>
          <a:xfrm>
            <a:off x="4248150" y="3652308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 KOD_TKUFA, SUG_TIK_MH, and MAAMAD_MISHPATI add lift?</a:t>
            </a:r>
            <a:endParaRPr/>
          </a:p>
        </p:txBody>
      </p:sp>
      <p:sp>
        <p:nvSpPr>
          <p:cNvPr id="1802" name="Google Shape;1802;p40"/>
          <p:cNvSpPr/>
          <p:nvPr/>
        </p:nvSpPr>
        <p:spPr>
          <a:xfrm>
            <a:off x="1028700" y="4015317"/>
            <a:ext cx="314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40"/>
          <p:cNvSpPr/>
          <p:nvPr/>
        </p:nvSpPr>
        <p:spPr>
          <a:xfrm>
            <a:off x="1104900" y="4062942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Source/reference text</a:t>
            </a:r>
            <a:endParaRPr/>
          </a:p>
        </p:txBody>
      </p:sp>
      <p:sp>
        <p:nvSpPr>
          <p:cNvPr id="1804" name="Google Shape;1804;p40"/>
          <p:cNvSpPr/>
          <p:nvPr/>
        </p:nvSpPr>
        <p:spPr>
          <a:xfrm>
            <a:off x="4171950" y="4015317"/>
            <a:ext cx="695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40"/>
          <p:cNvSpPr/>
          <p:nvPr/>
        </p:nvSpPr>
        <p:spPr>
          <a:xfrm>
            <a:off x="4248150" y="4062942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 ANAF descriptions and old/reference names improve text models?</a:t>
            </a:r>
            <a:endParaRPr/>
          </a:p>
        </p:txBody>
      </p:sp>
      <p:sp>
        <p:nvSpPr>
          <p:cNvPr id="1806" name="Google Shape;1806;p40"/>
          <p:cNvSpPr/>
          <p:nvPr/>
        </p:nvSpPr>
        <p:spPr>
          <a:xfrm>
            <a:off x="1028700" y="4425950"/>
            <a:ext cx="314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40"/>
          <p:cNvSpPr/>
          <p:nvPr/>
        </p:nvSpPr>
        <p:spPr>
          <a:xfrm>
            <a:off x="1104900" y="4473575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 + source</a:t>
            </a:r>
            <a:endParaRPr/>
          </a:p>
        </p:txBody>
      </p:sp>
      <p:sp>
        <p:nvSpPr>
          <p:cNvPr id="1808" name="Google Shape;1808;p40"/>
          <p:cNvSpPr/>
          <p:nvPr/>
        </p:nvSpPr>
        <p:spPr>
          <a:xfrm>
            <a:off x="4171950" y="4425950"/>
            <a:ext cx="695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40"/>
          <p:cNvSpPr/>
          <p:nvPr/>
        </p:nvSpPr>
        <p:spPr>
          <a:xfrm>
            <a:off x="4248150" y="4473575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Does text resolve source disagreement and stale source branches?</a:t>
            </a:r>
            <a:endParaRPr/>
          </a:p>
        </p:txBody>
      </p:sp>
      <p:sp>
        <p:nvSpPr>
          <p:cNvPr id="1810" name="Google Shape;1810;p40"/>
          <p:cNvSpPr/>
          <p:nvPr/>
        </p:nvSpPr>
        <p:spPr>
          <a:xfrm>
            <a:off x="1028700" y="4836583"/>
            <a:ext cx="314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40"/>
          <p:cNvSpPr/>
          <p:nvPr/>
        </p:nvSpPr>
        <p:spPr>
          <a:xfrm>
            <a:off x="1104900" y="4884208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Full model</a:t>
            </a:r>
            <a:endParaRPr/>
          </a:p>
        </p:txBody>
      </p:sp>
      <p:sp>
        <p:nvSpPr>
          <p:cNvPr id="1812" name="Google Shape;1812;p40"/>
          <p:cNvSpPr/>
          <p:nvPr/>
        </p:nvSpPr>
        <p:spPr>
          <a:xfrm>
            <a:off x="4171950" y="4836583"/>
            <a:ext cx="6953250" cy="410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40"/>
          <p:cNvSpPr/>
          <p:nvPr/>
        </p:nvSpPr>
        <p:spPr>
          <a:xfrm>
            <a:off x="4248150" y="4884208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is the best practical combined signal set?</a:t>
            </a:r>
            <a:endParaRPr/>
          </a:p>
        </p:txBody>
      </p:sp>
      <p:sp>
        <p:nvSpPr>
          <p:cNvPr id="1814" name="Google Shape;1814;p40"/>
          <p:cNvSpPr/>
          <p:nvPr/>
        </p:nvSpPr>
        <p:spPr>
          <a:xfrm>
            <a:off x="1028700" y="5247217"/>
            <a:ext cx="314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40"/>
          <p:cNvSpPr/>
          <p:nvPr/>
        </p:nvSpPr>
        <p:spPr>
          <a:xfrm>
            <a:off x="1104900" y="5294842"/>
            <a:ext cx="299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Full + automatic weak labels</a:t>
            </a:r>
            <a:endParaRPr/>
          </a:p>
        </p:txBody>
      </p:sp>
      <p:sp>
        <p:nvSpPr>
          <p:cNvPr id="1816" name="Google Shape;1816;p40"/>
          <p:cNvSpPr/>
          <p:nvPr/>
        </p:nvSpPr>
        <p:spPr>
          <a:xfrm>
            <a:off x="4171950" y="5247217"/>
            <a:ext cx="6953250" cy="410633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40"/>
          <p:cNvSpPr/>
          <p:nvPr/>
        </p:nvSpPr>
        <p:spPr>
          <a:xfrm>
            <a:off x="4248150" y="5294842"/>
            <a:ext cx="6800850" cy="315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Does automatic data improve manual validation after controlling shift?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3" name="Google Shape;1823;p41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4" name="Google Shape;1824;p41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Validation plan</a:t>
            </a:r>
            <a:endParaRPr/>
          </a:p>
        </p:txBody>
      </p:sp>
      <p:sp>
        <p:nvSpPr>
          <p:cNvPr id="1825" name="Google Shape;1825;p41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  <p:sp>
        <p:nvSpPr>
          <p:cNvPr id="1826" name="Google Shape;1826;p41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VALIDATION DESIGN</a:t>
            </a:r>
            <a:endParaRPr/>
          </a:p>
        </p:txBody>
      </p:sp>
      <p:sp>
        <p:nvSpPr>
          <p:cNvPr id="1827" name="Google Shape;1827;p41"/>
          <p:cNvSpPr/>
          <p:nvPr/>
        </p:nvSpPr>
        <p:spPr>
          <a:xfrm>
            <a:off x="609600" y="742950"/>
            <a:ext cx="10623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Use splits and metrics that reflect the operational problem</a:t>
            </a:r>
            <a:endParaRPr/>
          </a:p>
        </p:txBody>
      </p:sp>
      <p:sp>
        <p:nvSpPr>
          <p:cNvPr id="1828" name="Google Shape;1828;p41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Random accuracy is not enough for a long-tailed, drifting, manual-selected classification task.</a:t>
            </a:r>
            <a:endParaRPr/>
          </a:p>
        </p:txBody>
      </p:sp>
      <p:sp>
        <p:nvSpPr>
          <p:cNvPr id="1829" name="Google Shape;1829;p41"/>
          <p:cNvSpPr/>
          <p:nvPr/>
        </p:nvSpPr>
        <p:spPr>
          <a:xfrm>
            <a:off x="685800" y="20574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41"/>
          <p:cNvSpPr/>
          <p:nvPr/>
        </p:nvSpPr>
        <p:spPr>
          <a:xfrm>
            <a:off x="685800" y="2057400"/>
            <a:ext cx="57150" cy="167640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41"/>
          <p:cNvSpPr/>
          <p:nvPr/>
        </p:nvSpPr>
        <p:spPr>
          <a:xfrm>
            <a:off x="895350" y="2228850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Splits</a:t>
            </a:r>
            <a:endParaRPr/>
          </a:p>
        </p:txBody>
      </p:sp>
      <p:sp>
        <p:nvSpPr>
          <p:cNvPr id="1832" name="Google Shape;1832;p41"/>
          <p:cNvSpPr/>
          <p:nvPr/>
        </p:nvSpPr>
        <p:spPr>
          <a:xfrm>
            <a:off x="895350" y="2590800"/>
            <a:ext cx="2971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Manual-only validation first; create newest-period and stratified historical test sets; maintain branch and rare-class reporting.</a:t>
            </a:r>
            <a:endParaRPr/>
          </a:p>
        </p:txBody>
      </p:sp>
      <p:sp>
        <p:nvSpPr>
          <p:cNvPr id="1833" name="Google Shape;1833;p41"/>
          <p:cNvSpPr/>
          <p:nvPr/>
        </p:nvSpPr>
        <p:spPr>
          <a:xfrm>
            <a:off x="4438650" y="20574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41"/>
          <p:cNvSpPr/>
          <p:nvPr/>
        </p:nvSpPr>
        <p:spPr>
          <a:xfrm>
            <a:off x="4438650" y="2057400"/>
            <a:ext cx="57150" cy="167640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41"/>
          <p:cNvSpPr/>
          <p:nvPr/>
        </p:nvSpPr>
        <p:spPr>
          <a:xfrm>
            <a:off x="4648200" y="2228850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/>
          </a:p>
        </p:txBody>
      </p:sp>
      <p:sp>
        <p:nvSpPr>
          <p:cNvPr id="1836" name="Google Shape;1836;p41"/>
          <p:cNvSpPr/>
          <p:nvPr/>
        </p:nvSpPr>
        <p:spPr>
          <a:xfrm>
            <a:off x="4648200" y="2590800"/>
            <a:ext cx="2971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Top-1 four-digit accuracy, top-k, hierarchy accuracy, macro F1, coverage at confidence, and source-baseline lift.</a:t>
            </a:r>
            <a:endParaRPr/>
          </a:p>
        </p:txBody>
      </p:sp>
      <p:sp>
        <p:nvSpPr>
          <p:cNvPr id="1837" name="Google Shape;1837;p41"/>
          <p:cNvSpPr/>
          <p:nvPr/>
        </p:nvSpPr>
        <p:spPr>
          <a:xfrm>
            <a:off x="8191500" y="20574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41"/>
          <p:cNvSpPr/>
          <p:nvPr/>
        </p:nvSpPr>
        <p:spPr>
          <a:xfrm>
            <a:off x="8191500" y="2057400"/>
            <a:ext cx="57150" cy="167640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41"/>
          <p:cNvSpPr/>
          <p:nvPr/>
        </p:nvSpPr>
        <p:spPr>
          <a:xfrm>
            <a:off x="8401050" y="2228850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/>
          </a:p>
        </p:txBody>
      </p:sp>
      <p:sp>
        <p:nvSpPr>
          <p:cNvPr id="1840" name="Google Shape;1840;p41"/>
          <p:cNvSpPr/>
          <p:nvPr/>
        </p:nvSpPr>
        <p:spPr>
          <a:xfrm>
            <a:off x="8401050" y="2590800"/>
            <a:ext cx="2971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Per-branch confusion, source-agreement slices, new/change slices, rare-class failures, yearly data quality, and text-coverage slices.</a:t>
            </a:r>
            <a:endParaRPr/>
          </a:p>
        </p:txBody>
      </p:sp>
      <p:sp>
        <p:nvSpPr>
          <p:cNvPr id="1841" name="Google Shape;1841;p41"/>
          <p:cNvSpPr/>
          <p:nvPr/>
        </p:nvSpPr>
        <p:spPr>
          <a:xfrm>
            <a:off x="2152650" y="4400550"/>
            <a:ext cx="7886700" cy="8382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41"/>
          <p:cNvSpPr/>
          <p:nvPr/>
        </p:nvSpPr>
        <p:spPr>
          <a:xfrm>
            <a:off x="2152650" y="4400550"/>
            <a:ext cx="57150" cy="83820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41"/>
          <p:cNvSpPr/>
          <p:nvPr/>
        </p:nvSpPr>
        <p:spPr>
          <a:xfrm>
            <a:off x="2362200" y="4514850"/>
            <a:ext cx="752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Operational framing</a:t>
            </a:r>
            <a:endParaRPr/>
          </a:p>
        </p:txBody>
      </p:sp>
      <p:sp>
        <p:nvSpPr>
          <p:cNvPr id="1844" name="Google Shape;1844;p41"/>
          <p:cNvSpPr/>
          <p:nvPr/>
        </p:nvSpPr>
        <p:spPr>
          <a:xfrm>
            <a:off x="2362200" y="4762500"/>
            <a:ext cx="7524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best system may be a classifier plus confidence routing: auto-classify high-confidence rows and return uncertain/rare cases to manual review.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0" name="Google Shape;1850;p42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1" name="Google Shape;1851;p42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sp>
        <p:nvSpPr>
          <p:cNvPr id="1852" name="Google Shape;1852;p42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1853" name="Google Shape;1853;p42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FEATURE ENGINEERING WORKSTREAM</a:t>
            </a:r>
            <a:endParaRPr/>
          </a:p>
        </p:txBody>
      </p:sp>
      <p:sp>
        <p:nvSpPr>
          <p:cNvPr id="1854" name="Google Shape;1854;p42"/>
          <p:cNvSpPr/>
          <p:nvPr/>
        </p:nvSpPr>
        <p:spPr>
          <a:xfrm>
            <a:off x="609600" y="742950"/>
            <a:ext cx="109728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prototype must test both which fields to use and how to use them</a:t>
            </a:r>
            <a:endParaRPr/>
          </a:p>
        </p:txBody>
      </p:sp>
      <p:sp>
        <p:nvSpPr>
          <p:cNvPr id="1855" name="Google Shape;1855;p42"/>
          <p:cNvSpPr/>
          <p:nvPr/>
        </p:nvSpPr>
        <p:spPr>
          <a:xfrm>
            <a:off x="609600" y="15811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Feature engineering is a first-class experiment: the same raw field can become a BERT sequence token, a TF-IDF source-prefixed token, or an XGBoost numeric/categorical feature.</a:t>
            </a:r>
            <a:endParaRPr/>
          </a:p>
        </p:txBody>
      </p:sp>
      <p:sp>
        <p:nvSpPr>
          <p:cNvPr id="1856" name="Google Shape;1856;p42"/>
          <p:cNvSpPr/>
          <p:nvPr/>
        </p:nvSpPr>
        <p:spPr>
          <a:xfrm>
            <a:off x="685800" y="2038350"/>
            <a:ext cx="2457450" cy="1885950"/>
          </a:xfrm>
          <a:prstGeom prst="roundRect">
            <a:avLst>
              <a:gd fmla="val 404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42"/>
          <p:cNvSpPr/>
          <p:nvPr/>
        </p:nvSpPr>
        <p:spPr>
          <a:xfrm>
            <a:off x="685800" y="2038350"/>
            <a:ext cx="57150" cy="1885950"/>
          </a:xfrm>
          <a:prstGeom prst="rect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42"/>
          <p:cNvSpPr/>
          <p:nvPr/>
        </p:nvSpPr>
        <p:spPr>
          <a:xfrm>
            <a:off x="895350" y="22098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 Feature allowlist</a:t>
            </a:r>
            <a:endParaRPr/>
          </a:p>
        </p:txBody>
      </p:sp>
      <p:sp>
        <p:nvSpPr>
          <p:cNvPr id="1859" name="Google Shape;1859;p42"/>
          <p:cNvSpPr/>
          <p:nvPr/>
        </p:nvSpPr>
        <p:spPr>
          <a:xfrm>
            <a:off x="895350" y="2571750"/>
            <a:ext cx="2095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Version the primary, ablation, QA, and excluded fields before modeling. The config should say why each field is allowed.</a:t>
            </a:r>
            <a:endParaRPr/>
          </a:p>
        </p:txBody>
      </p:sp>
      <p:sp>
        <p:nvSpPr>
          <p:cNvPr id="1860" name="Google Shape;1860;p42"/>
          <p:cNvSpPr/>
          <p:nvPr/>
        </p:nvSpPr>
        <p:spPr>
          <a:xfrm>
            <a:off x="3505200" y="2038350"/>
            <a:ext cx="2457450" cy="1885950"/>
          </a:xfrm>
          <a:prstGeom prst="roundRect">
            <a:avLst>
              <a:gd fmla="val 404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42"/>
          <p:cNvSpPr/>
          <p:nvPr/>
        </p:nvSpPr>
        <p:spPr>
          <a:xfrm>
            <a:off x="3505200" y="2038350"/>
            <a:ext cx="57150" cy="18859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42"/>
          <p:cNvSpPr/>
          <p:nvPr/>
        </p:nvSpPr>
        <p:spPr>
          <a:xfrm>
            <a:off x="3714750" y="22098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 Encoding recipes</a:t>
            </a:r>
            <a:endParaRPr/>
          </a:p>
        </p:txBody>
      </p:sp>
      <p:sp>
        <p:nvSpPr>
          <p:cNvPr id="1863" name="Google Shape;1863;p42"/>
          <p:cNvSpPr/>
          <p:nvPr/>
        </p:nvSpPr>
        <p:spPr>
          <a:xfrm>
            <a:off x="3714750" y="2571750"/>
            <a:ext cx="2095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BERT: source-marked sequence. TF-IDF: source-prefixed tokens. XGBoost: one-hot/encoded categories, numeric bins, and compact text vectors.</a:t>
            </a:r>
            <a:endParaRPr/>
          </a:p>
        </p:txBody>
      </p:sp>
      <p:sp>
        <p:nvSpPr>
          <p:cNvPr id="1864" name="Google Shape;1864;p42"/>
          <p:cNvSpPr/>
          <p:nvPr/>
        </p:nvSpPr>
        <p:spPr>
          <a:xfrm>
            <a:off x="6324600" y="2038350"/>
            <a:ext cx="2457450" cy="1885950"/>
          </a:xfrm>
          <a:prstGeom prst="roundRect">
            <a:avLst>
              <a:gd fmla="val 404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42"/>
          <p:cNvSpPr/>
          <p:nvPr/>
        </p:nvSpPr>
        <p:spPr>
          <a:xfrm>
            <a:off x="6324600" y="2038350"/>
            <a:ext cx="57150" cy="1885950"/>
          </a:xfrm>
          <a:prstGeom prst="rect">
            <a:avLst/>
          </a:prstGeom>
          <a:solidFill>
            <a:srgbClr val="8A6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42"/>
          <p:cNvSpPr/>
          <p:nvPr/>
        </p:nvSpPr>
        <p:spPr>
          <a:xfrm>
            <a:off x="6534150" y="22098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3. Ablation matrix</a:t>
            </a:r>
            <a:endParaRPr/>
          </a:p>
        </p:txBody>
      </p:sp>
      <p:sp>
        <p:nvSpPr>
          <p:cNvPr id="1867" name="Google Shape;1867;p42"/>
          <p:cNvSpPr/>
          <p:nvPr/>
        </p:nvSpPr>
        <p:spPr>
          <a:xfrm>
            <a:off x="6534150" y="2571750"/>
            <a:ext cx="2095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Run with and without source branches, source descriptions, reference names, admin fields, numeric proxies, and automatic weak-label features.</a:t>
            </a:r>
            <a:endParaRPr/>
          </a:p>
        </p:txBody>
      </p:sp>
      <p:sp>
        <p:nvSpPr>
          <p:cNvPr id="1868" name="Google Shape;1868;p42"/>
          <p:cNvSpPr/>
          <p:nvPr/>
        </p:nvSpPr>
        <p:spPr>
          <a:xfrm>
            <a:off x="9144000" y="2038350"/>
            <a:ext cx="2457450" cy="1885950"/>
          </a:xfrm>
          <a:prstGeom prst="roundRect">
            <a:avLst>
              <a:gd fmla="val 4040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42"/>
          <p:cNvSpPr/>
          <p:nvPr/>
        </p:nvSpPr>
        <p:spPr>
          <a:xfrm>
            <a:off x="9144000" y="2038350"/>
            <a:ext cx="57150" cy="1885950"/>
          </a:xfrm>
          <a:prstGeom prst="rect">
            <a:avLst/>
          </a:prstGeom>
          <a:solidFill>
            <a:srgbClr val="9B3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42"/>
          <p:cNvSpPr/>
          <p:nvPr/>
        </p:nvSpPr>
        <p:spPr>
          <a:xfrm>
            <a:off x="9353550" y="22098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 Decision rule</a:t>
            </a:r>
            <a:endParaRPr/>
          </a:p>
        </p:txBody>
      </p:sp>
      <p:sp>
        <p:nvSpPr>
          <p:cNvPr id="1871" name="Google Shape;1871;p42"/>
          <p:cNvSpPr/>
          <p:nvPr/>
        </p:nvSpPr>
        <p:spPr>
          <a:xfrm>
            <a:off x="9353550" y="2571750"/>
            <a:ext cx="2095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Keep feature groups that improve newest-period and stratified manual validation, not just train accuracy.</a:t>
            </a:r>
            <a:endParaRPr/>
          </a:p>
        </p:txBody>
      </p:sp>
      <p:sp>
        <p:nvSpPr>
          <p:cNvPr id="1872" name="Google Shape;1872;p42"/>
          <p:cNvSpPr/>
          <p:nvPr/>
        </p:nvSpPr>
        <p:spPr>
          <a:xfrm>
            <a:off x="876300" y="4343400"/>
            <a:ext cx="2095500" cy="35718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42"/>
          <p:cNvSpPr/>
          <p:nvPr/>
        </p:nvSpPr>
        <p:spPr>
          <a:xfrm>
            <a:off x="952500" y="4391025"/>
            <a:ext cx="19431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Model family</a:t>
            </a:r>
            <a:endParaRPr/>
          </a:p>
        </p:txBody>
      </p:sp>
      <p:sp>
        <p:nvSpPr>
          <p:cNvPr id="1874" name="Google Shape;1874;p42"/>
          <p:cNvSpPr/>
          <p:nvPr/>
        </p:nvSpPr>
        <p:spPr>
          <a:xfrm>
            <a:off x="2971800" y="4343400"/>
            <a:ext cx="8343900" cy="357188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42"/>
          <p:cNvSpPr/>
          <p:nvPr/>
        </p:nvSpPr>
        <p:spPr>
          <a:xfrm>
            <a:off x="3048000" y="4391025"/>
            <a:ext cx="81915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One-row representation to test</a:t>
            </a:r>
            <a:endParaRPr/>
          </a:p>
        </p:txBody>
      </p:sp>
      <p:sp>
        <p:nvSpPr>
          <p:cNvPr id="1876" name="Google Shape;1876;p42"/>
          <p:cNvSpPr/>
          <p:nvPr/>
        </p:nvSpPr>
        <p:spPr>
          <a:xfrm>
            <a:off x="876300" y="4700588"/>
            <a:ext cx="20955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952500" y="4748213"/>
            <a:ext cx="19431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BERT / Hebrew encoder</a:t>
            </a:r>
            <a:endParaRPr/>
          </a:p>
        </p:txBody>
      </p:sp>
      <p:sp>
        <p:nvSpPr>
          <p:cNvPr id="1878" name="Google Shape;1878;p42"/>
          <p:cNvSpPr/>
          <p:nvPr/>
        </p:nvSpPr>
        <p:spPr>
          <a:xfrm>
            <a:off x="2971800" y="4700588"/>
            <a:ext cx="83439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42"/>
          <p:cNvSpPr/>
          <p:nvPr/>
        </p:nvSpPr>
        <p:spPr>
          <a:xfrm>
            <a:off x="3048000" y="4748213"/>
            <a:ext cx="81915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[MAAM_ACTIVITY] text + [BUSINESS_NAME] name + [MAAM_BRANCH] code/description + [BL_BRANCH] code/description + bins</a:t>
            </a:r>
            <a:endParaRPr/>
          </a:p>
        </p:txBody>
      </p:sp>
      <p:sp>
        <p:nvSpPr>
          <p:cNvPr id="1880" name="Google Shape;1880;p42"/>
          <p:cNvSpPr/>
          <p:nvPr/>
        </p:nvSpPr>
        <p:spPr>
          <a:xfrm>
            <a:off x="876300" y="5057775"/>
            <a:ext cx="2095500" cy="35718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42"/>
          <p:cNvSpPr/>
          <p:nvPr/>
        </p:nvSpPr>
        <p:spPr>
          <a:xfrm>
            <a:off x="952500" y="5105400"/>
            <a:ext cx="19431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TF-IDF + linear model</a:t>
            </a:r>
            <a:endParaRPr/>
          </a:p>
        </p:txBody>
      </p:sp>
      <p:sp>
        <p:nvSpPr>
          <p:cNvPr id="1882" name="Google Shape;1882;p42"/>
          <p:cNvSpPr/>
          <p:nvPr/>
        </p:nvSpPr>
        <p:spPr>
          <a:xfrm>
            <a:off x="2971800" y="5057775"/>
            <a:ext cx="8343900" cy="357188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42"/>
          <p:cNvSpPr/>
          <p:nvPr/>
        </p:nvSpPr>
        <p:spPr>
          <a:xfrm>
            <a:off x="3048000" y="5105400"/>
            <a:ext cx="81915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maam_activity__software + business_name__alpha + anaf_maam__6201 + sug_tik__authorized_dealer + pidion_bin__100k_500k</a:t>
            </a:r>
            <a:endParaRPr/>
          </a:p>
        </p:txBody>
      </p:sp>
      <p:sp>
        <p:nvSpPr>
          <p:cNvPr id="1884" name="Google Shape;1884;p42"/>
          <p:cNvSpPr/>
          <p:nvPr/>
        </p:nvSpPr>
        <p:spPr>
          <a:xfrm>
            <a:off x="876300" y="5414963"/>
            <a:ext cx="20955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42"/>
          <p:cNvSpPr/>
          <p:nvPr/>
        </p:nvSpPr>
        <p:spPr>
          <a:xfrm>
            <a:off x="952500" y="5462588"/>
            <a:ext cx="19431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/>
          </a:p>
        </p:txBody>
      </p:sp>
      <p:sp>
        <p:nvSpPr>
          <p:cNvPr id="1886" name="Google Shape;1886;p42"/>
          <p:cNvSpPr/>
          <p:nvPr/>
        </p:nvSpPr>
        <p:spPr>
          <a:xfrm>
            <a:off x="2971800" y="5414963"/>
            <a:ext cx="83439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42"/>
          <p:cNvSpPr/>
          <p:nvPr/>
        </p:nvSpPr>
        <p:spPr>
          <a:xfrm>
            <a:off x="3048000" y="5462588"/>
            <a:ext cx="81915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text/SVD features + one-hot/target-safe categoricals + branch agreement flags + log(PIDION_MESHUAR) + missingness flags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7F9FC"/>
        </a:solidFill>
      </p:bgPr>
    </p:bg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3" name="Google Shape;1893;p43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4" name="Google Shape;1894;p43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/>
          </a:p>
        </p:txBody>
      </p:sp>
      <p:sp>
        <p:nvSpPr>
          <p:cNvPr id="1895" name="Google Shape;1895;p43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  <p:sp>
        <p:nvSpPr>
          <p:cNvPr id="1896" name="Google Shape;1896;p43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PROTOTYPE ROADMAP</a:t>
            </a:r>
            <a:endParaRPr/>
          </a:p>
        </p:txBody>
      </p:sp>
      <p:sp>
        <p:nvSpPr>
          <p:cNvPr id="1897" name="Google Shape;1897;p43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Build toward decision quality in five passes</a:t>
            </a:r>
            <a:endParaRPr/>
          </a:p>
        </p:txBody>
      </p:sp>
      <p:sp>
        <p:nvSpPr>
          <p:cNvPr id="1898" name="Google Shape;1898;p43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next notebook should be designed so the team can choose a production path after seeing controlled experiments.</a:t>
            </a:r>
            <a:endParaRPr/>
          </a:p>
        </p:txBody>
      </p:sp>
      <p:sp>
        <p:nvSpPr>
          <p:cNvPr id="1899" name="Google Shape;1899;p43"/>
          <p:cNvSpPr/>
          <p:nvPr/>
        </p:nvSpPr>
        <p:spPr>
          <a:xfrm>
            <a:off x="781050" y="2171700"/>
            <a:ext cx="142875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43"/>
          <p:cNvSpPr/>
          <p:nvPr/>
        </p:nvSpPr>
        <p:spPr>
          <a:xfrm>
            <a:off x="857250" y="221932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/>
          </a:p>
        </p:txBody>
      </p:sp>
      <p:sp>
        <p:nvSpPr>
          <p:cNvPr id="1901" name="Google Shape;1901;p43"/>
          <p:cNvSpPr/>
          <p:nvPr/>
        </p:nvSpPr>
        <p:spPr>
          <a:xfrm>
            <a:off x="2209800" y="2171700"/>
            <a:ext cx="476250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43"/>
          <p:cNvSpPr/>
          <p:nvPr/>
        </p:nvSpPr>
        <p:spPr>
          <a:xfrm>
            <a:off x="2286000" y="221932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Deliverable</a:t>
            </a:r>
            <a:endParaRPr/>
          </a:p>
        </p:txBody>
      </p:sp>
      <p:sp>
        <p:nvSpPr>
          <p:cNvPr id="1903" name="Google Shape;1903;p43"/>
          <p:cNvSpPr/>
          <p:nvPr/>
        </p:nvSpPr>
        <p:spPr>
          <a:xfrm>
            <a:off x="6972300" y="2171700"/>
            <a:ext cx="4381500" cy="47625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43"/>
          <p:cNvSpPr/>
          <p:nvPr/>
        </p:nvSpPr>
        <p:spPr>
          <a:xfrm>
            <a:off x="7048500" y="221932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/>
          </a:p>
        </p:txBody>
      </p:sp>
      <p:sp>
        <p:nvSpPr>
          <p:cNvPr id="1905" name="Google Shape;1905;p43"/>
          <p:cNvSpPr/>
          <p:nvPr/>
        </p:nvSpPr>
        <p:spPr>
          <a:xfrm>
            <a:off x="781050" y="2647950"/>
            <a:ext cx="14287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43"/>
          <p:cNvSpPr/>
          <p:nvPr/>
        </p:nvSpPr>
        <p:spPr>
          <a:xfrm>
            <a:off x="857250" y="269557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1. Baselines</a:t>
            </a:r>
            <a:endParaRPr/>
          </a:p>
        </p:txBody>
      </p:sp>
      <p:sp>
        <p:nvSpPr>
          <p:cNvPr id="1907" name="Google Shape;1907;p43"/>
          <p:cNvSpPr/>
          <p:nvPr/>
        </p:nvSpPr>
        <p:spPr>
          <a:xfrm>
            <a:off x="2209800" y="2647950"/>
            <a:ext cx="4762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43"/>
          <p:cNvSpPr/>
          <p:nvPr/>
        </p:nvSpPr>
        <p:spPr>
          <a:xfrm>
            <a:off x="2286000" y="269557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Feature config, source/text baselines, recent + stratified test sets</a:t>
            </a:r>
            <a:endParaRPr/>
          </a:p>
        </p:txBody>
      </p:sp>
      <p:sp>
        <p:nvSpPr>
          <p:cNvPr id="1909" name="Google Shape;1909;p43"/>
          <p:cNvSpPr/>
          <p:nvPr/>
        </p:nvSpPr>
        <p:spPr>
          <a:xfrm>
            <a:off x="6972300" y="2647950"/>
            <a:ext cx="4381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43"/>
          <p:cNvSpPr/>
          <p:nvPr/>
        </p:nvSpPr>
        <p:spPr>
          <a:xfrm>
            <a:off x="7048500" y="269557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Are we beating existing source logic?</a:t>
            </a:r>
            <a:endParaRPr/>
          </a:p>
        </p:txBody>
      </p:sp>
      <p:sp>
        <p:nvSpPr>
          <p:cNvPr id="1911" name="Google Shape;1911;p43"/>
          <p:cNvSpPr/>
          <p:nvPr/>
        </p:nvSpPr>
        <p:spPr>
          <a:xfrm>
            <a:off x="781050" y="3124200"/>
            <a:ext cx="142875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43"/>
          <p:cNvSpPr/>
          <p:nvPr/>
        </p:nvSpPr>
        <p:spPr>
          <a:xfrm>
            <a:off x="857250" y="317182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2. Supervised</a:t>
            </a:r>
            <a:endParaRPr/>
          </a:p>
        </p:txBody>
      </p:sp>
      <p:sp>
        <p:nvSpPr>
          <p:cNvPr id="1913" name="Google Shape;1913;p43"/>
          <p:cNvSpPr/>
          <p:nvPr/>
        </p:nvSpPr>
        <p:spPr>
          <a:xfrm>
            <a:off x="2209800" y="3124200"/>
            <a:ext cx="4762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43"/>
          <p:cNvSpPr/>
          <p:nvPr/>
        </p:nvSpPr>
        <p:spPr>
          <a:xfrm>
            <a:off x="2286000" y="317182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Full manual-first model with admin/text/reference ablations</a:t>
            </a:r>
            <a:endParaRPr/>
          </a:p>
        </p:txBody>
      </p:sp>
      <p:sp>
        <p:nvSpPr>
          <p:cNvPr id="1915" name="Google Shape;1915;p43"/>
          <p:cNvSpPr/>
          <p:nvPr/>
        </p:nvSpPr>
        <p:spPr>
          <a:xfrm>
            <a:off x="6972300" y="3124200"/>
            <a:ext cx="4381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43"/>
          <p:cNvSpPr/>
          <p:nvPr/>
        </p:nvSpPr>
        <p:spPr>
          <a:xfrm>
            <a:off x="7048500" y="317182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Which signal families matter?</a:t>
            </a:r>
            <a:endParaRPr/>
          </a:p>
        </p:txBody>
      </p:sp>
      <p:sp>
        <p:nvSpPr>
          <p:cNvPr id="1917" name="Google Shape;1917;p43"/>
          <p:cNvSpPr/>
          <p:nvPr/>
        </p:nvSpPr>
        <p:spPr>
          <a:xfrm>
            <a:off x="781050" y="3600450"/>
            <a:ext cx="14287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43"/>
          <p:cNvSpPr/>
          <p:nvPr/>
        </p:nvSpPr>
        <p:spPr>
          <a:xfrm>
            <a:off x="857250" y="364807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3. Windows</a:t>
            </a:r>
            <a:endParaRPr/>
          </a:p>
        </p:txBody>
      </p:sp>
      <p:sp>
        <p:nvSpPr>
          <p:cNvPr id="1919" name="Google Shape;1919;p43"/>
          <p:cNvSpPr/>
          <p:nvPr/>
        </p:nvSpPr>
        <p:spPr>
          <a:xfrm>
            <a:off x="2209800" y="3600450"/>
            <a:ext cx="4762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43"/>
          <p:cNvSpPr/>
          <p:nvPr/>
        </p:nvSpPr>
        <p:spPr>
          <a:xfrm>
            <a:off x="2286000" y="364807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All-years vs 2016+/2018+/2020+/2022+ training windows</a:t>
            </a:r>
            <a:endParaRPr/>
          </a:p>
        </p:txBody>
      </p:sp>
      <p:sp>
        <p:nvSpPr>
          <p:cNvPr id="1921" name="Google Shape;1921;p43"/>
          <p:cNvSpPr/>
          <p:nvPr/>
        </p:nvSpPr>
        <p:spPr>
          <a:xfrm>
            <a:off x="6972300" y="3600450"/>
            <a:ext cx="4381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43"/>
          <p:cNvSpPr/>
          <p:nvPr/>
        </p:nvSpPr>
        <p:spPr>
          <a:xfrm>
            <a:off x="7048500" y="364807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Does older data help recent performance?</a:t>
            </a:r>
            <a:endParaRPr/>
          </a:p>
        </p:txBody>
      </p:sp>
      <p:sp>
        <p:nvSpPr>
          <p:cNvPr id="1923" name="Google Shape;1923;p43"/>
          <p:cNvSpPr/>
          <p:nvPr/>
        </p:nvSpPr>
        <p:spPr>
          <a:xfrm>
            <a:off x="781050" y="4076700"/>
            <a:ext cx="142875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43"/>
          <p:cNvSpPr/>
          <p:nvPr/>
        </p:nvSpPr>
        <p:spPr>
          <a:xfrm>
            <a:off x="857250" y="412432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4. Auto rows</a:t>
            </a:r>
            <a:endParaRPr/>
          </a:p>
        </p:txBody>
      </p:sp>
      <p:sp>
        <p:nvSpPr>
          <p:cNvPr id="1925" name="Google Shape;1925;p43"/>
          <p:cNvSpPr/>
          <p:nvPr/>
        </p:nvSpPr>
        <p:spPr>
          <a:xfrm>
            <a:off x="2209800" y="4076700"/>
            <a:ext cx="4762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43"/>
          <p:cNvSpPr/>
          <p:nvPr/>
        </p:nvSpPr>
        <p:spPr>
          <a:xfrm>
            <a:off x="2286000" y="412432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Weak-label/pretraining experiments by confidence tier</a:t>
            </a:r>
            <a:endParaRPr/>
          </a:p>
        </p:txBody>
      </p:sp>
      <p:sp>
        <p:nvSpPr>
          <p:cNvPr id="1927" name="Google Shape;1927;p43"/>
          <p:cNvSpPr/>
          <p:nvPr/>
        </p:nvSpPr>
        <p:spPr>
          <a:xfrm>
            <a:off x="6972300" y="4076700"/>
            <a:ext cx="4381500" cy="476250"/>
          </a:xfrm>
          <a:prstGeom prst="rect">
            <a:avLst/>
          </a:prstGeom>
          <a:solidFill>
            <a:srgbClr val="FDFEFE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43"/>
          <p:cNvSpPr/>
          <p:nvPr/>
        </p:nvSpPr>
        <p:spPr>
          <a:xfrm>
            <a:off x="7048500" y="412432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Does automatic data help or harm manual performance?</a:t>
            </a:r>
            <a:endParaRPr/>
          </a:p>
        </p:txBody>
      </p:sp>
      <p:sp>
        <p:nvSpPr>
          <p:cNvPr id="1929" name="Google Shape;1929;p43"/>
          <p:cNvSpPr/>
          <p:nvPr/>
        </p:nvSpPr>
        <p:spPr>
          <a:xfrm>
            <a:off x="781050" y="4552950"/>
            <a:ext cx="142875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43"/>
          <p:cNvSpPr/>
          <p:nvPr/>
        </p:nvSpPr>
        <p:spPr>
          <a:xfrm>
            <a:off x="857250" y="4600575"/>
            <a:ext cx="1276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5. Thresholds</a:t>
            </a:r>
            <a:endParaRPr/>
          </a:p>
        </p:txBody>
      </p:sp>
      <p:sp>
        <p:nvSpPr>
          <p:cNvPr id="1931" name="Google Shape;1931;p43"/>
          <p:cNvSpPr/>
          <p:nvPr/>
        </p:nvSpPr>
        <p:spPr>
          <a:xfrm>
            <a:off x="2209800" y="4552950"/>
            <a:ext cx="4762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43"/>
          <p:cNvSpPr/>
          <p:nvPr/>
        </p:nvSpPr>
        <p:spPr>
          <a:xfrm>
            <a:off x="2286000" y="4600575"/>
            <a:ext cx="461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Confidence coverage curves and human-review routing</a:t>
            </a:r>
            <a:endParaRPr/>
          </a:p>
        </p:txBody>
      </p:sp>
      <p:sp>
        <p:nvSpPr>
          <p:cNvPr id="1933" name="Google Shape;1933;p43"/>
          <p:cNvSpPr/>
          <p:nvPr/>
        </p:nvSpPr>
        <p:spPr>
          <a:xfrm>
            <a:off x="6972300" y="4552950"/>
            <a:ext cx="4381500" cy="476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43"/>
          <p:cNvSpPr/>
          <p:nvPr/>
        </p:nvSpPr>
        <p:spPr>
          <a:xfrm>
            <a:off x="7048500" y="4600575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6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can be safely automated first?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0" name="Google Shape;1940;p44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1" name="Google Shape;1941;p44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Open decisions</a:t>
            </a:r>
            <a:endParaRPr/>
          </a:p>
        </p:txBody>
      </p:sp>
      <p:sp>
        <p:nvSpPr>
          <p:cNvPr id="1942" name="Google Shape;1942;p44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sp>
        <p:nvSpPr>
          <p:cNvPr id="1943" name="Google Shape;1943;p44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OPEN DECISIONS BEFORE MODELING</a:t>
            </a:r>
            <a:endParaRPr/>
          </a:p>
        </p:txBody>
      </p:sp>
      <p:sp>
        <p:nvSpPr>
          <p:cNvPr id="1944" name="Google Shape;1944;p44"/>
          <p:cNvSpPr/>
          <p:nvPr/>
        </p:nvSpPr>
        <p:spPr>
          <a:xfrm>
            <a:off x="609600" y="742950"/>
            <a:ext cx="10685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A few choices should be explicit before the prototype hardens</a:t>
            </a:r>
            <a:endParaRPr/>
          </a:p>
        </p:txBody>
      </p:sp>
      <p:sp>
        <p:nvSpPr>
          <p:cNvPr id="1945" name="Google Shape;1945;p44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These are not blockers, but they should be tracked.</a:t>
            </a:r>
            <a:endParaRPr/>
          </a:p>
        </p:txBody>
      </p:sp>
      <p:sp>
        <p:nvSpPr>
          <p:cNvPr id="1946" name="Google Shape;1946;p44"/>
          <p:cNvSpPr/>
          <p:nvPr/>
        </p:nvSpPr>
        <p:spPr>
          <a:xfrm>
            <a:off x="895350" y="21907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44"/>
          <p:cNvSpPr/>
          <p:nvPr/>
        </p:nvSpPr>
        <p:spPr>
          <a:xfrm>
            <a:off x="1104900" y="211455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Which exact rows define the initial supervised manual train set</a:t>
            </a:r>
            <a:endParaRPr/>
          </a:p>
        </p:txBody>
      </p:sp>
      <p:sp>
        <p:nvSpPr>
          <p:cNvPr id="1948" name="Google Shape;1948;p44"/>
          <p:cNvSpPr/>
          <p:nvPr/>
        </p:nvSpPr>
        <p:spPr>
          <a:xfrm>
            <a:off x="895350" y="27051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44"/>
          <p:cNvSpPr/>
          <p:nvPr/>
        </p:nvSpPr>
        <p:spPr>
          <a:xfrm>
            <a:off x="1104900" y="262890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Which ablation candidates should enter the default feature set after empirical testing?</a:t>
            </a:r>
            <a:endParaRPr/>
          </a:p>
        </p:txBody>
      </p:sp>
      <p:sp>
        <p:nvSpPr>
          <p:cNvPr id="1950" name="Google Shape;1950;p44"/>
          <p:cNvSpPr/>
          <p:nvPr/>
        </p:nvSpPr>
        <p:spPr>
          <a:xfrm>
            <a:off x="895350" y="32194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44"/>
          <p:cNvSpPr/>
          <p:nvPr/>
        </p:nvSpPr>
        <p:spPr>
          <a:xfrm>
            <a:off x="1104900" y="314325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Which training window should be the production default if older data underperforms recent holdouts?</a:t>
            </a:r>
            <a:endParaRPr/>
          </a:p>
        </p:txBody>
      </p:sp>
      <p:sp>
        <p:nvSpPr>
          <p:cNvPr id="1952" name="Google Shape;1952;p44"/>
          <p:cNvSpPr/>
          <p:nvPr/>
        </p:nvSpPr>
        <p:spPr>
          <a:xfrm>
            <a:off x="895350" y="37338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44"/>
          <p:cNvSpPr/>
          <p:nvPr/>
        </p:nvSpPr>
        <p:spPr>
          <a:xfrm>
            <a:off x="1104900" y="365760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What confidence threshold is acceptable for first operational automation?</a:t>
            </a:r>
            <a:endParaRPr/>
          </a:p>
        </p:txBody>
      </p:sp>
      <p:sp>
        <p:nvSpPr>
          <p:cNvPr id="1954" name="Google Shape;1954;p44"/>
          <p:cNvSpPr/>
          <p:nvPr/>
        </p:nvSpPr>
        <p:spPr>
          <a:xfrm>
            <a:off x="895350" y="424815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44"/>
          <p:cNvSpPr/>
          <p:nvPr/>
        </p:nvSpPr>
        <p:spPr>
          <a:xfrm>
            <a:off x="1104900" y="417195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How should rare classes be handled: hierarchy fallback, grouping, top-k support, or manual-only?</a:t>
            </a:r>
            <a:endParaRPr/>
          </a:p>
        </p:txBody>
      </p:sp>
      <p:sp>
        <p:nvSpPr>
          <p:cNvPr id="1956" name="Google Shape;1956;p44"/>
          <p:cNvSpPr/>
          <p:nvPr/>
        </p:nvSpPr>
        <p:spPr>
          <a:xfrm>
            <a:off x="895350" y="4762500"/>
            <a:ext cx="76200" cy="76200"/>
          </a:xfrm>
          <a:prstGeom prst="ellipse">
            <a:avLst/>
          </a:prstGeom>
          <a:solidFill>
            <a:srgbClr val="31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44"/>
          <p:cNvSpPr/>
          <p:nvPr/>
        </p:nvSpPr>
        <p:spPr>
          <a:xfrm>
            <a:off x="1104900" y="4686300"/>
            <a:ext cx="9505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Which branch groups require separate reporting and stakeholder review?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3" name="Google Shape;1963;p45"/>
          <p:cNvCxnSpPr/>
          <p:nvPr/>
        </p:nvCxnSpPr>
        <p:spPr>
          <a:xfrm>
            <a:off x="609600" y="63436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4" name="Google Shape;1964;p45"/>
          <p:cNvSpPr/>
          <p:nvPr/>
        </p:nvSpPr>
        <p:spPr>
          <a:xfrm>
            <a:off x="609600" y="6438900"/>
            <a:ext cx="6096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/>
          </a:p>
        </p:txBody>
      </p:sp>
      <p:sp>
        <p:nvSpPr>
          <p:cNvPr id="1965" name="Google Shape;1965;p45"/>
          <p:cNvSpPr/>
          <p:nvPr/>
        </p:nvSpPr>
        <p:spPr>
          <a:xfrm>
            <a:off x="11125200" y="64389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1966" name="Google Shape;1966;p45"/>
          <p:cNvSpPr/>
          <p:nvPr/>
        </p:nvSpPr>
        <p:spPr>
          <a:xfrm>
            <a:off x="609600" y="4000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15E8A"/>
                </a:solidFill>
                <a:latin typeface="Arial"/>
                <a:ea typeface="Arial"/>
                <a:cs typeface="Arial"/>
                <a:sym typeface="Arial"/>
              </a:rPr>
              <a:t>CLOSING STRATEGY</a:t>
            </a:r>
            <a:endParaRPr/>
          </a:p>
        </p:txBody>
      </p:sp>
      <p:sp>
        <p:nvSpPr>
          <p:cNvPr id="1967" name="Google Shape;1967;p45"/>
          <p:cNvSpPr/>
          <p:nvPr/>
        </p:nvSpPr>
        <p:spPr>
          <a:xfrm>
            <a:off x="609600" y="742950"/>
            <a:ext cx="9334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4202D"/>
                </a:solidFill>
                <a:latin typeface="Play"/>
                <a:ea typeface="Play"/>
                <a:cs typeface="Play"/>
                <a:sym typeface="Play"/>
              </a:rPr>
              <a:t>The EDA is enough to proceed to a modeling prototype</a:t>
            </a:r>
            <a:endParaRPr/>
          </a:p>
        </p:txBody>
      </p:sp>
      <p:sp>
        <p:nvSpPr>
          <p:cNvPr id="1968" name="Google Shape;1968;p45"/>
          <p:cNvSpPr/>
          <p:nvPr/>
        </p:nvSpPr>
        <p:spPr>
          <a:xfrm>
            <a:off x="609600" y="1390650"/>
            <a:ext cx="990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The next step is controlled experimentation, not more broad EDA.</a:t>
            </a:r>
            <a:endParaRPr/>
          </a:p>
        </p:txBody>
      </p:sp>
      <p:sp>
        <p:nvSpPr>
          <p:cNvPr id="1969" name="Google Shape;1969;p45"/>
          <p:cNvSpPr/>
          <p:nvPr/>
        </p:nvSpPr>
        <p:spPr>
          <a:xfrm>
            <a:off x="990600" y="2247900"/>
            <a:ext cx="238125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5"/>
          <p:cNvSpPr/>
          <p:nvPr/>
        </p:nvSpPr>
        <p:spPr>
          <a:xfrm>
            <a:off x="1162050" y="241935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F7D69"/>
                </a:solidFill>
                <a:latin typeface="Play"/>
                <a:ea typeface="Play"/>
                <a:cs typeface="Play"/>
                <a:sym typeface="Play"/>
              </a:rPr>
              <a:t>Manual</a:t>
            </a:r>
            <a:endParaRPr/>
          </a:p>
        </p:txBody>
      </p:sp>
      <p:sp>
        <p:nvSpPr>
          <p:cNvPr id="1971" name="Google Shape;1971;p45"/>
          <p:cNvSpPr/>
          <p:nvPr/>
        </p:nvSpPr>
        <p:spPr>
          <a:xfrm>
            <a:off x="1162050" y="28956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Primary training focus</a:t>
            </a:r>
            <a:endParaRPr/>
          </a:p>
        </p:txBody>
      </p:sp>
      <p:sp>
        <p:nvSpPr>
          <p:cNvPr id="1972" name="Google Shape;1972;p45"/>
          <p:cNvSpPr/>
          <p:nvPr/>
        </p:nvSpPr>
        <p:spPr>
          <a:xfrm>
            <a:off x="1162050" y="32194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inference-like population</a:t>
            </a:r>
            <a:endParaRPr/>
          </a:p>
        </p:txBody>
      </p:sp>
      <p:sp>
        <p:nvSpPr>
          <p:cNvPr id="1973" name="Google Shape;1973;p45"/>
          <p:cNvSpPr/>
          <p:nvPr/>
        </p:nvSpPr>
        <p:spPr>
          <a:xfrm>
            <a:off x="3676650" y="2247900"/>
            <a:ext cx="238125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45"/>
          <p:cNvSpPr/>
          <p:nvPr/>
        </p:nvSpPr>
        <p:spPr>
          <a:xfrm>
            <a:off x="3848100" y="241935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315E8A"/>
                </a:solidFill>
                <a:latin typeface="Play"/>
                <a:ea typeface="Play"/>
                <a:cs typeface="Play"/>
                <a:sym typeface="Play"/>
              </a:rPr>
              <a:t>50.8%</a:t>
            </a:r>
            <a:endParaRPr/>
          </a:p>
        </p:txBody>
      </p:sp>
      <p:sp>
        <p:nvSpPr>
          <p:cNvPr id="1975" name="Google Shape;1975;p45"/>
          <p:cNvSpPr/>
          <p:nvPr/>
        </p:nvSpPr>
        <p:spPr>
          <a:xfrm>
            <a:off x="3848100" y="28956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Baseline to beat</a:t>
            </a:r>
            <a:endParaRPr/>
          </a:p>
        </p:txBody>
      </p:sp>
      <p:sp>
        <p:nvSpPr>
          <p:cNvPr id="1976" name="Google Shape;1976;p45"/>
          <p:cNvSpPr/>
          <p:nvPr/>
        </p:nvSpPr>
        <p:spPr>
          <a:xfrm>
            <a:off x="3848100" y="32194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Ma'am else Bituach exact 4d</a:t>
            </a:r>
            <a:endParaRPr/>
          </a:p>
        </p:txBody>
      </p:sp>
      <p:sp>
        <p:nvSpPr>
          <p:cNvPr id="1977" name="Google Shape;1977;p45"/>
          <p:cNvSpPr/>
          <p:nvPr/>
        </p:nvSpPr>
        <p:spPr>
          <a:xfrm>
            <a:off x="6362700" y="2247900"/>
            <a:ext cx="238125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45"/>
          <p:cNvSpPr/>
          <p:nvPr/>
        </p:nvSpPr>
        <p:spPr>
          <a:xfrm>
            <a:off x="6534150" y="241935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8A6D1D"/>
                </a:solidFill>
                <a:latin typeface="Play"/>
                <a:ea typeface="Play"/>
                <a:cs typeface="Play"/>
                <a:sym typeface="Play"/>
              </a:rPr>
              <a:t>Text + sources</a:t>
            </a:r>
            <a:endParaRPr/>
          </a:p>
        </p:txBody>
      </p:sp>
      <p:sp>
        <p:nvSpPr>
          <p:cNvPr id="1979" name="Google Shape;1979;p45"/>
          <p:cNvSpPr/>
          <p:nvPr/>
        </p:nvSpPr>
        <p:spPr>
          <a:xfrm>
            <a:off x="6534075" y="3157463"/>
            <a:ext cx="20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Main feature mix</a:t>
            </a:r>
            <a:endParaRPr/>
          </a:p>
        </p:txBody>
      </p:sp>
      <p:sp>
        <p:nvSpPr>
          <p:cNvPr id="1980" name="Google Shape;1980;p45"/>
          <p:cNvSpPr/>
          <p:nvPr/>
        </p:nvSpPr>
        <p:spPr>
          <a:xfrm>
            <a:off x="6534075" y="3467025"/>
            <a:ext cx="20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+ ablation-tested context</a:t>
            </a:r>
            <a:endParaRPr/>
          </a:p>
        </p:txBody>
      </p:sp>
      <p:sp>
        <p:nvSpPr>
          <p:cNvPr id="1981" name="Google Shape;1981;p45"/>
          <p:cNvSpPr/>
          <p:nvPr/>
        </p:nvSpPr>
        <p:spPr>
          <a:xfrm>
            <a:off x="9048750" y="2247900"/>
            <a:ext cx="2381250" cy="1257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5"/>
          <p:cNvSpPr/>
          <p:nvPr/>
        </p:nvSpPr>
        <p:spPr>
          <a:xfrm>
            <a:off x="9220200" y="2419350"/>
            <a:ext cx="20383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9B3D30"/>
                </a:solidFill>
                <a:latin typeface="Play"/>
                <a:ea typeface="Play"/>
                <a:cs typeface="Play"/>
                <a:sym typeface="Play"/>
              </a:rPr>
              <a:t>Auxiliary</a:t>
            </a:r>
            <a:endParaRPr/>
          </a:p>
        </p:txBody>
      </p:sp>
      <p:sp>
        <p:nvSpPr>
          <p:cNvPr id="1983" name="Google Shape;1983;p45"/>
          <p:cNvSpPr/>
          <p:nvPr/>
        </p:nvSpPr>
        <p:spPr>
          <a:xfrm>
            <a:off x="9220200" y="289560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Automatic data</a:t>
            </a:r>
            <a:endParaRPr/>
          </a:p>
        </p:txBody>
      </p:sp>
      <p:sp>
        <p:nvSpPr>
          <p:cNvPr id="1984" name="Google Shape;1984;p45"/>
          <p:cNvSpPr/>
          <p:nvPr/>
        </p:nvSpPr>
        <p:spPr>
          <a:xfrm>
            <a:off x="9220200" y="3219450"/>
            <a:ext cx="2038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use with tiers/weights</a:t>
            </a:r>
            <a:endParaRPr/>
          </a:p>
        </p:txBody>
      </p:sp>
      <p:sp>
        <p:nvSpPr>
          <p:cNvPr id="1985" name="Google Shape;1985;p45"/>
          <p:cNvSpPr/>
          <p:nvPr/>
        </p:nvSpPr>
        <p:spPr>
          <a:xfrm>
            <a:off x="1847850" y="4305300"/>
            <a:ext cx="8515350" cy="1009650"/>
          </a:xfrm>
          <a:prstGeom prst="roundRect">
            <a:avLst>
              <a:gd fmla="val 7547" name="adj"/>
            </a:avLst>
          </a:prstGeom>
          <a:solidFill>
            <a:srgbClr val="FFFFFF"/>
          </a:solidFill>
          <a:ln cap="flat" cmpd="sng" w="9525">
            <a:solidFill>
              <a:srgbClr val="D8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45"/>
          <p:cNvSpPr/>
          <p:nvPr/>
        </p:nvSpPr>
        <p:spPr>
          <a:xfrm>
            <a:off x="1847850" y="4305300"/>
            <a:ext cx="57150" cy="1009650"/>
          </a:xfrm>
          <a:prstGeom prst="rect">
            <a:avLst/>
          </a:prstGeom>
          <a:solidFill>
            <a:srgbClr val="2F7D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5"/>
          <p:cNvSpPr/>
          <p:nvPr/>
        </p:nvSpPr>
        <p:spPr>
          <a:xfrm>
            <a:off x="2057400" y="4419600"/>
            <a:ext cx="815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4202D"/>
                </a:solidFill>
                <a:latin typeface="Arial"/>
                <a:ea typeface="Arial"/>
                <a:cs typeface="Arial"/>
                <a:sym typeface="Arial"/>
              </a:rPr>
              <a:t>Bottom line</a:t>
            </a:r>
            <a:endParaRPr/>
          </a:p>
        </p:txBody>
      </p:sp>
      <p:sp>
        <p:nvSpPr>
          <p:cNvPr id="1988" name="Google Shape;1988;p45"/>
          <p:cNvSpPr/>
          <p:nvPr/>
        </p:nvSpPr>
        <p:spPr>
          <a:xfrm>
            <a:off x="2057400" y="4667250"/>
            <a:ext cx="81534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63">
                <a:solidFill>
                  <a:srgbClr val="5B6878"/>
                </a:solidFill>
                <a:latin typeface="Arial"/>
                <a:ea typeface="Arial"/>
                <a:cs typeface="Arial"/>
                <a:sym typeface="Arial"/>
              </a:rPr>
              <a:t>Build the first classifier as a manual-first benchmark with explicit source baselines and ablations; then test whether automatic rows improve manual validation under controlled weak-label experiments.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